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" charset="1" panose="020B0502030000000004"/>
      <p:regular r:id="rId16"/>
    </p:embeddedFont>
    <p:embeddedFont>
      <p:font typeface="Inter Ultra-Bold" charset="1" panose="02000503000000020004"/>
      <p:regular r:id="rId17"/>
    </p:embeddedFont>
    <p:embeddedFont>
      <p:font typeface="TT Interphases Mono" charset="1" panose="02000506030000020004"/>
      <p:regular r:id="rId18"/>
    </p:embeddedFont>
    <p:embeddedFont>
      <p:font typeface="Public Sans" charset="1" panose="00000000000000000000"/>
      <p:regular r:id="rId19"/>
    </p:embeddedFont>
    <p:embeddedFont>
      <p:font typeface="Inter Bold" charset="1" panose="020B0802030000000004"/>
      <p:regular r:id="rId20"/>
    </p:embeddedFont>
    <p:embeddedFont>
      <p:font typeface="Inter Semi-Bold" charset="1" panose="0200050300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16" Target="../media/image36.png" Type="http://schemas.openxmlformats.org/officeDocument/2006/relationships/image"/><Relationship Id="rId17" Target="../media/image37.svg" Type="http://schemas.openxmlformats.org/officeDocument/2006/relationships/image"/><Relationship Id="rId18" Target="../media/image38.png" Type="http://schemas.openxmlformats.org/officeDocument/2006/relationships/image"/><Relationship Id="rId19" Target="../media/image39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12" Target="../media/image46.png" Type="http://schemas.openxmlformats.org/officeDocument/2006/relationships/image"/><Relationship Id="rId13" Target="../media/image47.svg" Type="http://schemas.openxmlformats.org/officeDocument/2006/relationships/image"/><Relationship Id="rId14" Target="../media/image48.png" Type="http://schemas.openxmlformats.org/officeDocument/2006/relationships/image"/><Relationship Id="rId15" Target="../media/image49.svg" Type="http://schemas.openxmlformats.org/officeDocument/2006/relationships/image"/><Relationship Id="rId16" Target="../media/image50.png" Type="http://schemas.openxmlformats.org/officeDocument/2006/relationships/image"/><Relationship Id="rId17" Target="../media/image51.svg" Type="http://schemas.openxmlformats.org/officeDocument/2006/relationships/image"/><Relationship Id="rId18" Target="../media/image52.png" Type="http://schemas.openxmlformats.org/officeDocument/2006/relationships/image"/><Relationship Id="rId19" Target="../media/image53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51566" y="1028700"/>
            <a:ext cx="6015838" cy="8229600"/>
          </a:xfrm>
          <a:custGeom>
            <a:avLst/>
            <a:gdLst/>
            <a:ahLst/>
            <a:cxnLst/>
            <a:rect r="r" b="b" t="t" l="l"/>
            <a:pathLst>
              <a:path h="8229600" w="6015838">
                <a:moveTo>
                  <a:pt x="0" y="0"/>
                </a:moveTo>
                <a:lnTo>
                  <a:pt x="6015838" y="0"/>
                </a:lnTo>
                <a:lnTo>
                  <a:pt x="60158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007164"/>
            <a:ext cx="7670325" cy="27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9"/>
              </a:lnSpc>
            </a:pPr>
            <a:r>
              <a:rPr lang="en-US" sz="1700" spc="-3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Proyecto de aplicaciones de titulo (APT) - Fase 1: Definición de Proyecto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265682" y="-2803395"/>
            <a:ext cx="5097501" cy="4114800"/>
          </a:xfrm>
          <a:custGeom>
            <a:avLst/>
            <a:gdLst/>
            <a:ahLst/>
            <a:cxnLst/>
            <a:rect r="r" b="b" t="t" l="l"/>
            <a:pathLst>
              <a:path h="4114800" w="5097501">
                <a:moveTo>
                  <a:pt x="0" y="0"/>
                </a:moveTo>
                <a:lnTo>
                  <a:pt x="5097501" y="0"/>
                </a:lnTo>
                <a:lnTo>
                  <a:pt x="50975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523116">
            <a:off x="4948919" y="-4244426"/>
            <a:ext cx="4461199" cy="5638167"/>
          </a:xfrm>
          <a:custGeom>
            <a:avLst/>
            <a:gdLst/>
            <a:ahLst/>
            <a:cxnLst/>
            <a:rect r="r" b="b" t="t" l="l"/>
            <a:pathLst>
              <a:path h="5638167" w="4461199">
                <a:moveTo>
                  <a:pt x="0" y="0"/>
                </a:moveTo>
                <a:lnTo>
                  <a:pt x="4461199" y="0"/>
                </a:lnTo>
                <a:lnTo>
                  <a:pt x="4461199" y="5638167"/>
                </a:lnTo>
                <a:lnTo>
                  <a:pt x="0" y="5638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903982">
            <a:off x="-339073" y="8632992"/>
            <a:ext cx="4264041" cy="4114800"/>
          </a:xfrm>
          <a:custGeom>
            <a:avLst/>
            <a:gdLst/>
            <a:ahLst/>
            <a:cxnLst/>
            <a:rect r="r" b="b" t="t" l="l"/>
            <a:pathLst>
              <a:path h="4114800" w="4264041">
                <a:moveTo>
                  <a:pt x="0" y="0"/>
                </a:moveTo>
                <a:lnTo>
                  <a:pt x="4264041" y="0"/>
                </a:lnTo>
                <a:lnTo>
                  <a:pt x="4264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4724364">
            <a:off x="7171232" y="8371212"/>
            <a:ext cx="3945537" cy="5596506"/>
          </a:xfrm>
          <a:custGeom>
            <a:avLst/>
            <a:gdLst/>
            <a:ahLst/>
            <a:cxnLst/>
            <a:rect r="r" b="b" t="t" l="l"/>
            <a:pathLst>
              <a:path h="5596506" w="3945537">
                <a:moveTo>
                  <a:pt x="0" y="0"/>
                </a:moveTo>
                <a:lnTo>
                  <a:pt x="3945536" y="0"/>
                </a:lnTo>
                <a:lnTo>
                  <a:pt x="3945536" y="5596506"/>
                </a:lnTo>
                <a:lnTo>
                  <a:pt x="0" y="55965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5523116">
            <a:off x="16053253" y="8630145"/>
            <a:ext cx="3703118" cy="4680085"/>
          </a:xfrm>
          <a:custGeom>
            <a:avLst/>
            <a:gdLst/>
            <a:ahLst/>
            <a:cxnLst/>
            <a:rect r="r" b="b" t="t" l="l"/>
            <a:pathLst>
              <a:path h="4680085" w="3703118">
                <a:moveTo>
                  <a:pt x="0" y="0"/>
                </a:moveTo>
                <a:lnTo>
                  <a:pt x="3703118" y="0"/>
                </a:lnTo>
                <a:lnTo>
                  <a:pt x="3703118" y="4680085"/>
                </a:lnTo>
                <a:lnTo>
                  <a:pt x="0" y="46800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24775" y="5761103"/>
            <a:ext cx="7315200" cy="146304"/>
          </a:xfrm>
          <a:custGeom>
            <a:avLst/>
            <a:gdLst/>
            <a:ahLst/>
            <a:cxnLst/>
            <a:rect r="r" b="b" t="t" l="l"/>
            <a:pathLst>
              <a:path h="146304" w="7315200">
                <a:moveTo>
                  <a:pt x="0" y="0"/>
                </a:moveTo>
                <a:lnTo>
                  <a:pt x="7315200" y="0"/>
                </a:lnTo>
                <a:lnTo>
                  <a:pt x="7315200" y="146304"/>
                </a:ln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899792"/>
            <a:ext cx="9346610" cy="117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5"/>
              </a:lnSpc>
            </a:pPr>
            <a:r>
              <a:rPr lang="en-US" sz="8199" spc="-286" b="true">
                <a:solidFill>
                  <a:srgbClr val="9A9FB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TEA-yudo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316479"/>
            <a:ext cx="8063351" cy="118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5"/>
              </a:lnSpc>
            </a:pPr>
            <a:r>
              <a:rPr lang="en-US" sz="2500" spc="-187">
                <a:solidFill>
                  <a:srgbClr val="6C7184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Plataforma web en de integración escolar (PIE) y el apoyo a niños con trastorno del espectro autista  (TEA) en la educación pública.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368667"/>
            <a:ext cx="8063351" cy="66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2200" spc="-165">
                <a:solidFill>
                  <a:srgbClr val="6C7184"/>
                </a:solidFill>
                <a:latin typeface="Public Sans"/>
                <a:ea typeface="Public Sans"/>
                <a:cs typeface="Public Sans"/>
                <a:sym typeface="Public Sans"/>
              </a:rPr>
              <a:t>Cristóbal Ávila - Carlos Peña - Rolando Fierro</a:t>
            </a:r>
          </a:p>
          <a:p>
            <a:pPr algn="l" marL="0" indent="0" lvl="0">
              <a:lnSpc>
                <a:spcPts val="2413"/>
              </a:lnSpc>
            </a:pPr>
            <a:r>
              <a:rPr lang="en-US" sz="1900" spc="-142">
                <a:solidFill>
                  <a:srgbClr val="6C7184"/>
                </a:solidFill>
                <a:latin typeface="Public Sans"/>
                <a:ea typeface="Public Sans"/>
                <a:cs typeface="Public Sans"/>
                <a:sym typeface="Public Sans"/>
              </a:rPr>
              <a:t>Ingenieria en informatica - Duoc Uc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1256" y="681023"/>
            <a:ext cx="16865488" cy="8924954"/>
            <a:chOff x="0" y="0"/>
            <a:chExt cx="4441939" cy="23506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1939" cy="2350605"/>
            </a:xfrm>
            <a:custGeom>
              <a:avLst/>
              <a:gdLst/>
              <a:ahLst/>
              <a:cxnLst/>
              <a:rect r="r" b="b" t="t" l="l"/>
              <a:pathLst>
                <a:path h="2350605" w="4441939">
                  <a:moveTo>
                    <a:pt x="6886" y="0"/>
                  </a:moveTo>
                  <a:lnTo>
                    <a:pt x="4435054" y="0"/>
                  </a:lnTo>
                  <a:cubicBezTo>
                    <a:pt x="4436880" y="0"/>
                    <a:pt x="4438631" y="725"/>
                    <a:pt x="4439923" y="2017"/>
                  </a:cubicBezTo>
                  <a:cubicBezTo>
                    <a:pt x="4441214" y="3308"/>
                    <a:pt x="4441939" y="5059"/>
                    <a:pt x="4441939" y="6886"/>
                  </a:cubicBezTo>
                  <a:lnTo>
                    <a:pt x="4441939" y="2343720"/>
                  </a:lnTo>
                  <a:cubicBezTo>
                    <a:pt x="4441939" y="2347522"/>
                    <a:pt x="4438857" y="2350605"/>
                    <a:pt x="4435054" y="2350605"/>
                  </a:cubicBezTo>
                  <a:lnTo>
                    <a:pt x="6886" y="2350605"/>
                  </a:lnTo>
                  <a:cubicBezTo>
                    <a:pt x="5059" y="2350605"/>
                    <a:pt x="3308" y="2349880"/>
                    <a:pt x="2017" y="2348588"/>
                  </a:cubicBezTo>
                  <a:cubicBezTo>
                    <a:pt x="725" y="2347297"/>
                    <a:pt x="0" y="2345546"/>
                    <a:pt x="0" y="2343720"/>
                  </a:cubicBezTo>
                  <a:lnTo>
                    <a:pt x="0" y="6886"/>
                  </a:lnTo>
                  <a:cubicBezTo>
                    <a:pt x="0" y="5059"/>
                    <a:pt x="725" y="3308"/>
                    <a:pt x="2017" y="2017"/>
                  </a:cubicBezTo>
                  <a:cubicBezTo>
                    <a:pt x="3308" y="725"/>
                    <a:pt x="5059" y="0"/>
                    <a:pt x="6886" y="0"/>
                  </a:cubicBezTo>
                  <a:close/>
                </a:path>
              </a:pathLst>
            </a:custGeom>
            <a:solidFill>
              <a:srgbClr val="9A9FB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4441939" cy="2264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23059" y="1297814"/>
            <a:ext cx="6068492" cy="7691371"/>
          </a:xfrm>
          <a:custGeom>
            <a:avLst/>
            <a:gdLst/>
            <a:ahLst/>
            <a:cxnLst/>
            <a:rect r="r" b="b" t="t" l="l"/>
            <a:pathLst>
              <a:path h="7691371" w="6068492">
                <a:moveTo>
                  <a:pt x="0" y="0"/>
                </a:moveTo>
                <a:lnTo>
                  <a:pt x="6068492" y="0"/>
                </a:lnTo>
                <a:lnTo>
                  <a:pt x="6068492" y="7691372"/>
                </a:lnTo>
                <a:lnTo>
                  <a:pt x="0" y="7691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69709" y="3029929"/>
            <a:ext cx="372156" cy="370295"/>
          </a:xfrm>
          <a:custGeom>
            <a:avLst/>
            <a:gdLst/>
            <a:ahLst/>
            <a:cxnLst/>
            <a:rect r="r" b="b" t="t" l="l"/>
            <a:pathLst>
              <a:path h="370295" w="372156">
                <a:moveTo>
                  <a:pt x="0" y="0"/>
                </a:moveTo>
                <a:lnTo>
                  <a:pt x="372155" y="0"/>
                </a:lnTo>
                <a:lnTo>
                  <a:pt x="372155" y="370295"/>
                </a:lnTo>
                <a:lnTo>
                  <a:pt x="0" y="3702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76625" y="1885950"/>
            <a:ext cx="3609975" cy="821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63"/>
              </a:lnSpc>
              <a:spcBef>
                <a:spcPct val="0"/>
              </a:spcBef>
            </a:pPr>
            <a:r>
              <a:rPr lang="en-US" b="true" sz="5799" spc="-202" strike="noStrike" u="none">
                <a:solidFill>
                  <a:srgbClr val="FFFEFE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ÍNDICE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81300" y="3000375"/>
            <a:ext cx="4029075" cy="45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6"/>
              </a:lnSpc>
              <a:spcBef>
                <a:spcPct val="0"/>
              </a:spcBef>
            </a:pPr>
            <a:r>
              <a:rPr lang="en-US" b="true" sz="3200" spc="-112" strike="noStrike" u="none">
                <a:solidFill>
                  <a:srgbClr val="FFFEFE"/>
                </a:solidFill>
                <a:latin typeface="Inter Bold"/>
                <a:ea typeface="Inter Bold"/>
                <a:cs typeface="Inter Bold"/>
                <a:sym typeface="Inter Bold"/>
              </a:rPr>
              <a:t>Definición e impacto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2155786" y="3400224"/>
            <a:ext cx="0" cy="477668"/>
          </a:xfrm>
          <a:prstGeom prst="line">
            <a:avLst/>
          </a:prstGeom>
          <a:ln cap="flat" w="38100">
            <a:solidFill>
              <a:srgbClr val="CCCBC9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969709" y="3877893"/>
            <a:ext cx="372156" cy="370295"/>
          </a:xfrm>
          <a:custGeom>
            <a:avLst/>
            <a:gdLst/>
            <a:ahLst/>
            <a:cxnLst/>
            <a:rect r="r" b="b" t="t" l="l"/>
            <a:pathLst>
              <a:path h="370295" w="372156">
                <a:moveTo>
                  <a:pt x="0" y="0"/>
                </a:moveTo>
                <a:lnTo>
                  <a:pt x="372155" y="0"/>
                </a:lnTo>
                <a:lnTo>
                  <a:pt x="372155" y="370294"/>
                </a:lnTo>
                <a:lnTo>
                  <a:pt x="0" y="370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69709" y="4724437"/>
            <a:ext cx="372156" cy="370295"/>
          </a:xfrm>
          <a:custGeom>
            <a:avLst/>
            <a:gdLst/>
            <a:ahLst/>
            <a:cxnLst/>
            <a:rect r="r" b="b" t="t" l="l"/>
            <a:pathLst>
              <a:path h="370295" w="372156">
                <a:moveTo>
                  <a:pt x="0" y="0"/>
                </a:moveTo>
                <a:lnTo>
                  <a:pt x="372155" y="0"/>
                </a:lnTo>
                <a:lnTo>
                  <a:pt x="372155" y="370295"/>
                </a:lnTo>
                <a:lnTo>
                  <a:pt x="0" y="3702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2155786" y="5094732"/>
            <a:ext cx="0" cy="476250"/>
          </a:xfrm>
          <a:prstGeom prst="line">
            <a:avLst/>
          </a:prstGeom>
          <a:ln cap="flat" w="38100">
            <a:solidFill>
              <a:srgbClr val="CCCBC9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969709" y="5570982"/>
            <a:ext cx="372156" cy="370295"/>
          </a:xfrm>
          <a:custGeom>
            <a:avLst/>
            <a:gdLst/>
            <a:ahLst/>
            <a:cxnLst/>
            <a:rect r="r" b="b" t="t" l="l"/>
            <a:pathLst>
              <a:path h="370295" w="372156">
                <a:moveTo>
                  <a:pt x="0" y="0"/>
                </a:moveTo>
                <a:lnTo>
                  <a:pt x="372155" y="0"/>
                </a:lnTo>
                <a:lnTo>
                  <a:pt x="372155" y="370295"/>
                </a:lnTo>
                <a:lnTo>
                  <a:pt x="0" y="3702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69709" y="6417527"/>
            <a:ext cx="372156" cy="370295"/>
          </a:xfrm>
          <a:custGeom>
            <a:avLst/>
            <a:gdLst/>
            <a:ahLst/>
            <a:cxnLst/>
            <a:rect r="r" b="b" t="t" l="l"/>
            <a:pathLst>
              <a:path h="370295" w="372156">
                <a:moveTo>
                  <a:pt x="0" y="0"/>
                </a:moveTo>
                <a:lnTo>
                  <a:pt x="372155" y="0"/>
                </a:lnTo>
                <a:lnTo>
                  <a:pt x="372155" y="370295"/>
                </a:lnTo>
                <a:lnTo>
                  <a:pt x="0" y="3702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flipV="true">
            <a:off x="2155786" y="6787822"/>
            <a:ext cx="0" cy="476250"/>
          </a:xfrm>
          <a:prstGeom prst="line">
            <a:avLst/>
          </a:prstGeom>
          <a:ln cap="flat" w="38100">
            <a:solidFill>
              <a:srgbClr val="CCCBC9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969709" y="7264072"/>
            <a:ext cx="372156" cy="370295"/>
          </a:xfrm>
          <a:custGeom>
            <a:avLst/>
            <a:gdLst/>
            <a:ahLst/>
            <a:cxnLst/>
            <a:rect r="r" b="b" t="t" l="l"/>
            <a:pathLst>
              <a:path h="370295" w="372156">
                <a:moveTo>
                  <a:pt x="0" y="0"/>
                </a:moveTo>
                <a:lnTo>
                  <a:pt x="372155" y="0"/>
                </a:lnTo>
                <a:lnTo>
                  <a:pt x="372155" y="370294"/>
                </a:lnTo>
                <a:lnTo>
                  <a:pt x="0" y="370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 flipV="true">
            <a:off x="2155786" y="4248187"/>
            <a:ext cx="0" cy="476250"/>
          </a:xfrm>
          <a:prstGeom prst="line">
            <a:avLst/>
          </a:prstGeom>
          <a:ln cap="flat" w="38100">
            <a:solidFill>
              <a:srgbClr val="CCCBC9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18" id="18"/>
          <p:cNvSpPr/>
          <p:nvPr/>
        </p:nvSpPr>
        <p:spPr>
          <a:xfrm flipV="true">
            <a:off x="2155786" y="5941277"/>
            <a:ext cx="0" cy="476250"/>
          </a:xfrm>
          <a:prstGeom prst="line">
            <a:avLst/>
          </a:prstGeom>
          <a:ln cap="flat" w="38100">
            <a:solidFill>
              <a:srgbClr val="CCCBC9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19" id="19"/>
          <p:cNvSpPr/>
          <p:nvPr/>
        </p:nvSpPr>
        <p:spPr>
          <a:xfrm flipV="true">
            <a:off x="2155786" y="7634366"/>
            <a:ext cx="0" cy="476250"/>
          </a:xfrm>
          <a:prstGeom prst="line">
            <a:avLst/>
          </a:prstGeom>
          <a:ln cap="flat" w="38100">
            <a:solidFill>
              <a:srgbClr val="CCCBC9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969709" y="8110616"/>
            <a:ext cx="372156" cy="370295"/>
          </a:xfrm>
          <a:custGeom>
            <a:avLst/>
            <a:gdLst/>
            <a:ahLst/>
            <a:cxnLst/>
            <a:rect r="r" b="b" t="t" l="l"/>
            <a:pathLst>
              <a:path h="370295" w="372156">
                <a:moveTo>
                  <a:pt x="0" y="0"/>
                </a:moveTo>
                <a:lnTo>
                  <a:pt x="372155" y="0"/>
                </a:lnTo>
                <a:lnTo>
                  <a:pt x="372155" y="370295"/>
                </a:lnTo>
                <a:lnTo>
                  <a:pt x="0" y="3702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785486" y="3848155"/>
            <a:ext cx="5419760" cy="458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 spc="-112" b="true">
                <a:solidFill>
                  <a:srgbClr val="FFFEFE"/>
                </a:solidFill>
                <a:latin typeface="Inter Bold"/>
                <a:ea typeface="Inter Bold"/>
                <a:cs typeface="Inter Bold"/>
                <a:sym typeface="Inter Bold"/>
              </a:rPr>
              <a:t>Perfil de egreso e intereses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85486" y="4697024"/>
            <a:ext cx="5419760" cy="458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 spc="-112" b="true">
                <a:solidFill>
                  <a:srgbClr val="FFFEFE"/>
                </a:solidFill>
                <a:latin typeface="Inter Bold"/>
                <a:ea typeface="Inter Bold"/>
                <a:cs typeface="Inter Bold"/>
                <a:sym typeface="Inter Bold"/>
              </a:rPr>
              <a:t>Factibilidad y riesgos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85486" y="5545893"/>
            <a:ext cx="5419760" cy="458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 spc="-112" b="true">
                <a:solidFill>
                  <a:srgbClr val="FFFEFE"/>
                </a:solidFill>
                <a:latin typeface="Inter Bold"/>
                <a:ea typeface="Inter Bold"/>
                <a:cs typeface="Inter Bold"/>
                <a:sym typeface="Inter Bold"/>
              </a:rPr>
              <a:t>Objetivos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81300" y="6391275"/>
            <a:ext cx="5429250" cy="45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6"/>
              </a:lnSpc>
              <a:spcBef>
                <a:spcPct val="0"/>
              </a:spcBef>
            </a:pPr>
            <a:r>
              <a:rPr lang="en-US" b="true" sz="3200" spc="-112" strike="noStrike" u="none">
                <a:solidFill>
                  <a:srgbClr val="FFFEFE"/>
                </a:solidFill>
                <a:latin typeface="Inter Bold"/>
                <a:ea typeface="Inter Bold"/>
                <a:cs typeface="Inter Bold"/>
                <a:sym typeface="Inter Bold"/>
              </a:rPr>
              <a:t>Metodología de trabajo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85486" y="7243631"/>
            <a:ext cx="5419760" cy="458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 spc="-112" b="true">
                <a:solidFill>
                  <a:srgbClr val="FFFEFE"/>
                </a:solidFill>
                <a:latin typeface="Inter Bold"/>
                <a:ea typeface="Inter Bold"/>
                <a:cs typeface="Inter Bold"/>
                <a:sym typeface="Inter Bold"/>
              </a:rPr>
              <a:t>Plan de trabajo e hitos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85486" y="8092500"/>
            <a:ext cx="5419760" cy="458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 spc="-112" b="true">
                <a:solidFill>
                  <a:srgbClr val="FFFEFE"/>
                </a:solidFill>
                <a:latin typeface="Inter Bold"/>
                <a:ea typeface="Inter Bold"/>
                <a:cs typeface="Inter Bold"/>
                <a:sym typeface="Inter Bold"/>
              </a:rPr>
              <a:t>Evidencia del proyecto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523116">
            <a:off x="-1399966" y="-4244426"/>
            <a:ext cx="4461199" cy="5638167"/>
          </a:xfrm>
          <a:custGeom>
            <a:avLst/>
            <a:gdLst/>
            <a:ahLst/>
            <a:cxnLst/>
            <a:rect r="r" b="b" t="t" l="l"/>
            <a:pathLst>
              <a:path h="5638167" w="4461199">
                <a:moveTo>
                  <a:pt x="0" y="0"/>
                </a:moveTo>
                <a:lnTo>
                  <a:pt x="4461200" y="0"/>
                </a:lnTo>
                <a:lnTo>
                  <a:pt x="4461200" y="5638167"/>
                </a:lnTo>
                <a:lnTo>
                  <a:pt x="0" y="5638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523116">
            <a:off x="16053253" y="8630145"/>
            <a:ext cx="3703118" cy="4680085"/>
          </a:xfrm>
          <a:custGeom>
            <a:avLst/>
            <a:gdLst/>
            <a:ahLst/>
            <a:cxnLst/>
            <a:rect r="r" b="b" t="t" l="l"/>
            <a:pathLst>
              <a:path h="4680085" w="3703118">
                <a:moveTo>
                  <a:pt x="0" y="0"/>
                </a:moveTo>
                <a:lnTo>
                  <a:pt x="3703118" y="0"/>
                </a:lnTo>
                <a:lnTo>
                  <a:pt x="3703118" y="4680085"/>
                </a:lnTo>
                <a:lnTo>
                  <a:pt x="0" y="4680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6836586" y="1675557"/>
            <a:ext cx="4742221" cy="3293115"/>
            <a:chOff x="0" y="0"/>
            <a:chExt cx="1248980" cy="867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8980" cy="867323"/>
            </a:xfrm>
            <a:custGeom>
              <a:avLst/>
              <a:gdLst/>
              <a:ahLst/>
              <a:cxnLst/>
              <a:rect r="r" b="b" t="t" l="l"/>
              <a:pathLst>
                <a:path h="867323" w="1248980">
                  <a:moveTo>
                    <a:pt x="83260" y="0"/>
                  </a:moveTo>
                  <a:lnTo>
                    <a:pt x="1165720" y="0"/>
                  </a:lnTo>
                  <a:cubicBezTo>
                    <a:pt x="1211703" y="0"/>
                    <a:pt x="1248980" y="37277"/>
                    <a:pt x="1248980" y="83260"/>
                  </a:cubicBezTo>
                  <a:lnTo>
                    <a:pt x="1248980" y="784062"/>
                  </a:lnTo>
                  <a:cubicBezTo>
                    <a:pt x="1248980" y="830046"/>
                    <a:pt x="1211703" y="867323"/>
                    <a:pt x="1165720" y="867323"/>
                  </a:cubicBezTo>
                  <a:lnTo>
                    <a:pt x="83260" y="867323"/>
                  </a:lnTo>
                  <a:cubicBezTo>
                    <a:pt x="37277" y="867323"/>
                    <a:pt x="0" y="830046"/>
                    <a:pt x="0" y="784062"/>
                  </a:cubicBezTo>
                  <a:lnTo>
                    <a:pt x="0" y="83260"/>
                  </a:lnTo>
                  <a:cubicBezTo>
                    <a:pt x="0" y="37277"/>
                    <a:pt x="37277" y="0"/>
                    <a:pt x="8326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0"/>
              <a:ext cx="1248980" cy="772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836586" y="1800035"/>
            <a:ext cx="1251537" cy="1151414"/>
          </a:xfrm>
          <a:custGeom>
            <a:avLst/>
            <a:gdLst/>
            <a:ahLst/>
            <a:cxnLst/>
            <a:rect r="r" b="b" t="t" l="l"/>
            <a:pathLst>
              <a:path h="1151414" w="1251537">
                <a:moveTo>
                  <a:pt x="0" y="0"/>
                </a:moveTo>
                <a:lnTo>
                  <a:pt x="1251537" y="0"/>
                </a:lnTo>
                <a:lnTo>
                  <a:pt x="1251537" y="1151414"/>
                </a:lnTo>
                <a:lnTo>
                  <a:pt x="0" y="1151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403230" y="1675557"/>
            <a:ext cx="4742221" cy="3293115"/>
            <a:chOff x="0" y="0"/>
            <a:chExt cx="1248980" cy="8673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8980" cy="867323"/>
            </a:xfrm>
            <a:custGeom>
              <a:avLst/>
              <a:gdLst/>
              <a:ahLst/>
              <a:cxnLst/>
              <a:rect r="r" b="b" t="t" l="l"/>
              <a:pathLst>
                <a:path h="867323" w="1248980">
                  <a:moveTo>
                    <a:pt x="83260" y="0"/>
                  </a:moveTo>
                  <a:lnTo>
                    <a:pt x="1165720" y="0"/>
                  </a:lnTo>
                  <a:cubicBezTo>
                    <a:pt x="1211703" y="0"/>
                    <a:pt x="1248980" y="37277"/>
                    <a:pt x="1248980" y="83260"/>
                  </a:cubicBezTo>
                  <a:lnTo>
                    <a:pt x="1248980" y="784062"/>
                  </a:lnTo>
                  <a:cubicBezTo>
                    <a:pt x="1248980" y="830046"/>
                    <a:pt x="1211703" y="867323"/>
                    <a:pt x="1165720" y="867323"/>
                  </a:cubicBezTo>
                  <a:lnTo>
                    <a:pt x="83260" y="867323"/>
                  </a:lnTo>
                  <a:cubicBezTo>
                    <a:pt x="37277" y="867323"/>
                    <a:pt x="0" y="830046"/>
                    <a:pt x="0" y="784062"/>
                  </a:cubicBezTo>
                  <a:lnTo>
                    <a:pt x="0" y="83260"/>
                  </a:lnTo>
                  <a:cubicBezTo>
                    <a:pt x="0" y="37277"/>
                    <a:pt x="37277" y="0"/>
                    <a:pt x="8326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0"/>
              <a:ext cx="1248980" cy="772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36586" y="5673934"/>
            <a:ext cx="4742221" cy="3295650"/>
            <a:chOff x="0" y="0"/>
            <a:chExt cx="1248980" cy="8679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8980" cy="867990"/>
            </a:xfrm>
            <a:custGeom>
              <a:avLst/>
              <a:gdLst/>
              <a:ahLst/>
              <a:cxnLst/>
              <a:rect r="r" b="b" t="t" l="l"/>
              <a:pathLst>
                <a:path h="867990" w="1248980">
                  <a:moveTo>
                    <a:pt x="83260" y="0"/>
                  </a:moveTo>
                  <a:lnTo>
                    <a:pt x="1165720" y="0"/>
                  </a:lnTo>
                  <a:cubicBezTo>
                    <a:pt x="1211703" y="0"/>
                    <a:pt x="1248980" y="37277"/>
                    <a:pt x="1248980" y="83260"/>
                  </a:cubicBezTo>
                  <a:lnTo>
                    <a:pt x="1248980" y="784730"/>
                  </a:lnTo>
                  <a:cubicBezTo>
                    <a:pt x="1248980" y="806812"/>
                    <a:pt x="1240208" y="827989"/>
                    <a:pt x="1224594" y="843604"/>
                  </a:cubicBezTo>
                  <a:cubicBezTo>
                    <a:pt x="1208979" y="859218"/>
                    <a:pt x="1187802" y="867990"/>
                    <a:pt x="1165720" y="867990"/>
                  </a:cubicBezTo>
                  <a:lnTo>
                    <a:pt x="83260" y="867990"/>
                  </a:lnTo>
                  <a:cubicBezTo>
                    <a:pt x="37277" y="867990"/>
                    <a:pt x="0" y="830713"/>
                    <a:pt x="0" y="784730"/>
                  </a:cubicBezTo>
                  <a:lnTo>
                    <a:pt x="0" y="83260"/>
                  </a:lnTo>
                  <a:cubicBezTo>
                    <a:pt x="0" y="37277"/>
                    <a:pt x="37277" y="0"/>
                    <a:pt x="8326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0"/>
              <a:ext cx="1248980" cy="772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03230" y="5673934"/>
            <a:ext cx="4742221" cy="3295650"/>
            <a:chOff x="0" y="0"/>
            <a:chExt cx="1248980" cy="8679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8980" cy="867990"/>
            </a:xfrm>
            <a:custGeom>
              <a:avLst/>
              <a:gdLst/>
              <a:ahLst/>
              <a:cxnLst/>
              <a:rect r="r" b="b" t="t" l="l"/>
              <a:pathLst>
                <a:path h="867990" w="1248980">
                  <a:moveTo>
                    <a:pt x="83260" y="0"/>
                  </a:moveTo>
                  <a:lnTo>
                    <a:pt x="1165720" y="0"/>
                  </a:lnTo>
                  <a:cubicBezTo>
                    <a:pt x="1211703" y="0"/>
                    <a:pt x="1248980" y="37277"/>
                    <a:pt x="1248980" y="83260"/>
                  </a:cubicBezTo>
                  <a:lnTo>
                    <a:pt x="1248980" y="784730"/>
                  </a:lnTo>
                  <a:cubicBezTo>
                    <a:pt x="1248980" y="806812"/>
                    <a:pt x="1240208" y="827989"/>
                    <a:pt x="1224594" y="843604"/>
                  </a:cubicBezTo>
                  <a:cubicBezTo>
                    <a:pt x="1208979" y="859218"/>
                    <a:pt x="1187802" y="867990"/>
                    <a:pt x="1165720" y="867990"/>
                  </a:cubicBezTo>
                  <a:lnTo>
                    <a:pt x="83260" y="867990"/>
                  </a:lnTo>
                  <a:cubicBezTo>
                    <a:pt x="37277" y="867990"/>
                    <a:pt x="0" y="830713"/>
                    <a:pt x="0" y="784730"/>
                  </a:cubicBezTo>
                  <a:lnTo>
                    <a:pt x="0" y="83260"/>
                  </a:lnTo>
                  <a:cubicBezTo>
                    <a:pt x="0" y="37277"/>
                    <a:pt x="37277" y="0"/>
                    <a:pt x="8326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0"/>
              <a:ext cx="1248980" cy="772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591599" y="1809022"/>
            <a:ext cx="1196258" cy="1142427"/>
          </a:xfrm>
          <a:custGeom>
            <a:avLst/>
            <a:gdLst/>
            <a:ahLst/>
            <a:cxnLst/>
            <a:rect r="r" b="b" t="t" l="l"/>
            <a:pathLst>
              <a:path h="1142427" w="1196258">
                <a:moveTo>
                  <a:pt x="0" y="0"/>
                </a:moveTo>
                <a:lnTo>
                  <a:pt x="1196258" y="0"/>
                </a:lnTo>
                <a:lnTo>
                  <a:pt x="1196258" y="1142427"/>
                </a:lnTo>
                <a:lnTo>
                  <a:pt x="0" y="1142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132102" y="5898885"/>
            <a:ext cx="955237" cy="1110741"/>
          </a:xfrm>
          <a:custGeom>
            <a:avLst/>
            <a:gdLst/>
            <a:ahLst/>
            <a:cxnLst/>
            <a:rect r="r" b="b" t="t" l="l"/>
            <a:pathLst>
              <a:path h="1110741" w="955237">
                <a:moveTo>
                  <a:pt x="0" y="0"/>
                </a:moveTo>
                <a:lnTo>
                  <a:pt x="955238" y="0"/>
                </a:lnTo>
                <a:lnTo>
                  <a:pt x="955238" y="1110741"/>
                </a:lnTo>
                <a:lnTo>
                  <a:pt x="0" y="11107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667623" y="5878077"/>
            <a:ext cx="1120234" cy="1131549"/>
          </a:xfrm>
          <a:custGeom>
            <a:avLst/>
            <a:gdLst/>
            <a:ahLst/>
            <a:cxnLst/>
            <a:rect r="r" b="b" t="t" l="l"/>
            <a:pathLst>
              <a:path h="1131549" w="1120234">
                <a:moveTo>
                  <a:pt x="0" y="0"/>
                </a:moveTo>
                <a:lnTo>
                  <a:pt x="1120234" y="0"/>
                </a:lnTo>
                <a:lnTo>
                  <a:pt x="1120234" y="1131549"/>
                </a:lnTo>
                <a:lnTo>
                  <a:pt x="0" y="11315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81025" y="2114550"/>
            <a:ext cx="6562725" cy="161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63"/>
              </a:lnSpc>
              <a:spcBef>
                <a:spcPct val="0"/>
              </a:spcBef>
            </a:pPr>
            <a:r>
              <a:rPr lang="en-US" b="true" sz="5799" spc="-202" strike="noStrike" u="none">
                <a:solidFill>
                  <a:srgbClr val="9A9FB6"/>
                </a:solidFill>
                <a:latin typeface="Inter Bold"/>
                <a:ea typeface="Inter Bold"/>
                <a:cs typeface="Inter Bold"/>
                <a:sym typeface="Inter Bold"/>
              </a:rPr>
              <a:t>DEFINICIÓN E IMPACTO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1639" y="4782049"/>
            <a:ext cx="5405876" cy="232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</a:pPr>
            <a:r>
              <a:rPr lang="en-US" b="true" sz="1899" spc="113">
                <a:solidFill>
                  <a:srgbClr val="6C7184"/>
                </a:solidFill>
                <a:latin typeface="Inter Bold"/>
                <a:ea typeface="Inter Bold"/>
                <a:cs typeface="Inter Bold"/>
                <a:sym typeface="Inter Bold"/>
              </a:rPr>
              <a:t>Plataforma web accesible que combina un tablero de comunicación por pictogramas (API ARASAAC) con un sistema de bitácora y seguimiento profesional para equipos PIE, apoyando a niños TEA en su comunicación, rutina diaria y manejo de crisis.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1025" y="3914775"/>
            <a:ext cx="3400425" cy="34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3"/>
              </a:lnSpc>
              <a:spcBef>
                <a:spcPct val="0"/>
              </a:spcBef>
            </a:pPr>
            <a:r>
              <a:rPr lang="en-US" sz="2199" spc="-164" strike="noStrike" u="none">
                <a:solidFill>
                  <a:srgbClr val="CB9667"/>
                </a:solidFill>
                <a:latin typeface="Inter"/>
                <a:ea typeface="Inter"/>
                <a:cs typeface="Inter"/>
                <a:sym typeface="Inter"/>
              </a:rPr>
              <a:t>¿En qué consiste el proyecto?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11215" y="2046655"/>
            <a:ext cx="1821047" cy="34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</a:pPr>
            <a:r>
              <a:rPr lang="en-US" sz="2200" spc="-16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Comunicación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16075" y="2028825"/>
            <a:ext cx="1190625" cy="34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3"/>
              </a:lnSpc>
              <a:spcBef>
                <a:spcPct val="0"/>
              </a:spcBef>
            </a:pPr>
            <a:r>
              <a:rPr lang="en-US" sz="2199" spc="-164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Inclusión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11215" y="6102085"/>
            <a:ext cx="1821047" cy="34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</a:pPr>
            <a:r>
              <a:rPr lang="en-US" sz="2200" spc="-16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Rutina y Crisis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311732" y="6102085"/>
            <a:ext cx="1821047" cy="69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</a:pPr>
            <a:r>
              <a:rPr lang="en-US" sz="2200" spc="-16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Bitácora profesional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20000" y="3152775"/>
            <a:ext cx="3190875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95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Fortalece la comunicación funcional cotidiana del niñ@ con docentes, especialistas y familia.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15156" y="3155551"/>
            <a:ext cx="3181394" cy="1102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6"/>
              </a:lnSpc>
            </a:pPr>
            <a:r>
              <a:rPr lang="en-US" sz="1604" spc="9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Aporta herramientas al equipo PIE, hoy limitado, para incluir mejor a estudiantes TEA.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17000" y="7209651"/>
            <a:ext cx="3181394" cy="1102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6"/>
              </a:lnSpc>
            </a:pPr>
            <a:r>
              <a:rPr lang="en-US" sz="1604" spc="9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Apoya la gestión de rutinas diarias y el manejo de momentos de crisis del estudiante.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15950" y="7210425"/>
            <a:ext cx="3190875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95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Registra historial y avances diarios de cada niñ@ para la toma de decisiones pedagógicas.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523116">
            <a:off x="-1399966" y="-4244426"/>
            <a:ext cx="4461199" cy="5638167"/>
          </a:xfrm>
          <a:custGeom>
            <a:avLst/>
            <a:gdLst/>
            <a:ahLst/>
            <a:cxnLst/>
            <a:rect r="r" b="b" t="t" l="l"/>
            <a:pathLst>
              <a:path h="5638167" w="4461199">
                <a:moveTo>
                  <a:pt x="0" y="0"/>
                </a:moveTo>
                <a:lnTo>
                  <a:pt x="4461200" y="0"/>
                </a:lnTo>
                <a:lnTo>
                  <a:pt x="4461200" y="5638167"/>
                </a:lnTo>
                <a:lnTo>
                  <a:pt x="0" y="5638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523116">
            <a:off x="16053253" y="8630145"/>
            <a:ext cx="3703118" cy="4680085"/>
          </a:xfrm>
          <a:custGeom>
            <a:avLst/>
            <a:gdLst/>
            <a:ahLst/>
            <a:cxnLst/>
            <a:rect r="r" b="b" t="t" l="l"/>
            <a:pathLst>
              <a:path h="4680085" w="3703118">
                <a:moveTo>
                  <a:pt x="0" y="0"/>
                </a:moveTo>
                <a:lnTo>
                  <a:pt x="3703118" y="0"/>
                </a:lnTo>
                <a:lnTo>
                  <a:pt x="3703118" y="4680085"/>
                </a:lnTo>
                <a:lnTo>
                  <a:pt x="0" y="4680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9237340" y="1863471"/>
            <a:ext cx="7831460" cy="7211997"/>
            <a:chOff x="0" y="0"/>
            <a:chExt cx="2395809" cy="22063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95809" cy="2206302"/>
            </a:xfrm>
            <a:custGeom>
              <a:avLst/>
              <a:gdLst/>
              <a:ahLst/>
              <a:cxnLst/>
              <a:rect r="r" b="b" t="t" l="l"/>
              <a:pathLst>
                <a:path h="2206302" w="2395809">
                  <a:moveTo>
                    <a:pt x="14828" y="0"/>
                  </a:moveTo>
                  <a:lnTo>
                    <a:pt x="2380980" y="0"/>
                  </a:lnTo>
                  <a:cubicBezTo>
                    <a:pt x="2384913" y="0"/>
                    <a:pt x="2388685" y="1562"/>
                    <a:pt x="2391465" y="4343"/>
                  </a:cubicBezTo>
                  <a:cubicBezTo>
                    <a:pt x="2394246" y="7124"/>
                    <a:pt x="2395809" y="10896"/>
                    <a:pt x="2395809" y="14828"/>
                  </a:cubicBezTo>
                  <a:lnTo>
                    <a:pt x="2395809" y="2191473"/>
                  </a:lnTo>
                  <a:cubicBezTo>
                    <a:pt x="2395809" y="2199663"/>
                    <a:pt x="2389170" y="2206302"/>
                    <a:pt x="2380980" y="2206302"/>
                  </a:cubicBezTo>
                  <a:lnTo>
                    <a:pt x="14828" y="2206302"/>
                  </a:lnTo>
                  <a:cubicBezTo>
                    <a:pt x="6639" y="2206302"/>
                    <a:pt x="0" y="2199663"/>
                    <a:pt x="0" y="2191473"/>
                  </a:cubicBezTo>
                  <a:lnTo>
                    <a:pt x="0" y="14828"/>
                  </a:lnTo>
                  <a:cubicBezTo>
                    <a:pt x="0" y="6639"/>
                    <a:pt x="6639" y="0"/>
                    <a:pt x="14828" y="0"/>
                  </a:cubicBezTo>
                  <a:close/>
                </a:path>
              </a:pathLst>
            </a:custGeom>
            <a:solidFill>
              <a:srgbClr val="9A9FB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0"/>
              <a:ext cx="2395809" cy="2111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439012" y="2064688"/>
            <a:ext cx="1543050" cy="154305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573" y="3909412"/>
            <a:ext cx="925127" cy="92512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FC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3573" y="4932114"/>
            <a:ext cx="925127" cy="92512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FC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573" y="5952490"/>
            <a:ext cx="925127" cy="92512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FC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3573" y="6975192"/>
            <a:ext cx="925127" cy="92512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FC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573" y="8033668"/>
            <a:ext cx="925127" cy="92512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FC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3573" y="9056370"/>
            <a:ext cx="925127" cy="92512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FC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248462" y="4055889"/>
            <a:ext cx="635349" cy="632172"/>
          </a:xfrm>
          <a:custGeom>
            <a:avLst/>
            <a:gdLst/>
            <a:ahLst/>
            <a:cxnLst/>
            <a:rect r="r" b="b" t="t" l="l"/>
            <a:pathLst>
              <a:path h="632172" w="635349">
                <a:moveTo>
                  <a:pt x="0" y="0"/>
                </a:moveTo>
                <a:lnTo>
                  <a:pt x="635349" y="0"/>
                </a:lnTo>
                <a:lnTo>
                  <a:pt x="635349" y="632172"/>
                </a:lnTo>
                <a:lnTo>
                  <a:pt x="0" y="632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31767" y="5098006"/>
            <a:ext cx="468740" cy="593341"/>
          </a:xfrm>
          <a:custGeom>
            <a:avLst/>
            <a:gdLst/>
            <a:ahLst/>
            <a:cxnLst/>
            <a:rect r="r" b="b" t="t" l="l"/>
            <a:pathLst>
              <a:path h="593341" w="468740">
                <a:moveTo>
                  <a:pt x="0" y="0"/>
                </a:moveTo>
                <a:lnTo>
                  <a:pt x="468740" y="0"/>
                </a:lnTo>
                <a:lnTo>
                  <a:pt x="468740" y="593342"/>
                </a:lnTo>
                <a:lnTo>
                  <a:pt x="0" y="5933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48462" y="6025377"/>
            <a:ext cx="641443" cy="615785"/>
          </a:xfrm>
          <a:custGeom>
            <a:avLst/>
            <a:gdLst/>
            <a:ahLst/>
            <a:cxnLst/>
            <a:rect r="r" b="b" t="t" l="l"/>
            <a:pathLst>
              <a:path h="615785" w="641443">
                <a:moveTo>
                  <a:pt x="0" y="0"/>
                </a:moveTo>
                <a:lnTo>
                  <a:pt x="641443" y="0"/>
                </a:lnTo>
                <a:lnTo>
                  <a:pt x="641443" y="615785"/>
                </a:lnTo>
                <a:lnTo>
                  <a:pt x="0" y="6157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48462" y="7118460"/>
            <a:ext cx="635349" cy="578167"/>
          </a:xfrm>
          <a:custGeom>
            <a:avLst/>
            <a:gdLst/>
            <a:ahLst/>
            <a:cxnLst/>
            <a:rect r="r" b="b" t="t" l="l"/>
            <a:pathLst>
              <a:path h="578167" w="635349">
                <a:moveTo>
                  <a:pt x="0" y="0"/>
                </a:moveTo>
                <a:lnTo>
                  <a:pt x="635349" y="0"/>
                </a:lnTo>
                <a:lnTo>
                  <a:pt x="635349" y="578167"/>
                </a:lnTo>
                <a:lnTo>
                  <a:pt x="0" y="5781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32844" y="8197935"/>
            <a:ext cx="666586" cy="596594"/>
          </a:xfrm>
          <a:custGeom>
            <a:avLst/>
            <a:gdLst/>
            <a:ahLst/>
            <a:cxnLst/>
            <a:rect r="r" b="b" t="t" l="l"/>
            <a:pathLst>
              <a:path h="596594" w="666586">
                <a:moveTo>
                  <a:pt x="0" y="0"/>
                </a:moveTo>
                <a:lnTo>
                  <a:pt x="666586" y="0"/>
                </a:lnTo>
                <a:lnTo>
                  <a:pt x="666586" y="596594"/>
                </a:lnTo>
                <a:lnTo>
                  <a:pt x="0" y="5965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292818" y="9163974"/>
            <a:ext cx="546637" cy="709918"/>
          </a:xfrm>
          <a:custGeom>
            <a:avLst/>
            <a:gdLst/>
            <a:ahLst/>
            <a:cxnLst/>
            <a:rect r="r" b="b" t="t" l="l"/>
            <a:pathLst>
              <a:path h="709918" w="546637">
                <a:moveTo>
                  <a:pt x="0" y="0"/>
                </a:moveTo>
                <a:lnTo>
                  <a:pt x="546637" y="0"/>
                </a:lnTo>
                <a:lnTo>
                  <a:pt x="546637" y="709918"/>
                </a:lnTo>
                <a:lnTo>
                  <a:pt x="0" y="7099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9603716" y="2229392"/>
            <a:ext cx="1213642" cy="1213642"/>
          </a:xfrm>
          <a:custGeom>
            <a:avLst/>
            <a:gdLst/>
            <a:ahLst/>
            <a:cxnLst/>
            <a:rect r="r" b="b" t="t" l="l"/>
            <a:pathLst>
              <a:path h="1213642" w="1213642">
                <a:moveTo>
                  <a:pt x="0" y="0"/>
                </a:moveTo>
                <a:lnTo>
                  <a:pt x="1213642" y="0"/>
                </a:lnTo>
                <a:lnTo>
                  <a:pt x="1213642" y="1213643"/>
                </a:lnTo>
                <a:lnTo>
                  <a:pt x="0" y="121364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603716" y="4204652"/>
            <a:ext cx="427911" cy="427911"/>
          </a:xfrm>
          <a:custGeom>
            <a:avLst/>
            <a:gdLst/>
            <a:ahLst/>
            <a:cxnLst/>
            <a:rect r="r" b="b" t="t" l="l"/>
            <a:pathLst>
              <a:path h="427911" w="427911">
                <a:moveTo>
                  <a:pt x="0" y="0"/>
                </a:moveTo>
                <a:lnTo>
                  <a:pt x="427911" y="0"/>
                </a:lnTo>
                <a:lnTo>
                  <a:pt x="427911" y="427912"/>
                </a:lnTo>
                <a:lnTo>
                  <a:pt x="0" y="42791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830634" y="1085850"/>
            <a:ext cx="7463102" cy="161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b="true" sz="5799" spc="-202">
                <a:solidFill>
                  <a:srgbClr val="9A9FB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PERFIL DE EGRESO E INTERESES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7779" y="4166552"/>
            <a:ext cx="523070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 spc="131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Gestionar proyectos informáticos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30634" y="2826688"/>
            <a:ext cx="7362685" cy="69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</a:pPr>
            <a:r>
              <a:rPr lang="en-US" sz="2200" spc="-165">
                <a:solidFill>
                  <a:srgbClr val="CB9667"/>
                </a:solidFill>
                <a:latin typeface="Inter"/>
                <a:ea typeface="Inter"/>
                <a:cs typeface="Inter"/>
                <a:sym typeface="Inter"/>
              </a:rPr>
              <a:t>Competencias de la carrera aplicadas y su conexión con nuestros intereses profesionales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7775" y="5172075"/>
            <a:ext cx="5438775" cy="36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5"/>
              </a:lnSpc>
              <a:spcBef>
                <a:spcPct val="0"/>
              </a:spcBef>
            </a:pPr>
            <a:r>
              <a:rPr lang="en-US" sz="2075" spc="124" strike="noStrike" u="none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Construir modelos de datos escalables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7779" y="6209631"/>
            <a:ext cx="523070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 spc="131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Modelar arquitectura de software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47779" y="7232332"/>
            <a:ext cx="543772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 spc="131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Programar rutinas y consultas de BD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7779" y="8290809"/>
            <a:ext cx="523070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 spc="131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Ejecutar pruebas de calidad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47775" y="9315450"/>
            <a:ext cx="57721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pc="131" strike="noStrike" u="none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Resolver vulnerabilidades sistemáticas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259690" y="2301670"/>
            <a:ext cx="5534736" cy="110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900" spc="-136" b="true">
                <a:solidFill>
                  <a:srgbClr val="FFFEFE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Relación con nuestros intereses profesionales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9603716" y="5041558"/>
            <a:ext cx="427911" cy="427911"/>
          </a:xfrm>
          <a:custGeom>
            <a:avLst/>
            <a:gdLst/>
            <a:ahLst/>
            <a:cxnLst/>
            <a:rect r="r" b="b" t="t" l="l"/>
            <a:pathLst>
              <a:path h="427911" w="427911">
                <a:moveTo>
                  <a:pt x="0" y="0"/>
                </a:moveTo>
                <a:lnTo>
                  <a:pt x="427911" y="0"/>
                </a:lnTo>
                <a:lnTo>
                  <a:pt x="427911" y="427912"/>
                </a:lnTo>
                <a:lnTo>
                  <a:pt x="0" y="42791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9603716" y="5879045"/>
            <a:ext cx="427911" cy="427911"/>
          </a:xfrm>
          <a:custGeom>
            <a:avLst/>
            <a:gdLst/>
            <a:ahLst/>
            <a:cxnLst/>
            <a:rect r="r" b="b" t="t" l="l"/>
            <a:pathLst>
              <a:path h="427911" w="427911">
                <a:moveTo>
                  <a:pt x="0" y="0"/>
                </a:moveTo>
                <a:lnTo>
                  <a:pt x="427911" y="0"/>
                </a:lnTo>
                <a:lnTo>
                  <a:pt x="427911" y="427911"/>
                </a:lnTo>
                <a:lnTo>
                  <a:pt x="0" y="42791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9603716" y="6715951"/>
            <a:ext cx="427911" cy="427911"/>
          </a:xfrm>
          <a:custGeom>
            <a:avLst/>
            <a:gdLst/>
            <a:ahLst/>
            <a:cxnLst/>
            <a:rect r="r" b="b" t="t" l="l"/>
            <a:pathLst>
              <a:path h="427911" w="427911">
                <a:moveTo>
                  <a:pt x="0" y="0"/>
                </a:moveTo>
                <a:lnTo>
                  <a:pt x="427911" y="0"/>
                </a:lnTo>
                <a:lnTo>
                  <a:pt x="427911" y="427911"/>
                </a:lnTo>
                <a:lnTo>
                  <a:pt x="0" y="42791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9603716" y="7553437"/>
            <a:ext cx="427911" cy="427911"/>
          </a:xfrm>
          <a:custGeom>
            <a:avLst/>
            <a:gdLst/>
            <a:ahLst/>
            <a:cxnLst/>
            <a:rect r="r" b="b" t="t" l="l"/>
            <a:pathLst>
              <a:path h="427911" w="427911">
                <a:moveTo>
                  <a:pt x="0" y="0"/>
                </a:moveTo>
                <a:lnTo>
                  <a:pt x="427911" y="0"/>
                </a:lnTo>
                <a:lnTo>
                  <a:pt x="427911" y="427911"/>
                </a:lnTo>
                <a:lnTo>
                  <a:pt x="0" y="42791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0210800" y="4219575"/>
            <a:ext cx="4010025" cy="36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9"/>
              </a:lnSpc>
              <a:spcBef>
                <a:spcPct val="0"/>
              </a:spcBef>
            </a:pPr>
            <a:r>
              <a:rPr lang="en-US" sz="2330" spc="-174" strike="noStrike" u="none">
                <a:solidFill>
                  <a:srgbClr val="FFFEFE"/>
                </a:solidFill>
                <a:latin typeface="Inter"/>
                <a:ea typeface="Inter"/>
                <a:cs typeface="Inter"/>
                <a:sym typeface="Inter"/>
              </a:rPr>
              <a:t>Desarrollo de software full-stack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210537" y="5061101"/>
            <a:ext cx="4009467" cy="36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4"/>
              </a:lnSpc>
            </a:pPr>
            <a:r>
              <a:rPr lang="en-US" sz="2334" spc="-175">
                <a:solidFill>
                  <a:srgbClr val="FFFEFE"/>
                </a:solidFill>
                <a:latin typeface="Inter"/>
                <a:ea typeface="Inter"/>
                <a:cs typeface="Inter"/>
                <a:sym typeface="Inter"/>
              </a:rPr>
              <a:t>Arquitectura de soluciones web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10537" y="5898588"/>
            <a:ext cx="4887562" cy="36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4"/>
              </a:lnSpc>
            </a:pPr>
            <a:r>
              <a:rPr lang="en-US" sz="2334" spc="-175">
                <a:solidFill>
                  <a:srgbClr val="FFFEFE"/>
                </a:solidFill>
                <a:latin typeface="Inter"/>
                <a:ea typeface="Inter"/>
                <a:cs typeface="Inter"/>
                <a:sym typeface="Inter"/>
              </a:rPr>
              <a:t>Integración de servicios mediante APIs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210800" y="6734175"/>
            <a:ext cx="4895850" cy="36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9"/>
              </a:lnSpc>
              <a:spcBef>
                <a:spcPct val="0"/>
              </a:spcBef>
            </a:pPr>
            <a:r>
              <a:rPr lang="en-US" sz="2330" spc="-174" strike="noStrike" u="none">
                <a:solidFill>
                  <a:srgbClr val="FFFEFE"/>
                </a:solidFill>
                <a:latin typeface="Inter"/>
                <a:ea typeface="Inter"/>
                <a:cs typeface="Inter"/>
                <a:sym typeface="Inter"/>
              </a:rPr>
              <a:t>Diseño de interfaces accesibles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210800" y="7572375"/>
            <a:ext cx="6067425" cy="36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314" spc="-173" strike="noStrike" u="none">
                <a:solidFill>
                  <a:srgbClr val="FFFEFE"/>
                </a:solidFill>
                <a:latin typeface="Inter"/>
                <a:ea typeface="Inter"/>
                <a:cs typeface="Inter"/>
                <a:sym typeface="Inter"/>
              </a:rPr>
              <a:t>Trabajo con datos sensibles bajo normativa vigente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523116">
            <a:off x="-1399966" y="-4244426"/>
            <a:ext cx="4461199" cy="5638167"/>
          </a:xfrm>
          <a:custGeom>
            <a:avLst/>
            <a:gdLst/>
            <a:ahLst/>
            <a:cxnLst/>
            <a:rect r="r" b="b" t="t" l="l"/>
            <a:pathLst>
              <a:path h="5638167" w="4461199">
                <a:moveTo>
                  <a:pt x="0" y="0"/>
                </a:moveTo>
                <a:lnTo>
                  <a:pt x="4461200" y="0"/>
                </a:lnTo>
                <a:lnTo>
                  <a:pt x="4461200" y="5638167"/>
                </a:lnTo>
                <a:lnTo>
                  <a:pt x="0" y="5638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523116">
            <a:off x="16053253" y="8630145"/>
            <a:ext cx="3703118" cy="4680085"/>
          </a:xfrm>
          <a:custGeom>
            <a:avLst/>
            <a:gdLst/>
            <a:ahLst/>
            <a:cxnLst/>
            <a:rect r="r" b="b" t="t" l="l"/>
            <a:pathLst>
              <a:path h="4680085" w="3703118">
                <a:moveTo>
                  <a:pt x="0" y="0"/>
                </a:moveTo>
                <a:lnTo>
                  <a:pt x="3703118" y="0"/>
                </a:lnTo>
                <a:lnTo>
                  <a:pt x="3703118" y="4680085"/>
                </a:lnTo>
                <a:lnTo>
                  <a:pt x="0" y="4680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215360" y="1949419"/>
            <a:ext cx="15857280" cy="1654436"/>
            <a:chOff x="0" y="0"/>
            <a:chExt cx="4851076" cy="5061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51076" cy="506127"/>
            </a:xfrm>
            <a:custGeom>
              <a:avLst/>
              <a:gdLst/>
              <a:ahLst/>
              <a:cxnLst/>
              <a:rect r="r" b="b" t="t" l="l"/>
              <a:pathLst>
                <a:path h="506127" w="4851076">
                  <a:moveTo>
                    <a:pt x="7323" y="0"/>
                  </a:moveTo>
                  <a:lnTo>
                    <a:pt x="4843752" y="0"/>
                  </a:lnTo>
                  <a:cubicBezTo>
                    <a:pt x="4845695" y="0"/>
                    <a:pt x="4847557" y="772"/>
                    <a:pt x="4848931" y="2145"/>
                  </a:cubicBezTo>
                  <a:cubicBezTo>
                    <a:pt x="4850304" y="3518"/>
                    <a:pt x="4851076" y="5381"/>
                    <a:pt x="4851076" y="7323"/>
                  </a:cubicBezTo>
                  <a:lnTo>
                    <a:pt x="4851076" y="498803"/>
                  </a:lnTo>
                  <a:cubicBezTo>
                    <a:pt x="4851076" y="500746"/>
                    <a:pt x="4850304" y="502608"/>
                    <a:pt x="4848931" y="503982"/>
                  </a:cubicBezTo>
                  <a:cubicBezTo>
                    <a:pt x="4847557" y="505355"/>
                    <a:pt x="4845695" y="506127"/>
                    <a:pt x="4843752" y="506127"/>
                  </a:cubicBezTo>
                  <a:lnTo>
                    <a:pt x="7323" y="506127"/>
                  </a:lnTo>
                  <a:cubicBezTo>
                    <a:pt x="3279" y="506127"/>
                    <a:pt x="0" y="502848"/>
                    <a:pt x="0" y="498803"/>
                  </a:cubicBezTo>
                  <a:lnTo>
                    <a:pt x="0" y="7323"/>
                  </a:lnTo>
                  <a:cubicBezTo>
                    <a:pt x="0" y="3279"/>
                    <a:pt x="3279" y="0"/>
                    <a:pt x="7323" y="0"/>
                  </a:cubicBezTo>
                  <a:close/>
                </a:path>
              </a:pathLst>
            </a:custGeom>
            <a:solidFill>
              <a:srgbClr val="9A9FB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0"/>
              <a:ext cx="4851076" cy="410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37489" y="2268656"/>
            <a:ext cx="1015962" cy="101596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45932" y="2377099"/>
            <a:ext cx="799077" cy="799077"/>
          </a:xfrm>
          <a:custGeom>
            <a:avLst/>
            <a:gdLst/>
            <a:ahLst/>
            <a:cxnLst/>
            <a:rect r="r" b="b" t="t" l="l"/>
            <a:pathLst>
              <a:path h="799077" w="799077">
                <a:moveTo>
                  <a:pt x="0" y="0"/>
                </a:moveTo>
                <a:lnTo>
                  <a:pt x="799076" y="0"/>
                </a:lnTo>
                <a:lnTo>
                  <a:pt x="799076" y="799076"/>
                </a:lnTo>
                <a:lnTo>
                  <a:pt x="0" y="7990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5360" y="4629874"/>
            <a:ext cx="706585" cy="706585"/>
          </a:xfrm>
          <a:custGeom>
            <a:avLst/>
            <a:gdLst/>
            <a:ahLst/>
            <a:cxnLst/>
            <a:rect r="r" b="b" t="t" l="l"/>
            <a:pathLst>
              <a:path h="706585" w="706585">
                <a:moveTo>
                  <a:pt x="0" y="0"/>
                </a:moveTo>
                <a:lnTo>
                  <a:pt x="706586" y="0"/>
                </a:lnTo>
                <a:lnTo>
                  <a:pt x="706586" y="706586"/>
                </a:lnTo>
                <a:lnTo>
                  <a:pt x="0" y="7065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0228" y="6352199"/>
            <a:ext cx="706585" cy="706585"/>
          </a:xfrm>
          <a:custGeom>
            <a:avLst/>
            <a:gdLst/>
            <a:ahLst/>
            <a:cxnLst/>
            <a:rect r="r" b="b" t="t" l="l"/>
            <a:pathLst>
              <a:path h="706585" w="706585">
                <a:moveTo>
                  <a:pt x="0" y="0"/>
                </a:moveTo>
                <a:lnTo>
                  <a:pt x="706586" y="0"/>
                </a:lnTo>
                <a:lnTo>
                  <a:pt x="706586" y="706586"/>
                </a:lnTo>
                <a:lnTo>
                  <a:pt x="0" y="7065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84196" y="8077960"/>
            <a:ext cx="706585" cy="706585"/>
          </a:xfrm>
          <a:custGeom>
            <a:avLst/>
            <a:gdLst/>
            <a:ahLst/>
            <a:cxnLst/>
            <a:rect r="r" b="b" t="t" l="l"/>
            <a:pathLst>
              <a:path h="706585" w="706585">
                <a:moveTo>
                  <a:pt x="0" y="0"/>
                </a:moveTo>
                <a:lnTo>
                  <a:pt x="706585" y="0"/>
                </a:lnTo>
                <a:lnTo>
                  <a:pt x="706585" y="706585"/>
                </a:lnTo>
                <a:lnTo>
                  <a:pt x="0" y="706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78990" y="4629874"/>
            <a:ext cx="706585" cy="706585"/>
          </a:xfrm>
          <a:custGeom>
            <a:avLst/>
            <a:gdLst/>
            <a:ahLst/>
            <a:cxnLst/>
            <a:rect r="r" b="b" t="t" l="l"/>
            <a:pathLst>
              <a:path h="706585" w="706585">
                <a:moveTo>
                  <a:pt x="0" y="0"/>
                </a:moveTo>
                <a:lnTo>
                  <a:pt x="706586" y="0"/>
                </a:lnTo>
                <a:lnTo>
                  <a:pt x="706586" y="706586"/>
                </a:lnTo>
                <a:lnTo>
                  <a:pt x="0" y="7065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778990" y="6352199"/>
            <a:ext cx="706585" cy="706585"/>
          </a:xfrm>
          <a:custGeom>
            <a:avLst/>
            <a:gdLst/>
            <a:ahLst/>
            <a:cxnLst/>
            <a:rect r="r" b="b" t="t" l="l"/>
            <a:pathLst>
              <a:path h="706585" w="706585">
                <a:moveTo>
                  <a:pt x="0" y="0"/>
                </a:moveTo>
                <a:lnTo>
                  <a:pt x="706586" y="0"/>
                </a:lnTo>
                <a:lnTo>
                  <a:pt x="706586" y="706586"/>
                </a:lnTo>
                <a:lnTo>
                  <a:pt x="0" y="7065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78990" y="8087485"/>
            <a:ext cx="706585" cy="706585"/>
          </a:xfrm>
          <a:custGeom>
            <a:avLst/>
            <a:gdLst/>
            <a:ahLst/>
            <a:cxnLst/>
            <a:rect r="r" b="b" t="t" l="l"/>
            <a:pathLst>
              <a:path h="706585" w="706585">
                <a:moveTo>
                  <a:pt x="0" y="0"/>
                </a:moveTo>
                <a:lnTo>
                  <a:pt x="706586" y="0"/>
                </a:lnTo>
                <a:lnTo>
                  <a:pt x="706586" y="706585"/>
                </a:lnTo>
                <a:lnTo>
                  <a:pt x="0" y="706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23347" y="4709373"/>
            <a:ext cx="287483" cy="547587"/>
          </a:xfrm>
          <a:custGeom>
            <a:avLst/>
            <a:gdLst/>
            <a:ahLst/>
            <a:cxnLst/>
            <a:rect r="r" b="b" t="t" l="l"/>
            <a:pathLst>
              <a:path h="547587" w="287483">
                <a:moveTo>
                  <a:pt x="0" y="0"/>
                </a:moveTo>
                <a:lnTo>
                  <a:pt x="287483" y="0"/>
                </a:lnTo>
                <a:lnTo>
                  <a:pt x="287483" y="547587"/>
                </a:lnTo>
                <a:lnTo>
                  <a:pt x="0" y="5475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966766" y="4734269"/>
            <a:ext cx="331035" cy="497796"/>
          </a:xfrm>
          <a:custGeom>
            <a:avLst/>
            <a:gdLst/>
            <a:ahLst/>
            <a:cxnLst/>
            <a:rect r="r" b="b" t="t" l="l"/>
            <a:pathLst>
              <a:path h="497796" w="331035">
                <a:moveTo>
                  <a:pt x="0" y="0"/>
                </a:moveTo>
                <a:lnTo>
                  <a:pt x="331034" y="0"/>
                </a:lnTo>
                <a:lnTo>
                  <a:pt x="331034" y="497796"/>
                </a:lnTo>
                <a:lnTo>
                  <a:pt x="0" y="497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95312" y="6423637"/>
            <a:ext cx="346682" cy="563710"/>
          </a:xfrm>
          <a:custGeom>
            <a:avLst/>
            <a:gdLst/>
            <a:ahLst/>
            <a:cxnLst/>
            <a:rect r="r" b="b" t="t" l="l"/>
            <a:pathLst>
              <a:path h="563710" w="346682">
                <a:moveTo>
                  <a:pt x="0" y="0"/>
                </a:moveTo>
                <a:lnTo>
                  <a:pt x="346682" y="0"/>
                </a:lnTo>
                <a:lnTo>
                  <a:pt x="346682" y="563710"/>
                </a:lnTo>
                <a:lnTo>
                  <a:pt x="0" y="5637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930762" y="6431583"/>
            <a:ext cx="367039" cy="547819"/>
          </a:xfrm>
          <a:custGeom>
            <a:avLst/>
            <a:gdLst/>
            <a:ahLst/>
            <a:cxnLst/>
            <a:rect r="r" b="b" t="t" l="l"/>
            <a:pathLst>
              <a:path h="547819" w="367039">
                <a:moveTo>
                  <a:pt x="0" y="0"/>
                </a:moveTo>
                <a:lnTo>
                  <a:pt x="367038" y="0"/>
                </a:lnTo>
                <a:lnTo>
                  <a:pt x="367038" y="547819"/>
                </a:lnTo>
                <a:lnTo>
                  <a:pt x="0" y="5478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57465" y="8160540"/>
            <a:ext cx="360047" cy="541424"/>
          </a:xfrm>
          <a:custGeom>
            <a:avLst/>
            <a:gdLst/>
            <a:ahLst/>
            <a:cxnLst/>
            <a:rect r="r" b="b" t="t" l="l"/>
            <a:pathLst>
              <a:path h="541424" w="360047">
                <a:moveTo>
                  <a:pt x="0" y="0"/>
                </a:moveTo>
                <a:lnTo>
                  <a:pt x="360047" y="0"/>
                </a:lnTo>
                <a:lnTo>
                  <a:pt x="360047" y="541425"/>
                </a:lnTo>
                <a:lnTo>
                  <a:pt x="0" y="541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930327" y="8166544"/>
            <a:ext cx="367474" cy="548468"/>
          </a:xfrm>
          <a:custGeom>
            <a:avLst/>
            <a:gdLst/>
            <a:ahLst/>
            <a:cxnLst/>
            <a:rect r="r" b="b" t="t" l="l"/>
            <a:pathLst>
              <a:path h="548468" w="367474">
                <a:moveTo>
                  <a:pt x="0" y="0"/>
                </a:moveTo>
                <a:lnTo>
                  <a:pt x="367473" y="0"/>
                </a:lnTo>
                <a:lnTo>
                  <a:pt x="367473" y="548468"/>
                </a:lnTo>
                <a:lnTo>
                  <a:pt x="0" y="54846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962775" y="647700"/>
            <a:ext cx="4371975" cy="821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63"/>
              </a:lnSpc>
              <a:spcBef>
                <a:spcPct val="0"/>
              </a:spcBef>
            </a:pPr>
            <a:r>
              <a:rPr lang="en-US" b="true" sz="5799" spc="-202" strike="noStrike" u="none">
                <a:solidFill>
                  <a:srgbClr val="9A9FB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OBJETIVOS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44658" y="2338999"/>
            <a:ext cx="14068665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</a:pPr>
            <a:r>
              <a:rPr lang="en-US" sz="1999" spc="119">
                <a:solidFill>
                  <a:srgbClr val="FFFEFE"/>
                </a:solidFill>
                <a:latin typeface="Inter"/>
                <a:ea typeface="Inter"/>
                <a:cs typeface="Inter"/>
                <a:sym typeface="Inter"/>
              </a:rPr>
              <a:t>Desarrollar una plataforma web accesible e integral para la gestión del PIE y el apoyo a niños con TEA, combinando comunicación aumentativa por pictogramas (ARASAAC) con un sistema de bitácora profesional que optimice la inclusión, la rutina y la toma de decisiones pedagógicas.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44658" y="2037374"/>
            <a:ext cx="234842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</a:pPr>
            <a:r>
              <a:rPr lang="en-US" b="true" sz="1999" spc="119">
                <a:solidFill>
                  <a:srgbClr val="FFFEFE"/>
                </a:solidFill>
                <a:latin typeface="Inter Bold"/>
                <a:ea typeface="Inter Bold"/>
                <a:cs typeface="Inter Bold"/>
                <a:sym typeface="Inter Bold"/>
              </a:rPr>
              <a:t>Objetivo general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9200" y="3752850"/>
            <a:ext cx="322897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pc="120" strike="noStrike" u="none">
                <a:solidFill>
                  <a:srgbClr val="6C7184"/>
                </a:solidFill>
                <a:latin typeface="Inter Bold"/>
                <a:ea typeface="Inter Bold"/>
                <a:cs typeface="Inter Bold"/>
                <a:sym typeface="Inter Bold"/>
              </a:rPr>
              <a:t>Objetivos específicos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11942" y="4417279"/>
            <a:ext cx="6709119" cy="111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4"/>
              </a:lnSpc>
            </a:pPr>
            <a:r>
              <a:rPr lang="en-US" sz="2334" spc="-175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Diseñar el modelo arquitectónico y de datos escalable y seguro para usuarios, comunicación e historiales clínicos/pedagógicos.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09800" y="6324600"/>
            <a:ext cx="6715125" cy="74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7"/>
              </a:lnSpc>
              <a:spcBef>
                <a:spcPct val="0"/>
              </a:spcBef>
            </a:pPr>
            <a:r>
              <a:rPr lang="en-US" sz="2320" spc="-174" strike="noStrike" u="none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Integrar la API de ARASAAC para construir y personalizar frases, rutinas e indicadores emocionales en tiempo real.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09800" y="8048625"/>
            <a:ext cx="6715125" cy="74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9"/>
              </a:lnSpc>
              <a:spcBef>
                <a:spcPct val="0"/>
              </a:spcBef>
            </a:pPr>
            <a:r>
              <a:rPr lang="en-US" sz="2330" spc="-174" strike="noStrike" u="none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Implementar estándares de seguridad para proteger datos sensibles de menores según normativas vigentes.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72775" y="4600575"/>
            <a:ext cx="6715125" cy="74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9"/>
              </a:lnSpc>
              <a:spcBef>
                <a:spcPct val="0"/>
              </a:spcBef>
            </a:pPr>
            <a:r>
              <a:rPr lang="en-US" sz="2330" spc="-174" strike="noStrike" u="none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Desarrollar una interfaz web centrada en la accesibilidad e inclusión para niños y profesionales.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71326" y="6139604"/>
            <a:ext cx="6709119" cy="111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4"/>
              </a:lnSpc>
            </a:pPr>
            <a:r>
              <a:rPr lang="en-US" sz="2334" spc="-175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Programar el sistema de bitácora y consulta de BD para registrar avances e incidencias, con reportes para el equipo PIE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809426" y="8051102"/>
            <a:ext cx="6709119" cy="74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4"/>
              </a:lnSpc>
            </a:pPr>
            <a:r>
              <a:rPr lang="en-US" sz="2334" spc="-175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Ejecutar las pruebas de calidad que aseguren funcionamiento, usabilidad y rendimiento.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29000" y="628650"/>
            <a:ext cx="11430000" cy="82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63"/>
              </a:lnSpc>
              <a:spcBef>
                <a:spcPct val="0"/>
              </a:spcBef>
            </a:pPr>
            <a:r>
              <a:rPr lang="en-US" b="true" sz="5799" spc="-202" strike="noStrike" u="none">
                <a:solidFill>
                  <a:srgbClr val="9A9FB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METODOLOGÍA DE TRABAJO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763000" y="1579245"/>
            <a:ext cx="762000" cy="38100"/>
            <a:chOff x="0" y="0"/>
            <a:chExt cx="1016000" cy="50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000" cy="50800"/>
            </a:xfrm>
            <a:custGeom>
              <a:avLst/>
              <a:gdLst/>
              <a:ahLst/>
              <a:cxnLst/>
              <a:rect r="r" b="b" t="t" l="l"/>
              <a:pathLst>
                <a:path h="508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1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286500" y="1741170"/>
            <a:ext cx="5715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Ágil e Incremental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62000" y="2647950"/>
            <a:ext cx="8272988" cy="677321"/>
            <a:chOff x="0" y="0"/>
            <a:chExt cx="10858500" cy="88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58500" cy="889000"/>
            </a:xfrm>
            <a:custGeom>
              <a:avLst/>
              <a:gdLst/>
              <a:ahLst/>
              <a:cxnLst/>
              <a:rect r="r" b="b" t="t" l="l"/>
              <a:pathLst>
                <a:path h="889000" w="10858500">
                  <a:moveTo>
                    <a:pt x="88900" y="0"/>
                  </a:moveTo>
                  <a:lnTo>
                    <a:pt x="10769600" y="0"/>
                  </a:lnTo>
                  <a:cubicBezTo>
                    <a:pt x="10818698" y="0"/>
                    <a:pt x="10858500" y="39802"/>
                    <a:pt x="10858500" y="88900"/>
                  </a:cubicBezTo>
                  <a:lnTo>
                    <a:pt x="10858500" y="800100"/>
                  </a:lnTo>
                  <a:cubicBezTo>
                    <a:pt x="10858500" y="849198"/>
                    <a:pt x="10818698" y="889000"/>
                    <a:pt x="107696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9A9FB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8585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55520" y="2714606"/>
            <a:ext cx="7885947" cy="273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723">
                <a:solidFill>
                  <a:srgbClr val="FFFEFE"/>
                </a:solidFill>
                <a:latin typeface="Inter Bold"/>
                <a:ea typeface="Inter Bold"/>
                <a:cs typeface="Inter Bold"/>
                <a:sym typeface="Inter Bold"/>
              </a:rPr>
              <a:t>Marco de Trabajo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20" y="2904784"/>
            <a:ext cx="7885947" cy="266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8"/>
              </a:lnSpc>
            </a:pPr>
            <a:r>
              <a:rPr lang="en-US" sz="1520">
                <a:solidFill>
                  <a:srgbClr val="FFFEFE"/>
                </a:solidFill>
                <a:latin typeface="Inter"/>
                <a:ea typeface="Inter"/>
                <a:cs typeface="Inter"/>
                <a:sym typeface="Inter"/>
              </a:rPr>
              <a:t>Desarrollo ágil iterativo en Sprints de 2 semanas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4285" y="3532521"/>
            <a:ext cx="622470" cy="622470"/>
            <a:chOff x="0" y="0"/>
            <a:chExt cx="457200" cy="457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22495" y="3576418"/>
            <a:ext cx="466051" cy="521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9"/>
              </a:lnSpc>
            </a:pPr>
            <a:r>
              <a:rPr lang="en-US" b="true" sz="3128">
                <a:solidFill>
                  <a:srgbClr val="FFFEFE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78441" y="3608530"/>
            <a:ext cx="490301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6"/>
              </a:lnSpc>
            </a:pPr>
            <a:r>
              <a:rPr lang="en-US" b="true" sz="1622">
                <a:solidFill>
                  <a:srgbClr val="2D2D2D"/>
                </a:solidFill>
                <a:latin typeface="Inter Bold"/>
                <a:ea typeface="Inter Bold"/>
                <a:cs typeface="Inter Bold"/>
                <a:sym typeface="Inter Bold"/>
              </a:rPr>
              <a:t>Levantamiento y Análisis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78441" y="3859570"/>
            <a:ext cx="4903018" cy="240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41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Historias de usuario y priorización MoSCoW.</a:t>
            </a:r>
          </a:p>
        </p:txBody>
      </p:sp>
      <p:sp>
        <p:nvSpPr>
          <p:cNvPr name="AutoShape 18" id="18"/>
          <p:cNvSpPr/>
          <p:nvPr/>
        </p:nvSpPr>
        <p:spPr>
          <a:xfrm flipH="true">
            <a:off x="936168" y="4154991"/>
            <a:ext cx="19352" cy="586822"/>
          </a:xfrm>
          <a:prstGeom prst="line">
            <a:avLst/>
          </a:prstGeom>
          <a:ln cap="flat" w="19050">
            <a:solidFill>
              <a:srgbClr val="C6CB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778441" y="4633651"/>
            <a:ext cx="490301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6"/>
              </a:lnSpc>
            </a:pPr>
            <a:r>
              <a:rPr lang="en-US" b="true" sz="1622">
                <a:solidFill>
                  <a:srgbClr val="2D2D2D"/>
                </a:solidFill>
                <a:latin typeface="Inter Bold"/>
                <a:ea typeface="Inter Bold"/>
                <a:cs typeface="Inter Bold"/>
                <a:sym typeface="Inter Bold"/>
              </a:rPr>
              <a:t>Diseño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78441" y="4862251"/>
            <a:ext cx="4903018" cy="48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41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Arquitectura por capas, MER y wireframes accesibles (WCAG).</a:t>
            </a:r>
          </a:p>
        </p:txBody>
      </p:sp>
      <p:sp>
        <p:nvSpPr>
          <p:cNvPr name="AutoShape 21" id="21"/>
          <p:cNvSpPr/>
          <p:nvPr/>
        </p:nvSpPr>
        <p:spPr>
          <a:xfrm>
            <a:off x="936168" y="5206086"/>
            <a:ext cx="19352" cy="624922"/>
          </a:xfrm>
          <a:prstGeom prst="line">
            <a:avLst/>
          </a:prstGeom>
          <a:ln cap="flat" w="19050">
            <a:solidFill>
              <a:srgbClr val="C6CB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778441" y="5728109"/>
            <a:ext cx="490301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6"/>
              </a:lnSpc>
            </a:pPr>
            <a:r>
              <a:rPr lang="en-US" b="true" sz="1622">
                <a:solidFill>
                  <a:srgbClr val="2D2D2D"/>
                </a:solidFill>
                <a:latin typeface="Inter Bold"/>
                <a:ea typeface="Inter Bold"/>
                <a:cs typeface="Inter Bold"/>
                <a:sym typeface="Inter Bold"/>
              </a:rPr>
              <a:t>Desarrollo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78441" y="5922081"/>
            <a:ext cx="4903018" cy="48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41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Construcción modular (Login, ARASAAC, Rutinas, Bitácora).</a:t>
            </a:r>
          </a:p>
        </p:txBody>
      </p:sp>
      <p:sp>
        <p:nvSpPr>
          <p:cNvPr name="AutoShape 24" id="24"/>
          <p:cNvSpPr/>
          <p:nvPr/>
        </p:nvSpPr>
        <p:spPr>
          <a:xfrm>
            <a:off x="955520" y="6295281"/>
            <a:ext cx="10530" cy="634447"/>
          </a:xfrm>
          <a:prstGeom prst="line">
            <a:avLst/>
          </a:prstGeom>
          <a:ln cap="flat" w="19050">
            <a:solidFill>
              <a:srgbClr val="C6CB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778441" y="6819156"/>
            <a:ext cx="490301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6"/>
              </a:lnSpc>
            </a:pPr>
            <a:r>
              <a:rPr lang="en-US" b="true" sz="1622">
                <a:solidFill>
                  <a:srgbClr val="2D2D2D"/>
                </a:solidFill>
                <a:latin typeface="Inter Bold"/>
                <a:ea typeface="Inter Bold"/>
                <a:cs typeface="Inter Bold"/>
                <a:sym typeface="Inter Bold"/>
              </a:rPr>
              <a:t>QA y Seguridad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78441" y="7029537"/>
            <a:ext cx="4903018" cy="48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41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Pruebas unitarias, de integración y análisis OWASP Top 10.</a:t>
            </a:r>
          </a:p>
        </p:txBody>
      </p:sp>
      <p:sp>
        <p:nvSpPr>
          <p:cNvPr name="AutoShape 27" id="27"/>
          <p:cNvSpPr/>
          <p:nvPr/>
        </p:nvSpPr>
        <p:spPr>
          <a:xfrm>
            <a:off x="936168" y="7429733"/>
            <a:ext cx="0" cy="562206"/>
          </a:xfrm>
          <a:prstGeom prst="line">
            <a:avLst/>
          </a:prstGeom>
          <a:ln cap="flat" w="19050">
            <a:solidFill>
              <a:srgbClr val="C6CB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1778441" y="8060294"/>
            <a:ext cx="490301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6"/>
              </a:lnSpc>
            </a:pPr>
            <a:r>
              <a:rPr lang="en-US" b="true" sz="1622">
                <a:solidFill>
                  <a:srgbClr val="2D2D2D"/>
                </a:solidFill>
                <a:latin typeface="Inter Bold"/>
                <a:ea typeface="Inter Bold"/>
                <a:cs typeface="Inter Bold"/>
                <a:sym typeface="Inter Bold"/>
              </a:rPr>
              <a:t>Despliegue y Cierre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78441" y="8307235"/>
            <a:ext cx="4903018" cy="240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41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Puesta en marcha del MVP y manuales técnicos.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62000" y="8897419"/>
            <a:ext cx="8272988" cy="541856"/>
            <a:chOff x="0" y="0"/>
            <a:chExt cx="10858500" cy="711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858500" cy="711200"/>
            </a:xfrm>
            <a:custGeom>
              <a:avLst/>
              <a:gdLst/>
              <a:ahLst/>
              <a:cxnLst/>
              <a:rect r="r" b="b" t="t" l="l"/>
              <a:pathLst>
                <a:path h="711200" w="10858500">
                  <a:moveTo>
                    <a:pt x="71120" y="0"/>
                  </a:moveTo>
                  <a:lnTo>
                    <a:pt x="10787380" y="0"/>
                  </a:lnTo>
                  <a:cubicBezTo>
                    <a:pt x="10826659" y="0"/>
                    <a:pt x="10858500" y="31842"/>
                    <a:pt x="10858500" y="71120"/>
                  </a:cubicBezTo>
                  <a:lnTo>
                    <a:pt x="10858500" y="640080"/>
                  </a:lnTo>
                  <a:cubicBezTo>
                    <a:pt x="10858500" y="679358"/>
                    <a:pt x="10826659" y="711200"/>
                    <a:pt x="10787380" y="711200"/>
                  </a:cubicBezTo>
                  <a:lnTo>
                    <a:pt x="71120" y="711200"/>
                  </a:lnTo>
                  <a:cubicBezTo>
                    <a:pt x="31842" y="711200"/>
                    <a:pt x="0" y="679358"/>
                    <a:pt x="0" y="6400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C6CBD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8585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55520" y="8989669"/>
            <a:ext cx="7885947" cy="30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1620">
                <a:solidFill>
                  <a:srgbClr val="2D2D2D"/>
                </a:solidFill>
                <a:latin typeface="Inter Bold"/>
                <a:ea typeface="Inter Bold"/>
                <a:cs typeface="Inter Bold"/>
                <a:sym typeface="Inter Bold"/>
              </a:rPr>
              <a:t>Herramientas:</a:t>
            </a:r>
            <a:r>
              <a:rPr lang="en-US" sz="1620">
                <a:solidFill>
                  <a:srgbClr val="2D2D2D"/>
                </a:solidFill>
                <a:latin typeface="Inter"/>
                <a:ea typeface="Inter"/>
                <a:cs typeface="Inter"/>
                <a:sym typeface="Inter"/>
              </a:rPr>
              <a:t> GitHub (control de versiones) + Kanban (gestión de tareas)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72600" y="2209800"/>
            <a:ext cx="814387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2D2D2D"/>
                </a:solidFill>
                <a:latin typeface="Inter Bold"/>
                <a:ea typeface="Inter Bold"/>
                <a:cs typeface="Inter Bold"/>
                <a:sym typeface="Inter Bold"/>
              </a:rPr>
              <a:t>Roles y Responsabilidades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382125" y="2647950"/>
            <a:ext cx="8143875" cy="1885753"/>
            <a:chOff x="0" y="0"/>
            <a:chExt cx="10858500" cy="251433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858500" cy="2514338"/>
            </a:xfrm>
            <a:custGeom>
              <a:avLst/>
              <a:gdLst/>
              <a:ahLst/>
              <a:cxnLst/>
              <a:rect r="r" b="b" t="t" l="l"/>
              <a:pathLst>
                <a:path h="2514338" w="10858500">
                  <a:moveTo>
                    <a:pt x="234950" y="0"/>
                  </a:moveTo>
                  <a:lnTo>
                    <a:pt x="10623550" y="0"/>
                  </a:lnTo>
                  <a:cubicBezTo>
                    <a:pt x="10753310" y="0"/>
                    <a:pt x="10858500" y="112571"/>
                    <a:pt x="10858500" y="251434"/>
                  </a:cubicBezTo>
                  <a:lnTo>
                    <a:pt x="10858500" y="2262904"/>
                  </a:lnTo>
                  <a:cubicBezTo>
                    <a:pt x="10858500" y="2401767"/>
                    <a:pt x="10753310" y="2514338"/>
                    <a:pt x="10623550" y="2514338"/>
                  </a:cubicBezTo>
                  <a:lnTo>
                    <a:pt x="234950" y="2514338"/>
                  </a:lnTo>
                  <a:cubicBezTo>
                    <a:pt x="105191" y="2514338"/>
                    <a:pt x="0" y="2401767"/>
                    <a:pt x="0" y="2262904"/>
                  </a:cubicBezTo>
                  <a:lnTo>
                    <a:pt x="0" y="251434"/>
                  </a:lnTo>
                  <a:cubicBezTo>
                    <a:pt x="0" y="112571"/>
                    <a:pt x="105191" y="0"/>
                    <a:pt x="2349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8D8D8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858500" cy="2561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82125" y="2647950"/>
            <a:ext cx="47625" cy="1762125"/>
            <a:chOff x="0" y="0"/>
            <a:chExt cx="63500" cy="2349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500" cy="2349500"/>
            </a:xfrm>
            <a:custGeom>
              <a:avLst/>
              <a:gdLst/>
              <a:ahLst/>
              <a:cxnLst/>
              <a:rect r="r" b="b" t="t" l="l"/>
              <a:pathLst>
                <a:path h="2349500" w="63500">
                  <a:moveTo>
                    <a:pt x="0" y="0"/>
                  </a:moveTo>
                  <a:lnTo>
                    <a:pt x="63500" y="0"/>
                  </a:lnTo>
                  <a:lnTo>
                    <a:pt x="63500" y="2349500"/>
                  </a:lnTo>
                  <a:lnTo>
                    <a:pt x="0" y="2349500"/>
                  </a:ln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3500" cy="238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610725" y="2786062"/>
            <a:ext cx="768667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b="true" sz="1799">
                <a:solidFill>
                  <a:srgbClr val="2D2D2D"/>
                </a:solidFill>
                <a:latin typeface="Inter Bold"/>
                <a:ea typeface="Inter Bold"/>
                <a:cs typeface="Inter Bold"/>
                <a:sym typeface="Inter Bold"/>
              </a:rPr>
              <a:t>Rolando Fierro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610725" y="3171670"/>
            <a:ext cx="2857500" cy="356206"/>
            <a:chOff x="0" y="0"/>
            <a:chExt cx="3810000" cy="47494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810000" cy="474941"/>
            </a:xfrm>
            <a:custGeom>
              <a:avLst/>
              <a:gdLst/>
              <a:ahLst/>
              <a:cxnLst/>
              <a:rect r="r" b="b" t="t" l="l"/>
              <a:pathLst>
                <a:path h="474941" w="3810000">
                  <a:moveTo>
                    <a:pt x="3632200" y="0"/>
                  </a:moveTo>
                  <a:cubicBezTo>
                    <a:pt x="3730396" y="0"/>
                    <a:pt x="3810000" y="106319"/>
                    <a:pt x="3810000" y="237471"/>
                  </a:cubicBezTo>
                  <a:cubicBezTo>
                    <a:pt x="3810000" y="368622"/>
                    <a:pt x="3730396" y="474941"/>
                    <a:pt x="3632200" y="474941"/>
                  </a:cubicBezTo>
                  <a:lnTo>
                    <a:pt x="177800" y="474941"/>
                  </a:lnTo>
                  <a:cubicBezTo>
                    <a:pt x="79604" y="474941"/>
                    <a:pt x="0" y="368622"/>
                    <a:pt x="0" y="237471"/>
                  </a:cubicBezTo>
                  <a:cubicBezTo>
                    <a:pt x="0" y="106319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C6CBD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3810000" cy="50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  <a:r>
                <a:rPr lang="en-US" sz="1299">
                  <a:solidFill>
                    <a:srgbClr val="2D2D2D"/>
                  </a:solidFill>
                  <a:latin typeface="Inter"/>
                  <a:ea typeface="Inter"/>
                  <a:cs typeface="Inter"/>
                  <a:sym typeface="Inter"/>
                </a:rPr>
                <a:t>Líder de Proyecto / QA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610725" y="3533148"/>
            <a:ext cx="768667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49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Planificación, administración del tablero Kanban, diseño y ejecución del plan de pruebas, y auditoría de vulnerabilidades/seguridad.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429750" y="5076628"/>
            <a:ext cx="8143875" cy="1881016"/>
            <a:chOff x="0" y="0"/>
            <a:chExt cx="10858500" cy="250802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858500" cy="2508022"/>
            </a:xfrm>
            <a:custGeom>
              <a:avLst/>
              <a:gdLst/>
              <a:ahLst/>
              <a:cxnLst/>
              <a:rect r="r" b="b" t="t" l="l"/>
              <a:pathLst>
                <a:path h="2508022" w="10858500">
                  <a:moveTo>
                    <a:pt x="234950" y="0"/>
                  </a:moveTo>
                  <a:lnTo>
                    <a:pt x="10623550" y="0"/>
                  </a:lnTo>
                  <a:cubicBezTo>
                    <a:pt x="10753310" y="0"/>
                    <a:pt x="10858500" y="112288"/>
                    <a:pt x="10858500" y="250802"/>
                  </a:cubicBezTo>
                  <a:lnTo>
                    <a:pt x="10858500" y="2257219"/>
                  </a:lnTo>
                  <a:cubicBezTo>
                    <a:pt x="10858500" y="2395734"/>
                    <a:pt x="10753310" y="2508022"/>
                    <a:pt x="10623550" y="2508022"/>
                  </a:cubicBezTo>
                  <a:lnTo>
                    <a:pt x="234950" y="2508022"/>
                  </a:lnTo>
                  <a:cubicBezTo>
                    <a:pt x="105191" y="2508022"/>
                    <a:pt x="0" y="2395734"/>
                    <a:pt x="0" y="2257219"/>
                  </a:cubicBezTo>
                  <a:lnTo>
                    <a:pt x="0" y="250802"/>
                  </a:lnTo>
                  <a:cubicBezTo>
                    <a:pt x="0" y="112288"/>
                    <a:pt x="105191" y="0"/>
                    <a:pt x="2349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8D8D8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0858500" cy="255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29750" y="5076628"/>
            <a:ext cx="47625" cy="1762125"/>
            <a:chOff x="0" y="0"/>
            <a:chExt cx="63500" cy="23495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3500" cy="2349500"/>
            </a:xfrm>
            <a:custGeom>
              <a:avLst/>
              <a:gdLst/>
              <a:ahLst/>
              <a:cxnLst/>
              <a:rect r="r" b="b" t="t" l="l"/>
              <a:pathLst>
                <a:path h="2349500" w="63500">
                  <a:moveTo>
                    <a:pt x="0" y="0"/>
                  </a:moveTo>
                  <a:lnTo>
                    <a:pt x="63500" y="0"/>
                  </a:lnTo>
                  <a:lnTo>
                    <a:pt x="63500" y="2349500"/>
                  </a:lnTo>
                  <a:lnTo>
                    <a:pt x="0" y="2349500"/>
                  </a:ln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3500" cy="238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658350" y="5214741"/>
            <a:ext cx="768667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b="true" sz="1799">
                <a:solidFill>
                  <a:srgbClr val="2D2D2D"/>
                </a:solidFill>
                <a:latin typeface="Inter Bold"/>
                <a:ea typeface="Inter Bold"/>
                <a:cs typeface="Inter Bold"/>
                <a:sym typeface="Inter Bold"/>
              </a:rPr>
              <a:t>Cristóbal Ávila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610725" y="5629078"/>
            <a:ext cx="2857500" cy="356206"/>
            <a:chOff x="0" y="0"/>
            <a:chExt cx="3810000" cy="47494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810000" cy="474941"/>
            </a:xfrm>
            <a:custGeom>
              <a:avLst/>
              <a:gdLst/>
              <a:ahLst/>
              <a:cxnLst/>
              <a:rect r="r" b="b" t="t" l="l"/>
              <a:pathLst>
                <a:path h="474941" w="3810000">
                  <a:moveTo>
                    <a:pt x="3632200" y="0"/>
                  </a:moveTo>
                  <a:cubicBezTo>
                    <a:pt x="3730396" y="0"/>
                    <a:pt x="3810000" y="106319"/>
                    <a:pt x="3810000" y="237471"/>
                  </a:cubicBezTo>
                  <a:cubicBezTo>
                    <a:pt x="3810000" y="368622"/>
                    <a:pt x="3730396" y="474941"/>
                    <a:pt x="3632200" y="474941"/>
                  </a:cubicBezTo>
                  <a:lnTo>
                    <a:pt x="177800" y="474941"/>
                  </a:lnTo>
                  <a:cubicBezTo>
                    <a:pt x="79604" y="474941"/>
                    <a:pt x="0" y="368622"/>
                    <a:pt x="0" y="237471"/>
                  </a:cubicBezTo>
                  <a:cubicBezTo>
                    <a:pt x="0" y="106319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C6CBD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3810000" cy="50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  <a:r>
                <a:rPr lang="en-US" sz="1299">
                  <a:solidFill>
                    <a:srgbClr val="2D2D2D"/>
                  </a:solidFill>
                  <a:latin typeface="Inter"/>
                  <a:ea typeface="Inter"/>
                  <a:cs typeface="Inter"/>
                  <a:sym typeface="Inter"/>
                </a:rPr>
                <a:t>Desarrollador Frontend / UX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9658350" y="6047861"/>
            <a:ext cx="768667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49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Diseño de wireframes/prototipos navegables, interfaces accesibles e integración de la API de ARASAAC.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382125" y="7505306"/>
            <a:ext cx="8143875" cy="1933969"/>
            <a:chOff x="0" y="0"/>
            <a:chExt cx="10858500" cy="257862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858500" cy="2578625"/>
            </a:xfrm>
            <a:custGeom>
              <a:avLst/>
              <a:gdLst/>
              <a:ahLst/>
              <a:cxnLst/>
              <a:rect r="r" b="b" t="t" l="l"/>
              <a:pathLst>
                <a:path h="2578625" w="10858500">
                  <a:moveTo>
                    <a:pt x="234950" y="0"/>
                  </a:moveTo>
                  <a:lnTo>
                    <a:pt x="10623550" y="0"/>
                  </a:lnTo>
                  <a:cubicBezTo>
                    <a:pt x="10753310" y="0"/>
                    <a:pt x="10858500" y="115449"/>
                    <a:pt x="10858500" y="257862"/>
                  </a:cubicBezTo>
                  <a:lnTo>
                    <a:pt x="10858500" y="2320762"/>
                  </a:lnTo>
                  <a:cubicBezTo>
                    <a:pt x="10858500" y="2463176"/>
                    <a:pt x="10753310" y="2578625"/>
                    <a:pt x="10623550" y="2578625"/>
                  </a:cubicBezTo>
                  <a:lnTo>
                    <a:pt x="234950" y="2578625"/>
                  </a:lnTo>
                  <a:cubicBezTo>
                    <a:pt x="105191" y="2578625"/>
                    <a:pt x="0" y="2463176"/>
                    <a:pt x="0" y="2320762"/>
                  </a:cubicBezTo>
                  <a:lnTo>
                    <a:pt x="0" y="257862"/>
                  </a:lnTo>
                  <a:cubicBezTo>
                    <a:pt x="0" y="115449"/>
                    <a:pt x="105191" y="0"/>
                    <a:pt x="2349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8D8D8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0858500" cy="2626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382125" y="7505306"/>
            <a:ext cx="47625" cy="1933969"/>
            <a:chOff x="0" y="0"/>
            <a:chExt cx="63500" cy="257862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3500" cy="2578625"/>
            </a:xfrm>
            <a:custGeom>
              <a:avLst/>
              <a:gdLst/>
              <a:ahLst/>
              <a:cxnLst/>
              <a:rect r="r" b="b" t="t" l="l"/>
              <a:pathLst>
                <a:path h="2578625" w="63500">
                  <a:moveTo>
                    <a:pt x="0" y="0"/>
                  </a:moveTo>
                  <a:lnTo>
                    <a:pt x="63500" y="0"/>
                  </a:lnTo>
                  <a:lnTo>
                    <a:pt x="63500" y="2578625"/>
                  </a:lnTo>
                  <a:lnTo>
                    <a:pt x="0" y="2578625"/>
                  </a:ln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3500" cy="261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9610725" y="7634288"/>
            <a:ext cx="768667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b="true" sz="1799">
                <a:solidFill>
                  <a:srgbClr val="2D2D2D"/>
                </a:solidFill>
                <a:latin typeface="Inter Bold"/>
                <a:ea typeface="Inter Bold"/>
                <a:cs typeface="Inter Bold"/>
                <a:sym typeface="Inter Bold"/>
              </a:rPr>
              <a:t>Carlos Peña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610725" y="8058150"/>
            <a:ext cx="2857500" cy="438150"/>
            <a:chOff x="0" y="0"/>
            <a:chExt cx="3810000" cy="584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810000" cy="584200"/>
            </a:xfrm>
            <a:custGeom>
              <a:avLst/>
              <a:gdLst/>
              <a:ahLst/>
              <a:cxnLst/>
              <a:rect r="r" b="b" t="t" l="l"/>
              <a:pathLst>
                <a:path h="584200" w="3810000">
                  <a:moveTo>
                    <a:pt x="3517900" y="0"/>
                  </a:moveTo>
                  <a:cubicBezTo>
                    <a:pt x="3679222" y="0"/>
                    <a:pt x="3810000" y="130778"/>
                    <a:pt x="3810000" y="292100"/>
                  </a:cubicBezTo>
                  <a:cubicBezTo>
                    <a:pt x="3810000" y="453422"/>
                    <a:pt x="3679222" y="584200"/>
                    <a:pt x="3517900" y="584200"/>
                  </a:cubicBezTo>
                  <a:lnTo>
                    <a:pt x="292100" y="584200"/>
                  </a:lnTo>
                  <a:cubicBezTo>
                    <a:pt x="130778" y="584200"/>
                    <a:pt x="0" y="453422"/>
                    <a:pt x="0" y="292100"/>
                  </a:cubicBezTo>
                  <a:cubicBezTo>
                    <a:pt x="0" y="130778"/>
                    <a:pt x="130778" y="0"/>
                    <a:pt x="292100" y="0"/>
                  </a:cubicBezTo>
                  <a:close/>
                </a:path>
              </a:pathLst>
            </a:custGeom>
            <a:solidFill>
              <a:srgbClr val="C6CBDF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38100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  <a:r>
                <a:rPr lang="en-US" sz="1299">
                  <a:solidFill>
                    <a:srgbClr val="2D2D2D"/>
                  </a:solidFill>
                  <a:latin typeface="Inter"/>
                  <a:ea typeface="Inter"/>
                  <a:cs typeface="Inter"/>
                  <a:sym typeface="Inter"/>
                </a:rPr>
                <a:t>Desarrollador Backend / BBDD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610725" y="8566785"/>
            <a:ext cx="768667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49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Diseño e implementación del modelo relacional, desarrollo de API interna, módulo de bitácora y control de acceso por roles.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644285" y="4631241"/>
            <a:ext cx="622470" cy="622470"/>
            <a:chOff x="0" y="0"/>
            <a:chExt cx="457200" cy="457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659275" y="4684663"/>
            <a:ext cx="553786" cy="521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9"/>
              </a:lnSpc>
            </a:pPr>
            <a:r>
              <a:rPr lang="en-US" sz="3128" b="true">
                <a:solidFill>
                  <a:srgbClr val="FFFEFE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644285" y="5729961"/>
            <a:ext cx="622470" cy="622470"/>
            <a:chOff x="0" y="0"/>
            <a:chExt cx="457200" cy="457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683390" y="5773858"/>
            <a:ext cx="544261" cy="521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9"/>
              </a:lnSpc>
            </a:pPr>
            <a:r>
              <a:rPr lang="en-US" b="true" sz="3128">
                <a:solidFill>
                  <a:srgbClr val="FFFEFE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644285" y="6828681"/>
            <a:ext cx="622470" cy="622470"/>
            <a:chOff x="0" y="0"/>
            <a:chExt cx="457200" cy="4572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693920" y="6872578"/>
            <a:ext cx="544261" cy="521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9"/>
              </a:lnSpc>
            </a:pPr>
            <a:r>
              <a:rPr lang="en-US" b="true" sz="3128">
                <a:solidFill>
                  <a:srgbClr val="FFFEFE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644285" y="7991940"/>
            <a:ext cx="622470" cy="622470"/>
            <a:chOff x="0" y="0"/>
            <a:chExt cx="457200" cy="457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683390" y="8035837"/>
            <a:ext cx="544261" cy="521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9"/>
              </a:lnSpc>
            </a:pPr>
            <a:r>
              <a:rPr lang="en-US" b="true" sz="3128">
                <a:solidFill>
                  <a:srgbClr val="FFFEFE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523116">
            <a:off x="-1399966" y="-4244426"/>
            <a:ext cx="4461199" cy="5638167"/>
          </a:xfrm>
          <a:custGeom>
            <a:avLst/>
            <a:gdLst/>
            <a:ahLst/>
            <a:cxnLst/>
            <a:rect r="r" b="b" t="t" l="l"/>
            <a:pathLst>
              <a:path h="5638167" w="4461199">
                <a:moveTo>
                  <a:pt x="0" y="0"/>
                </a:moveTo>
                <a:lnTo>
                  <a:pt x="4461200" y="0"/>
                </a:lnTo>
                <a:lnTo>
                  <a:pt x="4461200" y="5638167"/>
                </a:lnTo>
                <a:lnTo>
                  <a:pt x="0" y="5638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523116">
            <a:off x="16053253" y="8630145"/>
            <a:ext cx="3703118" cy="4680085"/>
          </a:xfrm>
          <a:custGeom>
            <a:avLst/>
            <a:gdLst/>
            <a:ahLst/>
            <a:cxnLst/>
            <a:rect r="r" b="b" t="t" l="l"/>
            <a:pathLst>
              <a:path h="4680085" w="3703118">
                <a:moveTo>
                  <a:pt x="0" y="0"/>
                </a:moveTo>
                <a:lnTo>
                  <a:pt x="3703118" y="0"/>
                </a:lnTo>
                <a:lnTo>
                  <a:pt x="3703118" y="4680085"/>
                </a:lnTo>
                <a:lnTo>
                  <a:pt x="0" y="4680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030584" y="1785824"/>
            <a:ext cx="7017087" cy="6715352"/>
          </a:xfrm>
          <a:custGeom>
            <a:avLst/>
            <a:gdLst/>
            <a:ahLst/>
            <a:cxnLst/>
            <a:rect r="r" b="b" t="t" l="l"/>
            <a:pathLst>
              <a:path h="6715352" w="7017087">
                <a:moveTo>
                  <a:pt x="0" y="0"/>
                </a:moveTo>
                <a:lnTo>
                  <a:pt x="7017087" y="0"/>
                </a:lnTo>
                <a:lnTo>
                  <a:pt x="7017087" y="6715352"/>
                </a:lnTo>
                <a:lnTo>
                  <a:pt x="0" y="6715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940417" y="5571142"/>
            <a:ext cx="8620884" cy="396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</a:p>
          <a:p>
            <a:pPr algn="l" marL="410209" indent="-205105" lvl="1">
              <a:lnSpc>
                <a:spcPts val="2868"/>
              </a:lnSpc>
              <a:buFont typeface="Arial"/>
              <a:buChar char="•"/>
            </a:pPr>
            <a:r>
              <a:rPr lang="en-US" b="true" sz="1899" spc="113" u="none">
                <a:solidFill>
                  <a:srgbClr val="6C718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Fase 1 (Semanas 1 a 4): Levantamiento de requisitos, diseño de base de datos, arquitectura y prototipos navegables.</a:t>
            </a:r>
          </a:p>
          <a:p>
            <a:pPr algn="l">
              <a:lnSpc>
                <a:spcPts val="2868"/>
              </a:lnSpc>
            </a:pPr>
            <a:r>
              <a:rPr lang="en-US" b="true" sz="1899" spc="113" u="none">
                <a:solidFill>
                  <a:srgbClr val="6C718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</a:t>
            </a:r>
          </a:p>
          <a:p>
            <a:pPr algn="l" marL="410209" indent="-205105" lvl="1">
              <a:lnSpc>
                <a:spcPts val="2868"/>
              </a:lnSpc>
              <a:buFont typeface="Arial"/>
              <a:buChar char="•"/>
            </a:pPr>
            <a:r>
              <a:rPr lang="en-US" b="true" sz="1899" spc="113" u="none">
                <a:solidFill>
                  <a:srgbClr val="6C718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Fase 2 (Semanas 5 a 13): Desarrollo de módulos clave (Login, Tablero ARASAAC, Rutinas y Bitácora PIE) y pruebas continuas. </a:t>
            </a:r>
          </a:p>
          <a:p>
            <a:pPr algn="l">
              <a:lnSpc>
                <a:spcPts val="2868"/>
              </a:lnSpc>
            </a:pPr>
          </a:p>
          <a:p>
            <a:pPr algn="l" marL="410209" indent="-205105" lvl="1">
              <a:lnSpc>
                <a:spcPts val="2868"/>
              </a:lnSpc>
              <a:buFont typeface="Arial"/>
              <a:buChar char="•"/>
            </a:pPr>
            <a:r>
              <a:rPr lang="en-US" b="true" sz="1899" spc="113" u="none">
                <a:solidFill>
                  <a:srgbClr val="6C718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Fase 3 (Semanas 14 a 18): Seguridad, despliegue en servidor, manuales de usuario y cierre del proyecto. </a:t>
            </a:r>
          </a:p>
          <a:p>
            <a:pPr algn="l">
              <a:lnSpc>
                <a:spcPts val="2868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830634" y="3534956"/>
            <a:ext cx="8840450" cy="1818207"/>
            <a:chOff x="0" y="0"/>
            <a:chExt cx="2328349" cy="4788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28349" cy="478869"/>
            </a:xfrm>
            <a:custGeom>
              <a:avLst/>
              <a:gdLst/>
              <a:ahLst/>
              <a:cxnLst/>
              <a:rect r="r" b="b" t="t" l="l"/>
              <a:pathLst>
                <a:path h="478869" w="2328349">
                  <a:moveTo>
                    <a:pt x="2328349" y="0"/>
                  </a:moveTo>
                  <a:lnTo>
                    <a:pt x="0" y="0"/>
                  </a:lnTo>
                  <a:lnTo>
                    <a:pt x="101600" y="239435"/>
                  </a:lnTo>
                  <a:lnTo>
                    <a:pt x="0" y="478869"/>
                  </a:lnTo>
                  <a:lnTo>
                    <a:pt x="2328349" y="478869"/>
                  </a:lnTo>
                  <a:lnTo>
                    <a:pt x="2226749" y="239435"/>
                  </a:lnTo>
                  <a:lnTo>
                    <a:pt x="2328349" y="0"/>
                  </a:ln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88900" y="-38100"/>
              <a:ext cx="2150549" cy="516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EFE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Gestión y Control: Sprints iterativos, tablero Kanban en GitHub y sincronización semanal del equipo.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EFE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 Hitos por Fases del Semestre (18 Semanas):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522086"/>
            <a:ext cx="6556119" cy="161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b="true" sz="5799" spc="-202">
                <a:solidFill>
                  <a:srgbClr val="9A9FB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PLAN DE TRABAJO E HITOS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523116">
            <a:off x="-1399966" y="-4244426"/>
            <a:ext cx="4461199" cy="5638167"/>
          </a:xfrm>
          <a:custGeom>
            <a:avLst/>
            <a:gdLst/>
            <a:ahLst/>
            <a:cxnLst/>
            <a:rect r="r" b="b" t="t" l="l"/>
            <a:pathLst>
              <a:path h="5638167" w="4461199">
                <a:moveTo>
                  <a:pt x="0" y="0"/>
                </a:moveTo>
                <a:lnTo>
                  <a:pt x="4461200" y="0"/>
                </a:lnTo>
                <a:lnTo>
                  <a:pt x="4461200" y="5638167"/>
                </a:lnTo>
                <a:lnTo>
                  <a:pt x="0" y="5638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523116">
            <a:off x="16053253" y="8630145"/>
            <a:ext cx="3703118" cy="4680085"/>
          </a:xfrm>
          <a:custGeom>
            <a:avLst/>
            <a:gdLst/>
            <a:ahLst/>
            <a:cxnLst/>
            <a:rect r="r" b="b" t="t" l="l"/>
            <a:pathLst>
              <a:path h="4680085" w="3703118">
                <a:moveTo>
                  <a:pt x="0" y="0"/>
                </a:moveTo>
                <a:lnTo>
                  <a:pt x="3703118" y="0"/>
                </a:lnTo>
                <a:lnTo>
                  <a:pt x="3703118" y="4680085"/>
                </a:lnTo>
                <a:lnTo>
                  <a:pt x="0" y="4680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200150"/>
            <a:ext cx="8572500" cy="82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63"/>
              </a:lnSpc>
              <a:spcBef>
                <a:spcPct val="0"/>
              </a:spcBef>
            </a:pPr>
            <a:r>
              <a:rPr lang="en-US" b="true" sz="5799" spc="-202" strike="noStrike" u="none">
                <a:solidFill>
                  <a:srgbClr val="9A9FB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CARTA GANTT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124075"/>
            <a:ext cx="5181600" cy="57150"/>
            <a:chOff x="0" y="0"/>
            <a:chExt cx="6908800" cy="76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08800" cy="76200"/>
            </a:xfrm>
            <a:custGeom>
              <a:avLst/>
              <a:gdLst/>
              <a:ahLst/>
              <a:cxnLst/>
              <a:rect r="r" b="b" t="t" l="l"/>
              <a:pathLst>
                <a:path h="76200" w="6908800">
                  <a:moveTo>
                    <a:pt x="0" y="0"/>
                  </a:moveTo>
                  <a:lnTo>
                    <a:pt x="6908800" y="0"/>
                  </a:lnTo>
                  <a:lnTo>
                    <a:pt x="69088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9088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295525"/>
            <a:ext cx="47625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Plan de trabajo — 18 semanas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71975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86350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00725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15100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29475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43850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58225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72600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86975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01350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S10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15725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S11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30100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S12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44475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S13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58850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S14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73225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S15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087600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S16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801975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S17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16350" y="2962275"/>
            <a:ext cx="714375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1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S18</a:t>
            </a:r>
          </a:p>
        </p:txBody>
      </p:sp>
      <p:sp>
        <p:nvSpPr>
          <p:cNvPr name="AutoShape 27" id="27"/>
          <p:cNvSpPr/>
          <p:nvPr/>
        </p:nvSpPr>
        <p:spPr>
          <a:xfrm>
            <a:off x="4381500" y="3276600"/>
            <a:ext cx="12877800" cy="0"/>
          </a:xfrm>
          <a:prstGeom prst="line">
            <a:avLst/>
          </a:prstGeom>
          <a:ln cap="flat" w="9525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1028700" y="3562350"/>
            <a:ext cx="5715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>
                <a:solidFill>
                  <a:srgbClr val="CB9667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3962400"/>
            <a:ext cx="31623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800">
                <a:solidFill>
                  <a:srgbClr val="4A4E63"/>
                </a:solidFill>
                <a:latin typeface="Inter Bold"/>
                <a:ea typeface="Inter Bold"/>
                <a:cs typeface="Inter Bold"/>
                <a:sym typeface="Inter Bold"/>
              </a:rPr>
              <a:t>Definición y Diseño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4295775"/>
            <a:ext cx="3162300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9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Semanas 1 a 4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381500" y="3505200"/>
            <a:ext cx="2857500" cy="304800"/>
            <a:chOff x="0" y="0"/>
            <a:chExt cx="3810000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0000" cy="406400"/>
            </a:xfrm>
            <a:custGeom>
              <a:avLst/>
              <a:gdLst/>
              <a:ahLst/>
              <a:cxnLst/>
              <a:rect r="r" b="b" t="t" l="l"/>
              <a:pathLst>
                <a:path h="406400" w="3810000">
                  <a:moveTo>
                    <a:pt x="3606800" y="0"/>
                  </a:moveTo>
                  <a:cubicBezTo>
                    <a:pt x="3719024" y="0"/>
                    <a:pt x="3810000" y="90976"/>
                    <a:pt x="3810000" y="203200"/>
                  </a:cubicBezTo>
                  <a:cubicBezTo>
                    <a:pt x="3810000" y="315424"/>
                    <a:pt x="3719024" y="406400"/>
                    <a:pt x="36068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B9667">
                <a:alpha val="89804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810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457700" y="4019550"/>
            <a:ext cx="57150" cy="57150"/>
            <a:chOff x="0" y="0"/>
            <a:chExt cx="76200" cy="76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cubicBezTo>
                    <a:pt x="17058" y="0"/>
                    <a:pt x="0" y="17058"/>
                    <a:pt x="0" y="38100"/>
                  </a:cubicBezTo>
                  <a:cubicBezTo>
                    <a:pt x="0" y="59142"/>
                    <a:pt x="17058" y="76200"/>
                    <a:pt x="38100" y="76200"/>
                  </a:cubicBezTo>
                  <a:cubicBezTo>
                    <a:pt x="59142" y="76200"/>
                    <a:pt x="76200" y="59142"/>
                    <a:pt x="76200" y="38100"/>
                  </a:cubicBezTo>
                  <a:cubicBezTo>
                    <a:pt x="76200" y="17058"/>
                    <a:pt x="59142" y="0"/>
                    <a:pt x="38100" y="0"/>
                  </a:cubicBez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4591050" y="3943350"/>
            <a:ext cx="2571750" cy="45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Planificación y requerimientos PIE/TEA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457700" y="4286250"/>
            <a:ext cx="57150" cy="57150"/>
            <a:chOff x="0" y="0"/>
            <a:chExt cx="76200" cy="76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cubicBezTo>
                    <a:pt x="17058" y="0"/>
                    <a:pt x="0" y="17058"/>
                    <a:pt x="0" y="38100"/>
                  </a:cubicBezTo>
                  <a:cubicBezTo>
                    <a:pt x="0" y="59142"/>
                    <a:pt x="17058" y="76200"/>
                    <a:pt x="38100" y="76200"/>
                  </a:cubicBezTo>
                  <a:cubicBezTo>
                    <a:pt x="59142" y="76200"/>
                    <a:pt x="76200" y="59142"/>
                    <a:pt x="76200" y="38100"/>
                  </a:cubicBezTo>
                  <a:cubicBezTo>
                    <a:pt x="76200" y="17058"/>
                    <a:pt x="59142" y="0"/>
                    <a:pt x="38100" y="0"/>
                  </a:cubicBez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4588669" y="4492784"/>
            <a:ext cx="2571750" cy="45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Modelo de datos y arquitectura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4457700" y="4552950"/>
            <a:ext cx="57150" cy="57150"/>
            <a:chOff x="0" y="0"/>
            <a:chExt cx="76200" cy="76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cubicBezTo>
                    <a:pt x="17058" y="0"/>
                    <a:pt x="0" y="17058"/>
                    <a:pt x="0" y="38100"/>
                  </a:cubicBezTo>
                  <a:cubicBezTo>
                    <a:pt x="0" y="59142"/>
                    <a:pt x="17058" y="76200"/>
                    <a:pt x="38100" y="76200"/>
                  </a:cubicBezTo>
                  <a:cubicBezTo>
                    <a:pt x="59142" y="76200"/>
                    <a:pt x="76200" y="59142"/>
                    <a:pt x="76200" y="38100"/>
                  </a:cubicBezTo>
                  <a:cubicBezTo>
                    <a:pt x="76200" y="17058"/>
                    <a:pt x="59142" y="0"/>
                    <a:pt x="38100" y="0"/>
                  </a:cubicBez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4588669" y="4987211"/>
            <a:ext cx="2571750" cy="45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Wireframes y prototipo navegable (UI/UX)</a:t>
            </a:r>
          </a:p>
        </p:txBody>
      </p:sp>
      <p:sp>
        <p:nvSpPr>
          <p:cNvPr name="AutoShape 46" id="46"/>
          <p:cNvSpPr/>
          <p:nvPr/>
        </p:nvSpPr>
        <p:spPr>
          <a:xfrm>
            <a:off x="1028700" y="5505450"/>
            <a:ext cx="16230600" cy="0"/>
          </a:xfrm>
          <a:prstGeom prst="line">
            <a:avLst/>
          </a:prstGeom>
          <a:ln cap="flat" w="9525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1028700" y="5657850"/>
            <a:ext cx="5715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>
                <a:solidFill>
                  <a:srgbClr val="4A4E63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28700" y="6084887"/>
            <a:ext cx="31623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800">
                <a:solidFill>
                  <a:srgbClr val="4A4E63"/>
                </a:solidFill>
                <a:latin typeface="Inter Bold"/>
                <a:ea typeface="Inter Bold"/>
                <a:cs typeface="Inter Bold"/>
                <a:sym typeface="Inter Bold"/>
              </a:rPr>
              <a:t>Desarrollo y QA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8700" y="6420485"/>
            <a:ext cx="3162300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9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Semanas 5 a 13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7239000" y="5600700"/>
            <a:ext cx="6429375" cy="304800"/>
            <a:chOff x="0" y="0"/>
            <a:chExt cx="8572500" cy="406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572500" cy="406400"/>
            </a:xfrm>
            <a:custGeom>
              <a:avLst/>
              <a:gdLst/>
              <a:ahLst/>
              <a:cxnLst/>
              <a:rect r="r" b="b" t="t" l="l"/>
              <a:pathLst>
                <a:path h="406400" w="8572500">
                  <a:moveTo>
                    <a:pt x="8369300" y="0"/>
                  </a:moveTo>
                  <a:cubicBezTo>
                    <a:pt x="8481524" y="0"/>
                    <a:pt x="8572500" y="90976"/>
                    <a:pt x="8572500" y="203200"/>
                  </a:cubicBezTo>
                  <a:cubicBezTo>
                    <a:pt x="8572500" y="315424"/>
                    <a:pt x="8481524" y="406400"/>
                    <a:pt x="83693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A4E63">
                <a:alpha val="89804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5725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315200" y="6115050"/>
            <a:ext cx="57150" cy="57150"/>
            <a:chOff x="0" y="0"/>
            <a:chExt cx="76200" cy="76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cubicBezTo>
                    <a:pt x="17058" y="0"/>
                    <a:pt x="0" y="17058"/>
                    <a:pt x="0" y="38100"/>
                  </a:cubicBezTo>
                  <a:cubicBezTo>
                    <a:pt x="0" y="59142"/>
                    <a:pt x="17058" y="76200"/>
                    <a:pt x="38100" y="76200"/>
                  </a:cubicBezTo>
                  <a:cubicBezTo>
                    <a:pt x="59142" y="76200"/>
                    <a:pt x="76200" y="59142"/>
                    <a:pt x="76200" y="38100"/>
                  </a:cubicBezTo>
                  <a:cubicBezTo>
                    <a:pt x="76200" y="17058"/>
                    <a:pt x="59142" y="0"/>
                    <a:pt x="38100" y="0"/>
                  </a:cubicBezTo>
                  <a:close/>
                </a:path>
              </a:pathLst>
            </a:custGeom>
            <a:solidFill>
              <a:srgbClr val="4A4E63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7448550" y="6038850"/>
            <a:ext cx="6143625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Autenticación y control de acceso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7315200" y="6381750"/>
            <a:ext cx="57150" cy="57150"/>
            <a:chOff x="0" y="0"/>
            <a:chExt cx="76200" cy="76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cubicBezTo>
                    <a:pt x="17058" y="0"/>
                    <a:pt x="0" y="17058"/>
                    <a:pt x="0" y="38100"/>
                  </a:cubicBezTo>
                  <a:cubicBezTo>
                    <a:pt x="0" y="59142"/>
                    <a:pt x="17058" y="76200"/>
                    <a:pt x="38100" y="76200"/>
                  </a:cubicBezTo>
                  <a:cubicBezTo>
                    <a:pt x="59142" y="76200"/>
                    <a:pt x="76200" y="59142"/>
                    <a:pt x="76200" y="38100"/>
                  </a:cubicBezTo>
                  <a:cubicBezTo>
                    <a:pt x="76200" y="17058"/>
                    <a:pt x="59142" y="0"/>
                    <a:pt x="38100" y="0"/>
                  </a:cubicBezTo>
                  <a:close/>
                </a:path>
              </a:pathLst>
            </a:custGeom>
            <a:solidFill>
              <a:srgbClr val="4A4E63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7448550" y="6305550"/>
            <a:ext cx="6143625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Tablero con API ARASAAC y Rutinas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7315200" y="6648450"/>
            <a:ext cx="57150" cy="57150"/>
            <a:chOff x="0" y="0"/>
            <a:chExt cx="76200" cy="76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cubicBezTo>
                    <a:pt x="17058" y="0"/>
                    <a:pt x="0" y="17058"/>
                    <a:pt x="0" y="38100"/>
                  </a:cubicBezTo>
                  <a:cubicBezTo>
                    <a:pt x="0" y="59142"/>
                    <a:pt x="17058" y="76200"/>
                    <a:pt x="38100" y="76200"/>
                  </a:cubicBezTo>
                  <a:cubicBezTo>
                    <a:pt x="59142" y="76200"/>
                    <a:pt x="76200" y="59142"/>
                    <a:pt x="76200" y="38100"/>
                  </a:cubicBezTo>
                  <a:cubicBezTo>
                    <a:pt x="76200" y="17058"/>
                    <a:pt x="59142" y="0"/>
                    <a:pt x="38100" y="0"/>
                  </a:cubicBezTo>
                  <a:close/>
                </a:path>
              </a:pathLst>
            </a:custGeom>
            <a:solidFill>
              <a:srgbClr val="4A4E63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7448550" y="6572250"/>
            <a:ext cx="6143625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Bitácora, reportes y seguridad de datos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7315200" y="6915150"/>
            <a:ext cx="57150" cy="57150"/>
            <a:chOff x="0" y="0"/>
            <a:chExt cx="76200" cy="76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cubicBezTo>
                    <a:pt x="17058" y="0"/>
                    <a:pt x="0" y="17058"/>
                    <a:pt x="0" y="38100"/>
                  </a:cubicBezTo>
                  <a:cubicBezTo>
                    <a:pt x="0" y="59142"/>
                    <a:pt x="17058" y="76200"/>
                    <a:pt x="38100" y="76200"/>
                  </a:cubicBezTo>
                  <a:cubicBezTo>
                    <a:pt x="59142" y="76200"/>
                    <a:pt x="76200" y="59142"/>
                    <a:pt x="76200" y="38100"/>
                  </a:cubicBezTo>
                  <a:cubicBezTo>
                    <a:pt x="76200" y="17058"/>
                    <a:pt x="59142" y="0"/>
                    <a:pt x="38100" y="0"/>
                  </a:cubicBezTo>
                  <a:close/>
                </a:path>
              </a:pathLst>
            </a:custGeom>
            <a:solidFill>
              <a:srgbClr val="4A4E63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7448550" y="6838950"/>
            <a:ext cx="6143625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Pruebas continuas de integración</a:t>
            </a:r>
          </a:p>
        </p:txBody>
      </p:sp>
      <p:sp>
        <p:nvSpPr>
          <p:cNvPr name="AutoShape 69" id="69"/>
          <p:cNvSpPr/>
          <p:nvPr/>
        </p:nvSpPr>
        <p:spPr>
          <a:xfrm>
            <a:off x="1028700" y="7600950"/>
            <a:ext cx="16230600" cy="0"/>
          </a:xfrm>
          <a:prstGeom prst="line">
            <a:avLst/>
          </a:prstGeom>
          <a:ln cap="flat" w="9525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0" id="70"/>
          <p:cNvSpPr txBox="true"/>
          <p:nvPr/>
        </p:nvSpPr>
        <p:spPr>
          <a:xfrm rot="0">
            <a:off x="1019175" y="7981950"/>
            <a:ext cx="798436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>
                <a:solidFill>
                  <a:srgbClr val="9A9FB6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28700" y="8420100"/>
            <a:ext cx="31623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800">
                <a:solidFill>
                  <a:srgbClr val="4A4E63"/>
                </a:solidFill>
                <a:latin typeface="Inter Bold"/>
                <a:ea typeface="Inter Bold"/>
                <a:cs typeface="Inter Bold"/>
                <a:sym typeface="Inter Bold"/>
              </a:rPr>
              <a:t>Cierre y Despliegue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28700" y="8742680"/>
            <a:ext cx="3162300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9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Semanas 14 a 18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3668375" y="7696200"/>
            <a:ext cx="3571875" cy="304800"/>
            <a:chOff x="0" y="0"/>
            <a:chExt cx="4762500" cy="406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762500" cy="406400"/>
            </a:xfrm>
            <a:custGeom>
              <a:avLst/>
              <a:gdLst/>
              <a:ahLst/>
              <a:cxnLst/>
              <a:rect r="r" b="b" t="t" l="l"/>
              <a:pathLst>
                <a:path h="406400" w="4762500">
                  <a:moveTo>
                    <a:pt x="4559300" y="0"/>
                  </a:moveTo>
                  <a:cubicBezTo>
                    <a:pt x="4671524" y="0"/>
                    <a:pt x="4762500" y="90976"/>
                    <a:pt x="4762500" y="203200"/>
                  </a:cubicBezTo>
                  <a:cubicBezTo>
                    <a:pt x="4762500" y="315424"/>
                    <a:pt x="4671524" y="406400"/>
                    <a:pt x="45593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A9FB6">
                <a:alpha val="89804"/>
              </a:srgbClr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47625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3744575" y="8210550"/>
            <a:ext cx="57150" cy="57150"/>
            <a:chOff x="0" y="0"/>
            <a:chExt cx="76200" cy="762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cubicBezTo>
                    <a:pt x="17058" y="0"/>
                    <a:pt x="0" y="17058"/>
                    <a:pt x="0" y="38100"/>
                  </a:cubicBezTo>
                  <a:cubicBezTo>
                    <a:pt x="0" y="59142"/>
                    <a:pt x="17058" y="76200"/>
                    <a:pt x="38100" y="76200"/>
                  </a:cubicBezTo>
                  <a:cubicBezTo>
                    <a:pt x="59142" y="76200"/>
                    <a:pt x="76200" y="59142"/>
                    <a:pt x="76200" y="38100"/>
                  </a:cubicBezTo>
                  <a:cubicBezTo>
                    <a:pt x="76200" y="17058"/>
                    <a:pt x="59142" y="0"/>
                    <a:pt x="38100" y="0"/>
                  </a:cubicBezTo>
                  <a:close/>
                </a:path>
              </a:pathLst>
            </a:custGeom>
            <a:solidFill>
              <a:srgbClr val="9A9FB6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3877925" y="8134350"/>
            <a:ext cx="3286125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Despliegue de la versión demostrativa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3744575" y="8477250"/>
            <a:ext cx="57150" cy="57150"/>
            <a:chOff x="0" y="0"/>
            <a:chExt cx="76200" cy="76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cubicBezTo>
                    <a:pt x="17058" y="0"/>
                    <a:pt x="0" y="17058"/>
                    <a:pt x="0" y="38100"/>
                  </a:cubicBezTo>
                  <a:cubicBezTo>
                    <a:pt x="0" y="59142"/>
                    <a:pt x="17058" y="76200"/>
                    <a:pt x="38100" y="76200"/>
                  </a:cubicBezTo>
                  <a:cubicBezTo>
                    <a:pt x="59142" y="76200"/>
                    <a:pt x="76200" y="59142"/>
                    <a:pt x="76200" y="38100"/>
                  </a:cubicBezTo>
                  <a:cubicBezTo>
                    <a:pt x="76200" y="17058"/>
                    <a:pt x="59142" y="0"/>
                    <a:pt x="38100" y="0"/>
                  </a:cubicBezTo>
                  <a:close/>
                </a:path>
              </a:pathLst>
            </a:custGeom>
            <a:solidFill>
              <a:srgbClr val="9A9FB6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3877925" y="8401050"/>
            <a:ext cx="3286125" cy="45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Pruebas finales y auditoría de seguridad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3744575" y="8743950"/>
            <a:ext cx="57150" cy="57150"/>
            <a:chOff x="0" y="0"/>
            <a:chExt cx="76200" cy="762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cubicBezTo>
                    <a:pt x="17058" y="0"/>
                    <a:pt x="0" y="17058"/>
                    <a:pt x="0" y="38100"/>
                  </a:cubicBezTo>
                  <a:cubicBezTo>
                    <a:pt x="0" y="59142"/>
                    <a:pt x="17058" y="76200"/>
                    <a:pt x="38100" y="76200"/>
                  </a:cubicBezTo>
                  <a:cubicBezTo>
                    <a:pt x="59142" y="76200"/>
                    <a:pt x="76200" y="59142"/>
                    <a:pt x="76200" y="38100"/>
                  </a:cubicBezTo>
                  <a:cubicBezTo>
                    <a:pt x="76200" y="17058"/>
                    <a:pt x="59142" y="0"/>
                    <a:pt x="38100" y="0"/>
                  </a:cubicBezTo>
                  <a:close/>
                </a:path>
              </a:pathLst>
            </a:custGeom>
            <a:solidFill>
              <a:srgbClr val="9A9FB6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3877925" y="8897620"/>
            <a:ext cx="3286125" cy="45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Manual de usuario y documentación técnica</a:t>
            </a:r>
          </a:p>
        </p:txBody>
      </p:sp>
      <p:sp>
        <p:nvSpPr>
          <p:cNvPr name="AutoShape 88" id="88"/>
          <p:cNvSpPr/>
          <p:nvPr/>
        </p:nvSpPr>
        <p:spPr>
          <a:xfrm>
            <a:off x="7239000" y="3276600"/>
            <a:ext cx="0" cy="6324600"/>
          </a:xfrm>
          <a:prstGeom prst="line">
            <a:avLst/>
          </a:prstGeom>
          <a:ln cap="flat" w="9525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>
            <a:off x="13654088" y="3305175"/>
            <a:ext cx="0" cy="6324600"/>
          </a:xfrm>
          <a:prstGeom prst="line">
            <a:avLst/>
          </a:prstGeom>
          <a:ln cap="flat" w="9525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0" id="90"/>
          <p:cNvGrpSpPr/>
          <p:nvPr/>
        </p:nvGrpSpPr>
        <p:grpSpPr>
          <a:xfrm rot="0">
            <a:off x="4457700" y="5114925"/>
            <a:ext cx="57150" cy="57150"/>
            <a:chOff x="0" y="0"/>
            <a:chExt cx="76200" cy="762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cubicBezTo>
                    <a:pt x="17058" y="0"/>
                    <a:pt x="0" y="17058"/>
                    <a:pt x="0" y="38100"/>
                  </a:cubicBezTo>
                  <a:cubicBezTo>
                    <a:pt x="0" y="59142"/>
                    <a:pt x="17058" y="76200"/>
                    <a:pt x="38100" y="76200"/>
                  </a:cubicBezTo>
                  <a:cubicBezTo>
                    <a:pt x="59142" y="76200"/>
                    <a:pt x="76200" y="59142"/>
                    <a:pt x="76200" y="38100"/>
                  </a:cubicBezTo>
                  <a:cubicBezTo>
                    <a:pt x="76200" y="17058"/>
                    <a:pt x="59142" y="0"/>
                    <a:pt x="38100" y="0"/>
                  </a:cubicBez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3744575" y="8978880"/>
            <a:ext cx="57150" cy="57150"/>
            <a:chOff x="0" y="0"/>
            <a:chExt cx="76200" cy="762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cubicBezTo>
                    <a:pt x="17058" y="0"/>
                    <a:pt x="0" y="17058"/>
                    <a:pt x="0" y="38100"/>
                  </a:cubicBezTo>
                  <a:cubicBezTo>
                    <a:pt x="0" y="59142"/>
                    <a:pt x="17058" y="76200"/>
                    <a:pt x="38100" y="76200"/>
                  </a:cubicBezTo>
                  <a:cubicBezTo>
                    <a:pt x="59142" y="76200"/>
                    <a:pt x="76200" y="59142"/>
                    <a:pt x="76200" y="38100"/>
                  </a:cubicBezTo>
                  <a:cubicBezTo>
                    <a:pt x="76200" y="17058"/>
                    <a:pt x="59142" y="0"/>
                    <a:pt x="38100" y="0"/>
                  </a:cubicBezTo>
                  <a:close/>
                </a:path>
              </a:pathLst>
            </a:custGeom>
            <a:solidFill>
              <a:srgbClr val="9A9FB6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523116">
            <a:off x="-1399966" y="-4244426"/>
            <a:ext cx="4461199" cy="5638167"/>
          </a:xfrm>
          <a:custGeom>
            <a:avLst/>
            <a:gdLst/>
            <a:ahLst/>
            <a:cxnLst/>
            <a:rect r="r" b="b" t="t" l="l"/>
            <a:pathLst>
              <a:path h="5638167" w="4461199">
                <a:moveTo>
                  <a:pt x="0" y="0"/>
                </a:moveTo>
                <a:lnTo>
                  <a:pt x="4461200" y="0"/>
                </a:lnTo>
                <a:lnTo>
                  <a:pt x="4461200" y="5638167"/>
                </a:lnTo>
                <a:lnTo>
                  <a:pt x="0" y="5638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523116">
            <a:off x="16053253" y="8630145"/>
            <a:ext cx="3703118" cy="4680085"/>
          </a:xfrm>
          <a:custGeom>
            <a:avLst/>
            <a:gdLst/>
            <a:ahLst/>
            <a:cxnLst/>
            <a:rect r="r" b="b" t="t" l="l"/>
            <a:pathLst>
              <a:path h="4680085" w="3703118">
                <a:moveTo>
                  <a:pt x="0" y="0"/>
                </a:moveTo>
                <a:lnTo>
                  <a:pt x="3703118" y="0"/>
                </a:lnTo>
                <a:lnTo>
                  <a:pt x="3703118" y="4680085"/>
                </a:lnTo>
                <a:lnTo>
                  <a:pt x="0" y="4680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973954" y="1149858"/>
            <a:ext cx="10340091" cy="821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63"/>
              </a:lnSpc>
              <a:spcBef>
                <a:spcPct val="0"/>
              </a:spcBef>
            </a:pPr>
            <a:r>
              <a:rPr lang="en-US" b="true" sz="5799" spc="-202">
                <a:solidFill>
                  <a:srgbClr val="9A9FB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EVIDENCIAS DEL PROYECTO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8700" y="2990850"/>
            <a:ext cx="1143000" cy="0"/>
          </a:xfrm>
          <a:prstGeom prst="line">
            <a:avLst/>
          </a:prstGeom>
          <a:ln cap="flat" w="28575">
            <a:solidFill>
              <a:srgbClr val="CB96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3048000"/>
            <a:ext cx="6853646" cy="73074"/>
            <a:chOff x="0" y="0"/>
            <a:chExt cx="9138194" cy="974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38194" cy="97432"/>
            </a:xfrm>
            <a:custGeom>
              <a:avLst/>
              <a:gdLst/>
              <a:ahLst/>
              <a:cxnLst/>
              <a:rect r="r" b="b" t="t" l="l"/>
              <a:pathLst>
                <a:path h="97432" w="9138194">
                  <a:moveTo>
                    <a:pt x="0" y="0"/>
                  </a:moveTo>
                  <a:lnTo>
                    <a:pt x="9138194" y="0"/>
                  </a:lnTo>
                  <a:lnTo>
                    <a:pt x="9138194" y="97432"/>
                  </a:lnTo>
                  <a:lnTo>
                    <a:pt x="0" y="97432"/>
                  </a:ln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138194" cy="135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33500" y="3664585"/>
            <a:ext cx="1905000" cy="66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4999">
                <a:solidFill>
                  <a:srgbClr val="CB9667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3500" y="4568507"/>
            <a:ext cx="457200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399" b="true">
                <a:solidFill>
                  <a:srgbClr val="4A4E63"/>
                </a:solidFill>
                <a:latin typeface="Inter Bold"/>
                <a:ea typeface="Inter Bold"/>
                <a:cs typeface="Inter Bold"/>
                <a:sym typeface="Inter Bold"/>
              </a:rPr>
              <a:t>Evidencias de avance 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333500" y="5324475"/>
            <a:ext cx="4572000" cy="0"/>
          </a:xfrm>
          <a:prstGeom prst="line">
            <a:avLst/>
          </a:prstGeom>
          <a:ln cap="flat" w="9525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333500" y="5619750"/>
            <a:ext cx="76200" cy="76200"/>
            <a:chOff x="0" y="0"/>
            <a:chExt cx="101600" cy="101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1600" cy="149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24000" y="5284470"/>
            <a:ext cx="6358346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799" b="true">
                <a:solidFill>
                  <a:srgbClr val="6C7184"/>
                </a:solidFill>
                <a:latin typeface="Inter Bold"/>
                <a:ea typeface="Inter Bold"/>
                <a:cs typeface="Inter Bold"/>
                <a:sym typeface="Inter Bold"/>
              </a:rPr>
              <a:t>Doc</a:t>
            </a:r>
            <a:r>
              <a:rPr lang="en-US" b="true" sz="1799">
                <a:solidFill>
                  <a:srgbClr val="6C7184"/>
                </a:solidFill>
                <a:latin typeface="Inter Bold"/>
                <a:ea typeface="Inter Bold"/>
                <a:cs typeface="Inter Bold"/>
                <a:sym typeface="Inter Bold"/>
              </a:rPr>
              <a:t>umento de Especificación y Levantamiento de Requerimientos</a:t>
            </a:r>
          </a:p>
          <a:p>
            <a:pPr algn="l">
              <a:lnSpc>
                <a:spcPts val="2699"/>
              </a:lnSpc>
            </a:pPr>
            <a:r>
              <a:rPr lang="en-US" sz="179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Contexto PIE/TEA, criterios de aceptación y priorización de requerimientos.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33500" y="6843713"/>
            <a:ext cx="76200" cy="76200"/>
            <a:chOff x="0" y="0"/>
            <a:chExt cx="101600" cy="101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1600" cy="149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24000" y="6695123"/>
            <a:ext cx="6358346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799" b="true">
                <a:solidFill>
                  <a:srgbClr val="6C7184"/>
                </a:solidFill>
                <a:latin typeface="Inter Bold"/>
                <a:ea typeface="Inter Bold"/>
                <a:cs typeface="Inter Bold"/>
                <a:sym typeface="Inter Bold"/>
              </a:rPr>
              <a:t>Documento de </a:t>
            </a:r>
            <a:r>
              <a:rPr lang="en-US" b="true" sz="1799">
                <a:solidFill>
                  <a:srgbClr val="6C7184"/>
                </a:solidFill>
                <a:latin typeface="Inter Bold"/>
                <a:ea typeface="Inter Bold"/>
                <a:cs typeface="Inter Bold"/>
                <a:sym typeface="Inter Bold"/>
              </a:rPr>
              <a:t>Arquitectura y Modelo de Datos</a:t>
            </a:r>
          </a:p>
          <a:p>
            <a:pPr algn="l">
              <a:lnSpc>
                <a:spcPts val="2699"/>
              </a:lnSpc>
            </a:pPr>
            <a:r>
              <a:rPr lang="en-US" sz="179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Arquitectura por capas, diagramas de componentes y Modelo Entidad-Relación.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33500" y="8134474"/>
            <a:ext cx="76200" cy="76200"/>
            <a:chOff x="0" y="0"/>
            <a:chExt cx="101600" cy="10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1600" cy="149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524000" y="7988618"/>
            <a:ext cx="6358346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799" b="true">
                <a:solidFill>
                  <a:srgbClr val="6C7184"/>
                </a:solidFill>
                <a:latin typeface="Inter Bold"/>
                <a:ea typeface="Inter Bold"/>
                <a:cs typeface="Inter Bold"/>
                <a:sym typeface="Inter Bold"/>
              </a:rPr>
              <a:t>Mockups y </a:t>
            </a:r>
            <a:r>
              <a:rPr lang="en-US" b="true" sz="1799">
                <a:solidFill>
                  <a:srgbClr val="6C7184"/>
                </a:solidFill>
                <a:latin typeface="Inter Bold"/>
                <a:ea typeface="Inter Bold"/>
                <a:cs typeface="Inter Bold"/>
                <a:sym typeface="Inter Bold"/>
              </a:rPr>
              <a:t>Prototipo Navegable (UI/UX)</a:t>
            </a:r>
          </a:p>
          <a:p>
            <a:pPr algn="l">
              <a:lnSpc>
                <a:spcPts val="2699"/>
              </a:lnSpc>
            </a:pPr>
            <a:r>
              <a:rPr lang="en-US" sz="179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Wireframes y prototipo del tablero de pictogramas, bitácora y perfiles.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326033" y="3048000"/>
            <a:ext cx="6933267" cy="73074"/>
            <a:chOff x="0" y="0"/>
            <a:chExt cx="9244356" cy="974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44356" cy="97432"/>
            </a:xfrm>
            <a:custGeom>
              <a:avLst/>
              <a:gdLst/>
              <a:ahLst/>
              <a:cxnLst/>
              <a:rect r="r" b="b" t="t" l="l"/>
              <a:pathLst>
                <a:path h="97432" w="9244356">
                  <a:moveTo>
                    <a:pt x="0" y="0"/>
                  </a:moveTo>
                  <a:lnTo>
                    <a:pt x="9244356" y="0"/>
                  </a:lnTo>
                  <a:lnTo>
                    <a:pt x="9244356" y="97432"/>
                  </a:lnTo>
                  <a:lnTo>
                    <a:pt x="0" y="97432"/>
                  </a:ln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244356" cy="135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326033" y="3664585"/>
            <a:ext cx="1905000" cy="66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4999">
                <a:solidFill>
                  <a:srgbClr val="CB9667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26033" y="4568507"/>
            <a:ext cx="457200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399" b="true">
                <a:solidFill>
                  <a:srgbClr val="4A4E63"/>
                </a:solidFill>
                <a:latin typeface="Inter Bold"/>
                <a:ea typeface="Inter Bold"/>
                <a:cs typeface="Inter Bold"/>
                <a:sym typeface="Inter Bold"/>
              </a:rPr>
              <a:t>Evidencias finales</a:t>
            </a:r>
          </a:p>
        </p:txBody>
      </p:sp>
      <p:sp>
        <p:nvSpPr>
          <p:cNvPr name="AutoShape 29" id="29"/>
          <p:cNvSpPr/>
          <p:nvPr/>
        </p:nvSpPr>
        <p:spPr>
          <a:xfrm>
            <a:off x="10326033" y="5324475"/>
            <a:ext cx="4572000" cy="0"/>
          </a:xfrm>
          <a:prstGeom prst="line">
            <a:avLst/>
          </a:prstGeom>
          <a:ln cap="flat" w="9525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0326033" y="5619750"/>
            <a:ext cx="76200" cy="76200"/>
            <a:chOff x="0" y="0"/>
            <a:chExt cx="101600" cy="101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01600" cy="149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516533" y="5451157"/>
            <a:ext cx="6742767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b="true" sz="1799">
                <a:solidFill>
                  <a:srgbClr val="6C7184"/>
                </a:solidFill>
                <a:latin typeface="Inter Bold"/>
                <a:ea typeface="Inter Bold"/>
                <a:cs typeface="Inter Bold"/>
                <a:sym typeface="Inter Bold"/>
              </a:rPr>
              <a:t>Plataforma Web Desplegada y Funcional</a:t>
            </a:r>
          </a:p>
          <a:p>
            <a:pPr algn="l">
              <a:lnSpc>
                <a:spcPts val="2699"/>
              </a:lnSpc>
            </a:pPr>
            <a:r>
              <a:rPr lang="en-US" sz="179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Enlace público con tablero de pictogramas, autenticación, rutinas y bitácora integrados.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326033" y="6721793"/>
            <a:ext cx="76200" cy="76200"/>
            <a:chOff x="0" y="0"/>
            <a:chExt cx="101600" cy="10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1600" cy="149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554633" y="6658928"/>
            <a:ext cx="6742767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79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799" b="true">
                <a:solidFill>
                  <a:srgbClr val="6C7184"/>
                </a:solidFill>
                <a:latin typeface="Inter Bold"/>
                <a:ea typeface="Inter Bold"/>
                <a:cs typeface="Inter Bold"/>
                <a:sym typeface="Inter Bold"/>
              </a:rPr>
              <a:t>nf</a:t>
            </a:r>
            <a:r>
              <a:rPr lang="en-US" b="true" sz="1799">
                <a:solidFill>
                  <a:srgbClr val="6C7184"/>
                </a:solidFill>
                <a:latin typeface="Inter Bold"/>
                <a:ea typeface="Inter Bold"/>
                <a:cs typeface="Inter Bold"/>
                <a:sym typeface="Inter Bold"/>
              </a:rPr>
              <a:t>orme de Pruebas de Calidad (QA) y Seguridad</a:t>
            </a:r>
          </a:p>
          <a:p>
            <a:pPr algn="l">
              <a:lnSpc>
                <a:spcPts val="2699"/>
              </a:lnSpc>
            </a:pPr>
            <a:r>
              <a:rPr lang="en-US" sz="179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Resultados de pruebas unitarias, integración, usabilidad y revisión de vulnerabilidades.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364133" y="8200073"/>
            <a:ext cx="76200" cy="76200"/>
            <a:chOff x="0" y="0"/>
            <a:chExt cx="101600" cy="10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CB9667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1600" cy="149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0554633" y="7988618"/>
            <a:ext cx="6704667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799" b="true">
                <a:solidFill>
                  <a:srgbClr val="6C7184"/>
                </a:solidFill>
                <a:latin typeface="Inter Bold"/>
                <a:ea typeface="Inter Bold"/>
                <a:cs typeface="Inter Bold"/>
                <a:sym typeface="Inter Bold"/>
              </a:rPr>
              <a:t>Manu</a:t>
            </a:r>
            <a:r>
              <a:rPr lang="en-US" b="true" sz="1799">
                <a:solidFill>
                  <a:srgbClr val="6C7184"/>
                </a:solidFill>
                <a:latin typeface="Inter Bold"/>
                <a:ea typeface="Inter Bold"/>
                <a:cs typeface="Inter Bold"/>
                <a:sym typeface="Inter Bold"/>
              </a:rPr>
              <a:t>al de Usuario y Documentación Técnica</a:t>
            </a:r>
          </a:p>
          <a:p>
            <a:pPr algn="l">
              <a:lnSpc>
                <a:spcPts val="2699"/>
              </a:lnSpc>
            </a:pPr>
            <a:r>
              <a:rPr lang="en-US" sz="1799">
                <a:solidFill>
                  <a:srgbClr val="6C7184"/>
                </a:solidFill>
                <a:latin typeface="Inter"/>
                <a:ea typeface="Inter"/>
                <a:cs typeface="Inter"/>
                <a:sym typeface="Inter"/>
              </a:rPr>
              <a:t>Guía para profesionales PIE/docentes y documentación de arquitectura y despliegue.</a:t>
            </a:r>
          </a:p>
          <a:p>
            <a:pPr algn="l">
              <a:lnSpc>
                <a:spcPts val="269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65682" y="-2803395"/>
            <a:ext cx="5097501" cy="4114800"/>
          </a:xfrm>
          <a:custGeom>
            <a:avLst/>
            <a:gdLst/>
            <a:ahLst/>
            <a:cxnLst/>
            <a:rect r="r" b="b" t="t" l="l"/>
            <a:pathLst>
              <a:path h="4114800" w="5097501">
                <a:moveTo>
                  <a:pt x="0" y="0"/>
                </a:moveTo>
                <a:lnTo>
                  <a:pt x="5097501" y="0"/>
                </a:lnTo>
                <a:lnTo>
                  <a:pt x="50975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523116">
            <a:off x="4948919" y="-4244426"/>
            <a:ext cx="4461199" cy="5638167"/>
          </a:xfrm>
          <a:custGeom>
            <a:avLst/>
            <a:gdLst/>
            <a:ahLst/>
            <a:cxnLst/>
            <a:rect r="r" b="b" t="t" l="l"/>
            <a:pathLst>
              <a:path h="5638167" w="4461199">
                <a:moveTo>
                  <a:pt x="0" y="0"/>
                </a:moveTo>
                <a:lnTo>
                  <a:pt x="4461199" y="0"/>
                </a:lnTo>
                <a:lnTo>
                  <a:pt x="4461199" y="5638167"/>
                </a:lnTo>
                <a:lnTo>
                  <a:pt x="0" y="56381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903982">
            <a:off x="-339073" y="8632992"/>
            <a:ext cx="4264041" cy="4114800"/>
          </a:xfrm>
          <a:custGeom>
            <a:avLst/>
            <a:gdLst/>
            <a:ahLst/>
            <a:cxnLst/>
            <a:rect r="r" b="b" t="t" l="l"/>
            <a:pathLst>
              <a:path h="4114800" w="4264041">
                <a:moveTo>
                  <a:pt x="0" y="0"/>
                </a:moveTo>
                <a:lnTo>
                  <a:pt x="4264041" y="0"/>
                </a:lnTo>
                <a:lnTo>
                  <a:pt x="4264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724364">
            <a:off x="7171232" y="8371212"/>
            <a:ext cx="3945537" cy="5596506"/>
          </a:xfrm>
          <a:custGeom>
            <a:avLst/>
            <a:gdLst/>
            <a:ahLst/>
            <a:cxnLst/>
            <a:rect r="r" b="b" t="t" l="l"/>
            <a:pathLst>
              <a:path h="5596506" w="3945537">
                <a:moveTo>
                  <a:pt x="0" y="0"/>
                </a:moveTo>
                <a:lnTo>
                  <a:pt x="3945536" y="0"/>
                </a:lnTo>
                <a:lnTo>
                  <a:pt x="3945536" y="5596506"/>
                </a:lnTo>
                <a:lnTo>
                  <a:pt x="0" y="55965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523116">
            <a:off x="16053253" y="8630145"/>
            <a:ext cx="3703118" cy="4680085"/>
          </a:xfrm>
          <a:custGeom>
            <a:avLst/>
            <a:gdLst/>
            <a:ahLst/>
            <a:cxnLst/>
            <a:rect r="r" b="b" t="t" l="l"/>
            <a:pathLst>
              <a:path h="4680085" w="3703118">
                <a:moveTo>
                  <a:pt x="0" y="0"/>
                </a:moveTo>
                <a:lnTo>
                  <a:pt x="3703118" y="0"/>
                </a:lnTo>
                <a:lnTo>
                  <a:pt x="3703118" y="4680085"/>
                </a:lnTo>
                <a:lnTo>
                  <a:pt x="0" y="46800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076662" y="1639395"/>
            <a:ext cx="8984884" cy="7008209"/>
          </a:xfrm>
          <a:custGeom>
            <a:avLst/>
            <a:gdLst/>
            <a:ahLst/>
            <a:cxnLst/>
            <a:rect r="r" b="b" t="t" l="l"/>
            <a:pathLst>
              <a:path h="7008209" w="8984884">
                <a:moveTo>
                  <a:pt x="0" y="0"/>
                </a:moveTo>
                <a:lnTo>
                  <a:pt x="8984884" y="0"/>
                </a:lnTo>
                <a:lnTo>
                  <a:pt x="8984884" y="7008210"/>
                </a:lnTo>
                <a:lnTo>
                  <a:pt x="0" y="70082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3457879"/>
            <a:ext cx="8115300" cy="350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69"/>
              </a:lnSpc>
            </a:pPr>
            <a:r>
              <a:rPr lang="en-US" b="true" sz="12471" spc="-436">
                <a:solidFill>
                  <a:srgbClr val="9A9FB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DAHTysZweIY</dc:identifier>
  <dcterms:modified xsi:type="dcterms:W3CDTF">2011-08-01T06:04:30Z</dcterms:modified>
  <cp:revision>1</cp:revision>
  <dc:title>TEA-yudo Presentación</dc:title>
</cp:coreProperties>
</file>