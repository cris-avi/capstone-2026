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449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de TEA-yudo: Cristóbal Ávila, Carlos Peña y Rolando Fierro. Presentamos el Informe Final de la Fase 2 del Proyecto APT de la asignatura Capstone, Ingeniería en Informática, Duoc UC Sede San Joaquín. TEA-yudo es una plataforma web accesible que reúne dos piezas que hoy están separadas en los colegios: un tablero de comunicación aumentativa y alternativa (SAAC) con pictogramas ARASAAC y lectura en voz alta, y una bitácora digital centralizada para los equipos del Programa de Integración Escolar (PIE). Está pensada para funcionar aunque falle internet, gracias a un enfoque offline-first. Roles en esta fase (según el plan de trabajo): Cristóbal lidera el diseño UI/UX y el frontend; Carlos, la arquitectura, el modelo de datos y el backend; Rolando, la investigación y validación con profesionales PIE y el aseguramiento de calidad. La seguridad se trabaja en conjunto entre Carlos y Rolando. En los próximos minutos mostraremos el problema, la validación de campo con una especialista PIE, el diseño técnico, el estado real del plan de trabajo y los próximos pasos. [Nota: los íconos de la portada son genéricos tipo pictograma; evitamos deliberadamente el símbolo del rompecabezas.]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proyecto. Puede leerse completo o sintetizarse así: TEA-yudo es una plataforma web accesible para estudiantes con Trastorno del Espectro Autista y para los equipos del Programa de Integración Escolar (PIE) de escuelas públicas chilenas. Reúne un tablero SAAC con pictogramas ARASAAC y lectura en voz alta, rutinas diarias visuales, un módulo de autorregulación emocional y una bitácora digital centralizada para los profesionales. La decisión técnica clave es la arquitectura offline-first: un Service Worker e IndexedDB mantienen la herramienta operativa cuando falla el Wi-Fi del colegio, un problema que nuestra validación en terreno confirmó. Avance de la Fase 2: pasamos de Kanban a Scrum en Jira; completamos el modelo de datos, los diagramas UML y los mockups UI/UX; integramos la API de ARASAAC; y validamos los requerimientos con una especialista PIE. Los sprints restantes se enfocan en seguridad, aseguramiento de calidad, despliegue con Docker y documentación técnica. Transición: "En resumen, es una herramienta de comunicación y de seguimiento en un solo lugar, que funciona aunque no haya internet. Ahora veamos por qué es necesaria." [Nota: el instructivo pide el abstract en inglés. Si la comisión lo exige en la diapositiva, conviene tener la versión en inglés en el informe escrito.]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tiene tres caras. Primero, hay una brecha de herramientas digitales de apoyo e inclusión para estudiantes con Trastorno del Espectro Autista en la educación pública. Las soluciones de comunicación aumentativa existen, pero suelen ser aisladas, pagadas o no pensadas para el contexto escolar chileno. Segundo, los equipos del Programa de Integración Escolar dependen de material físico disperso —pictogramas impresos, velcro, cuadernos— y de registros manuales que no siguen un formato común. Cada profesional anota a su manera, en su carpeta, y esa información no se comparte fácilmente con el resto del equipo ni con la familia. Tercero, la carga normativa: los informes asociados al Decreto 170 y el Plan de Adecuación Curricular Individual (PACI) exigen consolidar información del estudiante que hoy está repartida en papel. Consolidarla toma tiempo profesional que podría destinarse al trabajo pedagógico. Por eso el proyecto es relevante: ataca a la vez la comunicación funcional del estudiante y la gestión de la información del equipo PIE. En la siguiente diapositiva mostramos cómo validamos este diagnóstico en terreno.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no diseñar a ciegas, aplicamos una encuesta en Google Forms. La respondió una Educadora Diferencial con mención en Desarrollo Cognitivo, que trabaja en un establecimiento de un Servicio Local de Educación Pública. La evidencia completa está en el anexo del informe. Contexto de la especialista: atiende a 6 estudiantes con necesidades educativas especiales permanentes y 10 con NEE transitorias. Calificó la relevancia de la propuesta con 5 de 5, "completamente indispensable". Además, ya usa pictogramas ARASAAC, lo que valida nuestra elección de API. Cada hallazgo se tradujo en una decisión concreta: 1. Su establecimiento trabaja solo con material físico y tiene Wi-Fi inestable → adoptamos una arquitectura offline-first con caché local (Service Worker + IndexedDB). 2. Hoy registra en bitácora de papel y carpetas individuales; lo que más tiempo le toma es recolectar las firmas de los apoderados en papel → bitácora digital. Como requisito obligatorio de la primera versión pidió registrar el día y la hora exactos de cada desregulación, así que cada entrada lleva timestamp. 3. Considera el modo de apoyo en crisis "muy útil y prioritario" → Termómetro emocional y botón SOS. 4. La métrica que más valora es la comparativa de avance de vocabulario mes a mes → módulo de métricas. 5. Sugirió subir fotos reales del entorno, rúbricas rápidas (independiente / requirió mediación) e ingreso de indicadores de logro del PACI → quedaron incorporadas al backlog. Mensaje clave: las decisiones de diseño no son supuestos del equipo; están respaldadas por evidencia de campo.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nuestra Product Vision, documentada en el informe. El problema: los estudiantes TEA necesitan apoyos para una comunicación funcional, y los equipos PIE registran el seguimiento en papel, de forma dispersa. Tenemos tres tipos de usuario: - Niños y niñas con TEA: usan el tablero de pictogramas para armar frases que el sistema lee en voz alta. - Profesionales PIE y docentes: usan la bitácora, configuran rutinas y tableros y hacen el seguimiento. - Apoderados: consultan el progreso y la rutina del estudiante. Propuesta de valor: una plataforma web accesible que une la comunicación aumentativa con el registro profesional. El diferenciador es que la comunicación y el historial de seguimiento quedan centralizados en un solo lugar y la herramienta sigue funcionando sin conexión. Hoy existen tableros SAAC por un lado y planillas o cuadernos por otro; TEA-yudo los conecta, de modo que cada interacción del estudiante puede quedar registrada y disponible para el equipo.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objetivos se mantienen respecto de la Fase 1; en el informe de avance declaramos que no requirieron ajustes. Objetivo general: desarrollar una plataforma web accesible e integral para la gestión del PIE y el apoyo a niños TEA en la educación pública, combinando comunicación aumentativa con pictogramas ARASAAC y un sistema de seguimiento y bitácora profesional. Objetivos específicos: 1. Diseñar el modelo arquitectónico y de datos, escalable y seguro. Es el que más avanzó en esta fase: arquitectura en capas, componentes, MER y modelo relacional. 2. Desarrollar una interfaz accesible centrada en la inclusión: criterios WCAG AA, baja carga visual y uso táctil. 3. Integrar la API ARASAAC para frases, rutinas y regulación emocional. 4. Programar la bitácora y las consultas para el historial y los reportes PIE. 5. Implementar medidas de seguridad para los datos sensibles de menores: cifrado, control por rol y cumplimiento normativo. 6. Ejecutar pruebas de calidad: unitarias, de integración, de usabilidad, de seguridad y de rendimiento. Más adelante mostraremos el estado de cada línea de trabajo asociada a estos objetivos.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principal ajuste metodológico de esta fase fue pasar de un tablero Kanban continuo a Scrum gestionado en Jira. ¿Por qué? Con Kanban veíamos el flujo de tareas, pero nos costaba medir el avance de cada integrante y comprometernos con entregables por periodo. Con Scrum organizamos el trabajo en 8 sprints de 2 semanas, entre el 12 de agosto y el 25 de noviembre, con ceremonias de planificación, una Definition of Done común y un Sprint Backlog por integrante. Recorrido de los sprints: - S1: planificación, requerimientos y MER. - S2: arquitectura, prototipo, plan de pruebas y login. - S3: roles, perfiles, integración ARASAAC y tablero. - S4: frases, personalización, emociones, rutinas e inicio de la bitácora. - S5: historial, reportes, cifrado y validación de entradas. - S6: OWASP, usabilidad y Docker/producción. - S7: rendimiento, informe QA, demo y manuales. - S8: informe final y defensa. Sprint actual: [COMPLETAR — según el calendario de Jira, el Sprint 4 va del 23 de septiembre al 7 de octubre; confirmar antes de presentar]. Definition of Done: una tarea está terminada solo si su código fue revisado por otro integrante; cumple WCAG AA en contraste y tamaño táctil; fue probada en tablets de gama baja; funciona offline si depende de ARASAAC; los datos sensibles están cifrados y controlados por rol; no hay errores críticos en consola; y la tarjeta está en "Listo" en Jira con evidencia adjunta.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se organiza en cuatro capas desacopladas. A la derecha está el diagrama original (Diagramaarquitecturacapas.png); a la izquierda lo redibujamos para que se lea en pantalla. 1. Presentación (frontend accesible): los cuatro módulos que ve el usuario. Zona Calma / SOS, Comunicador SAAC, Agenda de Rutinas y Dashboard de la Bitácora PIE. Están hechos con HTML5, Tailwind y JavaScript nativo. 2. Lógica de negocio: el gestor de roles y seguridad (PIN para el modo estudiante y JWT para las sesiones profesionales), el motor de texto a voz con Web Speech API, el motor de métricas y registro automático, y el controlador de tareas y estados de las rutinas. 3. Servicios e integración: el gestor de sincronización en segundo plano, el cliente de la API ARASAAC para el catálogo de pictogramas y el Service Worker, que mantiene la caché offline-first. 4. Persistencia: IndexedDB en el dispositivo, para que nada se pierda sin conexión, y una base de datos relacional central. El diagrama contempla PostgreSQL o MySQL; [COMPLETAR: motor definitivo elegido]. La idea central es que una falla del servidor o de la red no bloquee el uso pedagógico del comunicador en la sala: el estudiante sigue comunicándose y los datos se sincronizan después.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componentes baja la arquitectura a piezas concretas, agrupadas en cuatro bloques dentro del sistema web TEA-yudo. - Componentes del Estudiante: Tablero de Pictogramas, Agenda Visual y Termómetro SOS. Los usa el actor Estudiante TEA. - Lógica central: Sintetizador TTS, Logger de Eventos y Autenticación/PIN. El tablero envía la frase al sintetizador y todas las interacciones del estudiante pasan por el Logger, que es la fuente de la bitácora. - Gestión PIE: Dashboard/Métricas, Exportador de Reportes y Formulario de Bitácora. El Profesional PIE entra por Autenticación/PIN y desde ahí accede al dashboard y al formulario. - Persistencia: Gestor de Caché Local, conectado a la API ARASAAC, y Repositorio de Datos/ORM, conectado a la base de datos relacional. Comunicación: el frontend y el backend hablan por una API REST versionada (/api/v1). Las rutas profesionales se protegen con autenticación JWT, y el modo estudiante usa PIN. La única dependencia externa es la API de ARASAAC; la línea punteada indica que sus pictogramas se guardan en caché local para poder usarlos sin conexión.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datos se trabajó en dos pasos. Primero, el Modelo Entidad-Relación en notación de Chen (a la izquierda, en su marco oscuro original): 10 entidades y 14 relaciones. Las entidades centrales son ESTUDIANTE, USUARIO y BITACORA_ENTRADA. El estudiante construye FRASES compuestas por PICTOGRAMAS (relación N:M con atributo de orden), tiene RUTINAS formadas por PASOS que se ilustran con pictogramas, y genera entradas de bitácora. El usuario (profesional, docente o apoderado) tiene un ROL, atiende estudiantes, es apoderado de ellos y es autor de las entradas de bitácora. El estudiante se matricula en un ESTABLECIMIENTO. Segundo, la transformación al modelo relacional (a la derecha): 12 tablas con claves primarias y foráneas, restricciones CHECK e índices. Las tablas son: Estudiante, Establecimiento, Usuario, Rol, Estudiante_Profesional, Bitacora_Entrada, Frase, Frase_Pictograma, Pictograma, Categoria_Pictograma, Rutina y Paso_Rutina. Las dos tablas adicionales respecto de las entidades, Estudiante_Profesional y Frase_Pictograma, resuelven relaciones muchos a muchos: qué profesionales atienden a qué estudiante, con su rol asignado y fecha, y qué pictogramas componen cada frase y en qué orden. El campo fecha_hora de la bitácora responde directamente al requisito de la especialista: el día y la hora exactos de cada desregulación.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casos de uso, en UML 2.5, organiza el sistema en 3 módulos y 10 casos de uso, uno por cada tipo de actor. Módulo Estudiante (actor: Estudiante TEA): - CU-01 Seleccionar pictogramas y armar frase. Incluye siempre CU-02, Reproducir voz asistida (TTS): cada frase armada se lee en voz alta. - CU-03 Visualizar y marcar la rutina diaria. - CU-04 Registrar estado emocional y alerta SOS. Módulo Profesional PIE (actor: Profesional PIE / Docente): - CU-05 Consultar la bitácora y el historial de eventos. Está incluido por CU-08, Exportar reportes PIE en CSV o PDF: para exportar primero se consulta el historial. - CU-06 Registrar observación pedagógica. - CU-07 Configurar tableros y rutinas del alumno. Módulo Administración (actor: Administrador): - CU-09 Gestionar usuarios, roles y accesos. - CU-10 Gestionar el catálogo de pictogramas. Las dos relaciones «include» reflejan dependencias obligatorias. En la siguiente diapositiva detallamos la secuencia de CU-01, la funcionalidad principal.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de secuencia muestra CU-01, armar una frase, con su inclusión de CU-02, la voz asistida. Es la funcionalidad más crítica del sistema. Flujo síncrono, lo que el niño percibe de inmediato: 1. El estudiante selecciona pictogramas, por ejemplo "QUIERO" + "BAÑO". 2–3. La interfaz SAAC pide el recurso visual a la caché local o Service Worker, que lo devuelve sin ir a internet. 4–6. Se solicita la síntesis de voz a la Web Speech API ("Quiero baño"), se emite el audio y se actualiza la pantalla. 7–8. La interfaz notifica el evento al módulo Bitácora (Logger), que arma el payload: ID, pictograma y timestamp. Luego viene un fragmento par, porque dos cosas ocurren en paralelo: - Persistencia local inmediata: el evento se guarda en IndexedDB con estado "pendiente". Nunca se pierde. - Registro centralizado asíncrono, con un fragmento alt: · Si hay conexión: POST /api/v1/bitacora/interaccion; el backend hace INSERT en la base relacional, responde 201 Created y el evento local se marca como sincronizado. · Si no hay conexión o falla la red: el evento queda en la cola pendiente y se reintenta automáticamente al recuperar la conexión. La comunicación del niño nunca espera a la red, y la bitácora conserva la integridad de los datos.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mockups de los cuatro módulos, prototipados en Figma y Balsamiq bajo criterios WCAG. 1. Comunicador SAAC: el estudiante toca pictogramas (quiero, no quiero, baño, comer, ayuda, feliz, triste, recreo, agua, jugar, listo, más) que se van sumando a la franja de mensaje. Botones grandes para Hablar, Atrás y Borrar, y filtros por categoría: esenciales, acciones, necesidades, emociones. 2. Agenda Diaria: la rutina escolar con hora y descripción (llegada, clase, colación, recreo, salida), botón de audio en cada paso, opción de marcarlo como terminado y una barra de progreso. Su objetivo es anticipar el día para reducir la ansiedad. 3. Manejo de Crisis: un termómetro emocional de tres niveles (verde: en calma; amarillo: inquieto; rojo: abrumado / SOS) y una respiración guiada con un círculo que se expande y se contrae. Cada selección queda registrada en la bitácora; es el módulo que la especialista calificó como prioritario. 4. Bitácora PIE: indicadores del día, registro rápido de observaciones pedagógicas con etiquetas, y un historial de interacciones, rutinas y emociones con fecha y hora. Criterios comunes: alto contraste, objetivos táctiles grandes, poco texto y una navegación consistente en todas las vistas.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estado real del plan de trabajo, con un semáforo por línea. Completado: - Modelamiento de arquitectura y datos: diagramas UML 2.5 (casos de uso y secuencia con fragmentos par/alt), DER y modelo relacional, integrando el flujo de sincronización offline. - Investigación y validación con PIE: la encuesta a la especialista; sus requerimientos (SOS, bitácora simplificada y modo sin conexión) se incorporaron al diseño. - Diseño UI/UX: mockups modulares del Comunicador, Agenda Diaria, Manejo de Crisis y Bitácora PIE. Por confirmar: - Integración API ARASAAC: [COMPLETAR estado real]. Nota: el informe de avance 2.4 la registra como "Completado", con el catálogo descargado y persistencia local. Confirmar antes de presentar. En curso: - Desarrollo frontend (HTML5, Tailwind, JavaScript y Web Speech API): las vistas principales están montadas; falta afinar la responsividad en tablets de gama baja. - Backend y persistencia de la bitácora: arquitectura desacoplada, para que una falla del servidor central no bloquee el comunicador en la sala. No iniciado, según lo planificado: - Seguridad: cifrado, control por roles/PIN y cumplimiento de la Ley 21.719, que modifica la Ley 19.628 sobre protección de datos personales. Programada para los sprints 5 y 6, porque necesita la persistencia de la bitácora terminada. - QA: pruebas unitarias, de integración, de usabilidad, de seguridad OWASP y de rendimiento. Programada para los sprints 4 a 7. Mientras tanto preparamos las matrices de prueba. Ambas estaban planificadas desde la Carta Gantt de la Fase 1 para la segunda mitad del proyecto, así que no se trata de un atraso. [COMPLETAR: reemplazar la miniatura por una captura actualizada del tablero Jira o del burndown.]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mirada retrospectiva al desarrollo de esta fase. Facilitadores: - La comunicación y la sinergia del equipo: aportes de ideas constantes y buena disposición. - La API abierta de ARASAAC, que nos dio un catálogo de pictogramas validado sin tener que producirlo, y que además ya conocen los profesionales PIE. - Roles técnicos claros: UI/UX y frontend, arquitectura y backend, investigación y QA. - Un alcance acotado a un MVP, que nos permitió priorizar. Dificultad principal: la incompatibilidad de horarios. Los tres integrantes trabajamos, y eso obligó en ocasiones a aplazar sesiones de trabajo sincrónicas. Cómo la abordamos: - Pasamos a un avance asíncrono, con metas individuales visibles en el tablero de Jira. - Hicimos reuniones de integración fuera del horario laboral. - Hicimos la transición formal a Scrum, que permite medir el avance de cada integrante por sprint y detectar a tiempo las desviaciones. Resultado: mantuvimos la ruta crítica de entrega sin alterar los plazos comprometidos.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los sprints restantes, el trabajo se agrupa en cuatro frentes, alineados con el calendario de Scrum. Seguridad (sprints 5 y 6): cifrado de los datos sensibles de menores; validación de entradas contra inyección SQL y XSS; y una revisión sistemática según el OWASP Top 10. Despliegue (sprint 6): contenedorización con Docker, mediante un Dockerfile y un docker-compose que levante frontend, backend y base de datos, y despliegue en producción con HTTPS. Calidad (sprints 6 y 7): pruebas de usabilidad con usuarios reales, es decir, profesionales PIE y en lo posible estudiantes con mediación, y pruebas de rendimiento, en especial en tablets de gama baja. Documentación (sprint 7): manual de usuario por perfil (profesional, docente y apoderado) y documentación técnica de arquitectura, dependencias y despliegue. El plan de pruebas completo cubre pruebas unitarias, de integración, de usabilidad, de seguridad según OWASP y de rendimiento, con criterios de aceptación definidos en Jira. También probaremos la tolerancia a fallos de conexión, por el enfoque offline-first. Repositorio público en GitHub: [COMPLETAR enlace].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Respondemos tres preguntas sobre la innovación del proyecto. ¿Qué problema resuelve? Dos problemas que suelen abordarse por separado: la comunicación funcional del estudiante con TEA y el registro disperso en papel de los equipos PIE. ¿Qué la hace diferente? Integra en una sola herramienta el tablero SAAC con voz, las rutinas visuales, la regulación emocional y la bitácora profesional. Además funciona sin conexión, pensando en escuelas con conectividad inestable, como la que describió la especialista. Cada interacción del niño puede alimentar la bitácora de forma automática, sin trabajo extra para el profesional. ¿Qué valor agrega? - Menos carga administrativa: menos papel y menos tiempo consolidando información para los informes. - Un historial con fecha y hora disponible para todo el equipo y para la familia, en vez de carpetas individuales. - Métricas de vocabulario, como la comparativa mes a mes que pidió la especialista, para tomar decisiones pedagógicas con datos.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nos permite evidenciar competencias del perfil de egreso de Ingeniería en Informática: - Desarrollo de software sistematizado: trabajo con Scrum en Jira, una Definition of Done explícita y un frontend construido por componentes. - Modelado de datos escalable: un MER de 10 entidades y 14 relaciones, normalizado a 12 tablas con integridad referencial. - Consultas y rutinas sobre la base de datos: el historial, las métricas y los reportes PIE exportables de la bitácora. - Arquitectura: el diseño en cuatro capas, el diagrama de componentes y el enfoque offline-first con sincronización. - Gestión de proyectos: planificación en 8 sprints, backlog por integrante y monitoreo del plan. - Seguridad y QA: cifrado, control por roles y PIN, revisión OWASP y plan de pruebas. Estas dos están planificadas para los próximos sprints, así que la evidencia completa llegará en la entrega final. Proyecciones profesionales: como equipo nos interesa seguir en desarrollo full-stack, arquitectura web, integración de APIs y accesibilidad. Este proyecto nos mostró que la accesibilidad es una competencia técnica concreta: contraste, tamaños táctiles y tolerancia a fallos de red.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"Muchas gracias por su atención. TEA-yudo busca que la comunicación de cada estudiante y el trabajo de su equipo PIE queden en un mismo lugar, funcionando incluso sin conexión. Quedamos atentos a sus preguntas." Preguntas probables y respuestas cortas: - ¿Por qué offline-first? La especialista reportó Wi-Fi inestable; el comunicador no puede depender de la red en la sala. - ¿Cómo protegen los datos de menores? Con cifrado de datos sensibles, control por rol y PIN, y JWT para profesionales, conforme a la Ley 21.719, que modifica la Ley 19.628. Se implementa en los sprints 5 y 6. - ¿Por qué ARASAAC? Es abierta, la conocen los profesionales PIE y la especialista ya la usa. Su licencia es CC BY-NC-SA. - ¿Qué motor de base de datos usarán? [COMPLETAR motor definitivo]. - ¿Cómo validarán la usabilidad? Con pruebas con usuarios reales en el sprint 6, en tablets de gama baja.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D2B38"/>
                </a:solidFill>
                <a:latin typeface="Lexend" pitchFamily="34" charset="0"/>
                <a:ea typeface="Lexend" pitchFamily="34" charset="-122"/>
                <a:cs typeface="Lexend"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50020"/>
            <a:ext cx="10566400" cy="4295180"/>
          </a:xfrm>
          <a:prstGeom prst="rect">
            <a:avLst/>
          </a:prstGeom>
          <a:noFill/>
          <a:ln/>
        </p:spPr>
        <p:txBody>
          <a:bodyPr wrap="square" lIns="0" tIns="0" rIns="0" bIns="0" rtlCol="0" anchor="t"/>
          <a:lstStyle>
            <a:lvl1pPr marL="0" indent="0" algn="l">
              <a:lnSpc>
                <a:spcPct val="140000"/>
              </a:lnSpc>
              <a:buNone/>
              <a:defRPr lang="en-US" sz="1600" dirty="0">
                <a:solidFill>
                  <a:srgbClr val="1D2B38"/>
                </a:solidFill>
                <a:latin typeface="Atkinson Hyperlegible Next" pitchFamily="34" charset="0"/>
                <a:ea typeface="Atkinson Hyperlegible Next" pitchFamily="34" charset="-122"/>
                <a:cs typeface="Atkinson Hyperlegible Nex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D2B38"/>
                </a:solidFill>
                <a:latin typeface="Lexend" pitchFamily="34" charset="0"/>
                <a:ea typeface="Lexend" pitchFamily="34" charset="-122"/>
                <a:cs typeface="Lexend"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50020"/>
            <a:ext cx="10566400" cy="4295180"/>
          </a:xfrm>
          <a:prstGeom prst="rect">
            <a:avLst/>
          </a:prstGeom>
          <a:noFill/>
          <a:ln/>
        </p:spPr>
        <p:txBody>
          <a:bodyPr wrap="square" lIns="0" tIns="0" rIns="0" bIns="0" rtlCol="0" anchor="t"/>
          <a:lstStyle>
            <a:lvl1pPr marL="0" indent="0" algn="l">
              <a:lnSpc>
                <a:spcPct val="140000"/>
              </a:lnSpc>
              <a:buNone/>
              <a:defRPr lang="en-US" sz="1600" dirty="0">
                <a:solidFill>
                  <a:srgbClr val="1D2B38"/>
                </a:solidFill>
                <a:latin typeface="Atkinson Hyperlegible Next" pitchFamily="34" charset="0"/>
                <a:ea typeface="Atkinson Hyperlegible Next" pitchFamily="34" charset="-122"/>
                <a:cs typeface="Atkinson Hyperlegible Next"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A6F6A"/>
          </a:solidFill>
          <a:ln/>
        </p:spPr>
        <p:txBody>
          <a:bodyPr/>
          <a:lstStyle/>
          <a:p>
            <a:endParaRPr lang="es-US"/>
          </a:p>
        </p:txBody>
      </p:sp>
      <p:sp>
        <p:nvSpPr>
          <p:cNvPr id="3" name="Text 1"/>
          <p:cNvSpPr/>
          <p:nvPr/>
        </p:nvSpPr>
        <p:spPr>
          <a:xfrm>
            <a:off x="812800" y="1460500"/>
            <a:ext cx="659282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A6F6A"/>
                </a:solidFill>
                <a:latin typeface="Atkinson Hyperlegible Next" pitchFamily="34" charset="0"/>
                <a:ea typeface="Atkinson Hyperlegible Next" pitchFamily="34" charset="-122"/>
                <a:cs typeface="Atkinson Hyperlegible Next" pitchFamily="34" charset="-120"/>
              </a:rPr>
              <a:t>CAPSTONE · FASE 2</a:t>
            </a:r>
            <a:endParaRPr lang="en-US" sz="1200" dirty="0"/>
          </a:p>
        </p:txBody>
      </p:sp>
      <p:sp>
        <p:nvSpPr>
          <p:cNvPr id="4" name="Text 2"/>
          <p:cNvSpPr>
            <a:spLocks noGrp="1"/>
          </p:cNvSpPr>
          <p:nvPr>
            <p:ph type="title"/>
          </p:nvPr>
        </p:nvSpPr>
        <p:spPr>
          <a:xfrm>
            <a:off x="812800" y="1877020"/>
            <a:ext cx="6592824" cy="1041400"/>
          </a:xfrm>
          <a:prstGeom prst="rect">
            <a:avLst/>
          </a:prstGeom>
          <a:noFill/>
          <a:ln/>
        </p:spPr>
        <p:txBody>
          <a:bodyPr wrap="square" lIns="0" tIns="0" rIns="0" bIns="0" rtlCol="0" anchor="t">
            <a:normAutofit/>
          </a:bodyPr>
          <a:lstStyle/>
          <a:p>
            <a:pPr marL="0" indent="0" algn="l">
              <a:lnSpc>
                <a:spcPts val="8000"/>
              </a:lnSpc>
              <a:buNone/>
            </a:pPr>
            <a:r>
              <a:rPr lang="en-US" sz="8000" b="1" i="0" kern="0" spc="-100" dirty="0">
                <a:solidFill>
                  <a:srgbClr val="1D2B38"/>
                </a:solidFill>
                <a:latin typeface="Lexend" pitchFamily="34" charset="0"/>
                <a:ea typeface="Lexend" pitchFamily="34" charset="-122"/>
                <a:cs typeface="Lexend" pitchFamily="34" charset="-120"/>
              </a:rPr>
              <a:t>TEA-yudo</a:t>
            </a:r>
            <a:endParaRPr lang="en-US" sz="8000" dirty="0"/>
          </a:p>
        </p:txBody>
      </p:sp>
      <p:sp>
        <p:nvSpPr>
          <p:cNvPr id="5" name="Text 3"/>
          <p:cNvSpPr/>
          <p:nvPr/>
        </p:nvSpPr>
        <p:spPr>
          <a:xfrm>
            <a:off x="812800" y="3096220"/>
            <a:ext cx="58864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4C5A68"/>
                </a:solidFill>
                <a:latin typeface="Atkinson Hyperlegible Next" pitchFamily="34" charset="0"/>
                <a:ea typeface="Atkinson Hyperlegible Next" pitchFamily="34" charset="-122"/>
                <a:cs typeface="Atkinson Hyperlegible Next" pitchFamily="34" charset="-120"/>
              </a:rPr>
              <a:t>Plataforma web accesible de comunicación aumentativa y bitácora digital para equipos PIE</a:t>
            </a:r>
            <a:endParaRPr lang="en-US" sz="1800" dirty="0"/>
          </a:p>
        </p:txBody>
      </p:sp>
      <p:sp>
        <p:nvSpPr>
          <p:cNvPr id="6" name="Shape 4"/>
          <p:cNvSpPr/>
          <p:nvPr/>
        </p:nvSpPr>
        <p:spPr>
          <a:xfrm>
            <a:off x="825500" y="3916561"/>
            <a:ext cx="0" cy="947241"/>
          </a:xfrm>
          <a:prstGeom prst="line">
            <a:avLst/>
          </a:prstGeom>
          <a:noFill/>
          <a:ln w="25400">
            <a:solidFill>
              <a:srgbClr val="9FC9C2"/>
            </a:solidFill>
            <a:prstDash val="solid"/>
          </a:ln>
        </p:spPr>
        <p:txBody>
          <a:bodyPr/>
          <a:lstStyle/>
          <a:p>
            <a:endParaRPr lang="es-US"/>
          </a:p>
        </p:txBody>
      </p:sp>
      <p:sp>
        <p:nvSpPr>
          <p:cNvPr id="7" name="Text 5"/>
          <p:cNvSpPr/>
          <p:nvPr/>
        </p:nvSpPr>
        <p:spPr>
          <a:xfrm>
            <a:off x="1016000" y="3967361"/>
            <a:ext cx="6383528"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Cristóbal Ávila</a:t>
            </a:r>
            <a:r>
              <a:rPr lang="en-US" sz="1400" dirty="0">
                <a:solidFill>
                  <a:srgbClr val="1D2B38"/>
                </a:solidFill>
                <a:latin typeface="Atkinson Hyperlegible Next" pitchFamily="34" charset="0"/>
                <a:ea typeface="Atkinson Hyperlegible Next" pitchFamily="34" charset="-122"/>
                <a:cs typeface="Atkinson Hyperlegible Next" pitchFamily="34" charset="-120"/>
              </a:rPr>
              <a:t> · Diseño UI/UX y desarrollo frontend</a:t>
            </a:r>
            <a:endParaRPr lang="en-US" sz="1400" dirty="0"/>
          </a:p>
        </p:txBody>
      </p:sp>
      <p:sp>
        <p:nvSpPr>
          <p:cNvPr id="8" name="Text 6"/>
          <p:cNvSpPr/>
          <p:nvPr/>
        </p:nvSpPr>
        <p:spPr>
          <a:xfrm>
            <a:off x="1016000" y="4274641"/>
            <a:ext cx="6383528"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Carlos Peña</a:t>
            </a:r>
            <a:r>
              <a:rPr lang="en-US" sz="1400" dirty="0">
                <a:solidFill>
                  <a:srgbClr val="1D2B38"/>
                </a:solidFill>
                <a:latin typeface="Atkinson Hyperlegible Next" pitchFamily="34" charset="0"/>
                <a:ea typeface="Atkinson Hyperlegible Next" pitchFamily="34" charset="-122"/>
                <a:cs typeface="Atkinson Hyperlegible Next" pitchFamily="34" charset="-120"/>
              </a:rPr>
              <a:t> · Arquitectura, datos y backend</a:t>
            </a:r>
            <a:endParaRPr lang="en-US" sz="1400" dirty="0"/>
          </a:p>
        </p:txBody>
      </p:sp>
      <p:sp>
        <p:nvSpPr>
          <p:cNvPr id="9" name="Text 7"/>
          <p:cNvSpPr/>
          <p:nvPr/>
        </p:nvSpPr>
        <p:spPr>
          <a:xfrm>
            <a:off x="1016000" y="4581922"/>
            <a:ext cx="6383528"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Rolando Fierro</a:t>
            </a:r>
            <a:r>
              <a:rPr lang="en-US" sz="1400" dirty="0">
                <a:solidFill>
                  <a:srgbClr val="1D2B38"/>
                </a:solidFill>
                <a:latin typeface="Atkinson Hyperlegible Next" pitchFamily="34" charset="0"/>
                <a:ea typeface="Atkinson Hyperlegible Next" pitchFamily="34" charset="-122"/>
                <a:cs typeface="Atkinson Hyperlegible Next" pitchFamily="34" charset="-120"/>
              </a:rPr>
              <a:t> · Investigación con PIE y QA</a:t>
            </a:r>
            <a:endParaRPr lang="en-US" sz="1400" dirty="0"/>
          </a:p>
        </p:txBody>
      </p:sp>
      <p:sp>
        <p:nvSpPr>
          <p:cNvPr id="10" name="Text 8"/>
          <p:cNvSpPr/>
          <p:nvPr/>
        </p:nvSpPr>
        <p:spPr>
          <a:xfrm>
            <a:off x="812800" y="5067002"/>
            <a:ext cx="55297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Ingeniería en Informática · Duoc UC Sede San Joaquín · 07/10/2026</a:t>
            </a:r>
            <a:endParaRPr lang="en-US" sz="1200" dirty="0"/>
          </a:p>
        </p:txBody>
      </p:sp>
      <p:pic>
        <p:nvPicPr>
          <p:cNvPr id="11" name="Image 0" descr="Seis tarjetas tipo pictograma: diálogo, calma, reloj, emoción, bitácora y hogar"/>
          <p:cNvPicPr>
            <a:picLocks noChangeAspect="1"/>
          </p:cNvPicPr>
          <p:nvPr/>
        </p:nvPicPr>
        <p:blipFill>
          <a:blip r:embed="rId3"/>
          <a:srcRect/>
          <a:stretch/>
        </p:blipFill>
        <p:spPr>
          <a:xfrm>
            <a:off x="7823200" y="1016000"/>
            <a:ext cx="3556000" cy="482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1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ABSTRACT</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Resumen del proyecto</a:t>
            </a:r>
            <a:endParaRPr lang="en-US" sz="3000" dirty="0"/>
          </a:p>
        </p:txBody>
      </p:sp>
      <p:sp>
        <p:nvSpPr>
          <p:cNvPr id="4" name="Text 2"/>
          <p:cNvSpPr/>
          <p:nvPr/>
        </p:nvSpPr>
        <p:spPr>
          <a:xfrm>
            <a:off x="812800" y="1699220"/>
            <a:ext cx="8293354" cy="26924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D2B38"/>
                </a:solidFill>
                <a:latin typeface="Atkinson Hyperlegible Next" pitchFamily="34" charset="0"/>
                <a:ea typeface="Atkinson Hyperlegible Next" pitchFamily="34" charset="-122"/>
                <a:cs typeface="Atkinson Hyperlegible Next" pitchFamily="34" charset="-120"/>
              </a:rPr>
              <a:t>TEA-yudo es una plataforma web accesible diseñada para apoyar a estudiantes con Trastorno del Espectro Autista (TEA) y a los equipos del Programa de Integración Escolar (PIE) en escuelas públicas chilenas. Combina un tablero de comunicación aumentativa y alternativa (SAAC) basado en pictogramas ARASAAC y lectura en voz alta con rutinas diarias visuales, un módulo de autorregulación emocional y una bitácora digital centralizada para los profesionales. Su arquitectura offline-first (Service Worker e IndexedDB) mantiene la herramienta funcionando cuando falla el Wi-Fi del establecimiento. Durante la Fase 2, el equipo pasó de Kanban a Scrum en Jira; completó el modelo de datos, los diagramas UML, los mockups UI/UX y la integración con ARASAAC; y validó los requerimientos con una especialista PIE. Los próximos sprints se centran en seguridad, aseguramiento de calidad, despliegue con Docker y documentación técnica.</a:t>
            </a:r>
            <a:endParaRPr lang="en-US" sz="1400" dirty="0"/>
          </a:p>
        </p:txBody>
      </p:sp>
      <p:sp>
        <p:nvSpPr>
          <p:cNvPr id="5" name="Shape 3"/>
          <p:cNvSpPr/>
          <p:nvPr/>
        </p:nvSpPr>
        <p:spPr>
          <a:xfrm>
            <a:off x="9232900" y="1699220"/>
            <a:ext cx="0" cy="2372023"/>
          </a:xfrm>
          <a:prstGeom prst="line">
            <a:avLst/>
          </a:prstGeom>
          <a:noFill/>
          <a:ln w="25400">
            <a:solidFill>
              <a:srgbClr val="9FC9C2"/>
            </a:solidFill>
            <a:prstDash val="solid"/>
          </a:ln>
        </p:spPr>
        <p:txBody>
          <a:bodyPr/>
          <a:lstStyle/>
          <a:p>
            <a:endParaRPr lang="es-US"/>
          </a:p>
        </p:txBody>
      </p:sp>
      <p:sp>
        <p:nvSpPr>
          <p:cNvPr id="6" name="Text 4"/>
          <p:cNvSpPr/>
          <p:nvPr/>
        </p:nvSpPr>
        <p:spPr>
          <a:xfrm>
            <a:off x="9448800" y="1724620"/>
            <a:ext cx="19883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5A68"/>
                </a:solidFill>
                <a:latin typeface="Atkinson Hyperlegible Next" pitchFamily="34" charset="0"/>
                <a:ea typeface="Atkinson Hyperlegible Next" pitchFamily="34" charset="-122"/>
                <a:cs typeface="Atkinson Hyperlegible Next" pitchFamily="34" charset="-120"/>
              </a:rPr>
              <a:t>CLAVES</a:t>
            </a:r>
            <a:endParaRPr lang="en-US" sz="1200" dirty="0"/>
          </a:p>
        </p:txBody>
      </p:sp>
      <p:sp>
        <p:nvSpPr>
          <p:cNvPr id="7" name="Text 5"/>
          <p:cNvSpPr/>
          <p:nvPr/>
        </p:nvSpPr>
        <p:spPr>
          <a:xfrm>
            <a:off x="9448800" y="2026841"/>
            <a:ext cx="1930400" cy="332680"/>
          </a:xfrm>
          <a:prstGeom prst="roundRect">
            <a:avLst>
              <a:gd name="adj" fmla="val 50000"/>
            </a:avLst>
          </a:prstGeom>
          <a:solidFill>
            <a:srgbClr val="F7F5F0"/>
          </a:solidFill>
          <a:ln/>
        </p:spPr>
        <p:txBody>
          <a:bodyPr wrap="square" lIns="78281" tIns="2081" rIns="27481"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SAAC · ARASAAC</a:t>
            </a:r>
            <a:endParaRPr lang="en-US" sz="1300" dirty="0"/>
          </a:p>
        </p:txBody>
      </p:sp>
      <p:sp>
        <p:nvSpPr>
          <p:cNvPr id="8" name="Text 6"/>
          <p:cNvSpPr/>
          <p:nvPr/>
        </p:nvSpPr>
        <p:spPr>
          <a:xfrm>
            <a:off x="9448800" y="2448421"/>
            <a:ext cx="1930400" cy="332680"/>
          </a:xfrm>
          <a:prstGeom prst="roundRect">
            <a:avLst>
              <a:gd name="adj" fmla="val 50000"/>
            </a:avLst>
          </a:prstGeom>
          <a:solidFill>
            <a:srgbClr val="F7F5F0"/>
          </a:solidFill>
          <a:ln/>
        </p:spPr>
        <p:txBody>
          <a:bodyPr wrap="square" lIns="78281" tIns="2081" rIns="27481"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Texto a voz</a:t>
            </a:r>
            <a:endParaRPr lang="en-US" sz="1300" dirty="0"/>
          </a:p>
        </p:txBody>
      </p:sp>
      <p:sp>
        <p:nvSpPr>
          <p:cNvPr id="9" name="Text 7"/>
          <p:cNvSpPr/>
          <p:nvPr/>
        </p:nvSpPr>
        <p:spPr>
          <a:xfrm>
            <a:off x="9448800" y="2870002"/>
            <a:ext cx="1930400" cy="332680"/>
          </a:xfrm>
          <a:prstGeom prst="roundRect">
            <a:avLst>
              <a:gd name="adj" fmla="val 50000"/>
            </a:avLst>
          </a:prstGeom>
          <a:solidFill>
            <a:srgbClr val="F7F5F0"/>
          </a:solidFill>
          <a:ln/>
        </p:spPr>
        <p:txBody>
          <a:bodyPr wrap="square" lIns="78281" tIns="2081" rIns="27481"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Offline-first</a:t>
            </a:r>
            <a:endParaRPr lang="en-US" sz="1300" dirty="0"/>
          </a:p>
        </p:txBody>
      </p:sp>
      <p:sp>
        <p:nvSpPr>
          <p:cNvPr id="10" name="Text 8"/>
          <p:cNvSpPr/>
          <p:nvPr/>
        </p:nvSpPr>
        <p:spPr>
          <a:xfrm>
            <a:off x="9448800" y="3291582"/>
            <a:ext cx="1930400" cy="332680"/>
          </a:xfrm>
          <a:prstGeom prst="roundRect">
            <a:avLst>
              <a:gd name="adj" fmla="val 50000"/>
            </a:avLst>
          </a:prstGeom>
          <a:solidFill>
            <a:srgbClr val="F7F5F0"/>
          </a:solidFill>
          <a:ln/>
        </p:spPr>
        <p:txBody>
          <a:bodyPr wrap="square" lIns="78281" tIns="2081" rIns="27481"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PIE · TEA</a:t>
            </a:r>
            <a:endParaRPr lang="en-US" sz="1300" dirty="0"/>
          </a:p>
        </p:txBody>
      </p:sp>
      <p:sp>
        <p:nvSpPr>
          <p:cNvPr id="11" name="Text 9"/>
          <p:cNvSpPr/>
          <p:nvPr/>
        </p:nvSpPr>
        <p:spPr>
          <a:xfrm>
            <a:off x="9448800" y="3713163"/>
            <a:ext cx="1930400" cy="332680"/>
          </a:xfrm>
          <a:prstGeom prst="roundRect">
            <a:avLst>
              <a:gd name="adj" fmla="val 50000"/>
            </a:avLst>
          </a:prstGeom>
          <a:solidFill>
            <a:srgbClr val="F7F5F0"/>
          </a:solidFill>
          <a:ln/>
        </p:spPr>
        <p:txBody>
          <a:bodyPr wrap="square" lIns="78281" tIns="2081" rIns="27481"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Scrum · Jira</a:t>
            </a:r>
            <a:endParaRPr lang="en-US" sz="1300" dirty="0"/>
          </a:p>
        </p:txBody>
      </p:sp>
      <p:sp>
        <p:nvSpPr>
          <p:cNvPr id="12" name="Text 10"/>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3" name="Text 11"/>
          <p:cNvSpPr/>
          <p:nvPr/>
        </p:nvSpPr>
        <p:spPr>
          <a:xfrm>
            <a:off x="11146036" y="6243340"/>
            <a:ext cx="23316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PROBLEMA Y RELEVANCIA</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Una brecha digital en el apoyo a estudiantes TEA</a:t>
            </a:r>
            <a:endParaRPr lang="en-US" sz="3000" dirty="0"/>
          </a:p>
        </p:txBody>
      </p:sp>
      <p:sp>
        <p:nvSpPr>
          <p:cNvPr id="4" name="Text 2"/>
          <p:cNvSpPr/>
          <p:nvPr/>
        </p:nvSpPr>
        <p:spPr>
          <a:xfrm>
            <a:off x="812800" y="1800820"/>
            <a:ext cx="915670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4C5A68"/>
                </a:solidFill>
                <a:latin typeface="Atkinson Hyperlegible Next" pitchFamily="34" charset="0"/>
                <a:ea typeface="Atkinson Hyperlegible Next" pitchFamily="34" charset="-122"/>
                <a:cs typeface="Atkinson Hyperlegible Next" pitchFamily="34" charset="-120"/>
              </a:rPr>
              <a:t>En la educación pública, el apoyo a estudiantes TEA depende de </a:t>
            </a:r>
            <a:r>
              <a:rPr lang="en-US" sz="1800" b="1" dirty="0">
                <a:solidFill>
                  <a:srgbClr val="1D2B38"/>
                </a:solidFill>
                <a:latin typeface="Atkinson Hyperlegible Next" pitchFamily="34" charset="0"/>
                <a:ea typeface="Atkinson Hyperlegible Next" pitchFamily="34" charset="-122"/>
                <a:cs typeface="Atkinson Hyperlegible Next" pitchFamily="34" charset="-120"/>
              </a:rPr>
              <a:t>material físico disperso</a:t>
            </a:r>
            <a:r>
              <a:rPr lang="en-US" sz="1800" dirty="0">
                <a:solidFill>
                  <a:srgbClr val="4C5A68"/>
                </a:solidFill>
                <a:latin typeface="Atkinson Hyperlegible Next" pitchFamily="34" charset="0"/>
                <a:ea typeface="Atkinson Hyperlegible Next" pitchFamily="34" charset="-122"/>
                <a:cs typeface="Atkinson Hyperlegible Next" pitchFamily="34" charset="-120"/>
              </a:rPr>
              <a:t> y de </a:t>
            </a:r>
            <a:r>
              <a:rPr lang="en-US" sz="1800" b="1" dirty="0">
                <a:solidFill>
                  <a:srgbClr val="1D2B38"/>
                </a:solidFill>
                <a:latin typeface="Atkinson Hyperlegible Next" pitchFamily="34" charset="0"/>
                <a:ea typeface="Atkinson Hyperlegible Next" pitchFamily="34" charset="-122"/>
                <a:cs typeface="Atkinson Hyperlegible Next" pitchFamily="34" charset="-120"/>
              </a:rPr>
              <a:t>registros manuales sin estándar</a:t>
            </a:r>
            <a:r>
              <a:rPr lang="en-US" sz="1800" dirty="0">
                <a:solidFill>
                  <a:srgbClr val="4C5A68"/>
                </a:solidFill>
                <a:latin typeface="Atkinson Hyperlegible Next" pitchFamily="34" charset="0"/>
                <a:ea typeface="Atkinson Hyperlegible Next" pitchFamily="34" charset="-122"/>
                <a:cs typeface="Atkinson Hyperlegible Next" pitchFamily="34" charset="-120"/>
              </a:rPr>
              <a:t>.</a:t>
            </a:r>
            <a:endParaRPr lang="en-US" sz="1800" dirty="0"/>
          </a:p>
        </p:txBody>
      </p:sp>
      <p:sp>
        <p:nvSpPr>
          <p:cNvPr id="5" name="Shape 3"/>
          <p:cNvSpPr/>
          <p:nvPr/>
        </p:nvSpPr>
        <p:spPr>
          <a:xfrm>
            <a:off x="815975" y="2776736"/>
            <a:ext cx="3380284" cy="2129532"/>
          </a:xfrm>
          <a:prstGeom prst="roundRect">
            <a:avLst>
              <a:gd name="adj" fmla="val 7007"/>
            </a:avLst>
          </a:prstGeom>
          <a:solidFill>
            <a:srgbClr val="FDFCF9"/>
          </a:solidFill>
          <a:ln w="6350">
            <a:solidFill>
              <a:srgbClr val="E2DDD2"/>
            </a:solidFill>
            <a:prstDash val="solid"/>
          </a:ln>
        </p:spPr>
        <p:txBody>
          <a:bodyPr/>
          <a:lstStyle/>
          <a:p>
            <a:endParaRPr lang="es-US"/>
          </a:p>
        </p:txBody>
      </p:sp>
      <p:pic>
        <p:nvPicPr>
          <p:cNvPr id="6" name="Image 0" descr="Search"/>
          <p:cNvPicPr>
            <a:picLocks noChangeAspect="1"/>
          </p:cNvPicPr>
          <p:nvPr/>
        </p:nvPicPr>
        <p:blipFill>
          <a:blip r:embed="rId3"/>
          <a:srcRect/>
          <a:stretch/>
        </p:blipFill>
        <p:spPr>
          <a:xfrm>
            <a:off x="1073150" y="3033911"/>
            <a:ext cx="355600" cy="355600"/>
          </a:xfrm>
          <a:prstGeom prst="rect">
            <a:avLst/>
          </a:prstGeom>
        </p:spPr>
      </p:pic>
      <p:sp>
        <p:nvSpPr>
          <p:cNvPr id="7" name="Text 4"/>
          <p:cNvSpPr/>
          <p:nvPr/>
        </p:nvSpPr>
        <p:spPr>
          <a:xfrm>
            <a:off x="1073150" y="3516511"/>
            <a:ext cx="2951912"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D2B38"/>
                </a:solidFill>
                <a:latin typeface="Lexend" pitchFamily="34" charset="0"/>
                <a:ea typeface="Lexend" pitchFamily="34" charset="-122"/>
                <a:cs typeface="Lexend" pitchFamily="34" charset="-120"/>
              </a:rPr>
              <a:t>Brecha de herramientas</a:t>
            </a:r>
            <a:endParaRPr lang="en-US" sz="1700" dirty="0"/>
          </a:p>
        </p:txBody>
      </p:sp>
      <p:sp>
        <p:nvSpPr>
          <p:cNvPr id="8" name="Text 5"/>
          <p:cNvSpPr/>
          <p:nvPr/>
        </p:nvSpPr>
        <p:spPr>
          <a:xfrm>
            <a:off x="1073150" y="390257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5A68"/>
                </a:solidFill>
                <a:latin typeface="Atkinson Hyperlegible Next" pitchFamily="34" charset="0"/>
                <a:ea typeface="Atkinson Hyperlegible Next" pitchFamily="34" charset="-122"/>
                <a:cs typeface="Atkinson Hyperlegible Next" pitchFamily="34" charset="-120"/>
              </a:rPr>
              <a:t>Pocas herramientas digitales de apoyo e inclusión para estudiantes TEA en escuelas públicas.</a:t>
            </a:r>
            <a:endParaRPr lang="en-US" sz="1400" dirty="0"/>
          </a:p>
        </p:txBody>
      </p:sp>
      <p:sp>
        <p:nvSpPr>
          <p:cNvPr id="9" name="Shape 6"/>
          <p:cNvSpPr/>
          <p:nvPr/>
        </p:nvSpPr>
        <p:spPr>
          <a:xfrm>
            <a:off x="4405809" y="2776736"/>
            <a:ext cx="3380284" cy="2129532"/>
          </a:xfrm>
          <a:prstGeom prst="roundRect">
            <a:avLst>
              <a:gd name="adj" fmla="val 7007"/>
            </a:avLst>
          </a:prstGeom>
          <a:solidFill>
            <a:srgbClr val="FDFCF9"/>
          </a:solidFill>
          <a:ln w="6350">
            <a:solidFill>
              <a:srgbClr val="E2DDD2"/>
            </a:solidFill>
            <a:prstDash val="solid"/>
          </a:ln>
        </p:spPr>
        <p:txBody>
          <a:bodyPr/>
          <a:lstStyle/>
          <a:p>
            <a:endParaRPr lang="es-US"/>
          </a:p>
        </p:txBody>
      </p:sp>
      <p:pic>
        <p:nvPicPr>
          <p:cNvPr id="10" name="Image 1" descr="Book"/>
          <p:cNvPicPr>
            <a:picLocks noChangeAspect="1"/>
          </p:cNvPicPr>
          <p:nvPr/>
        </p:nvPicPr>
        <p:blipFill>
          <a:blip r:embed="rId4"/>
          <a:srcRect/>
          <a:stretch/>
        </p:blipFill>
        <p:spPr>
          <a:xfrm>
            <a:off x="4662984" y="3033911"/>
            <a:ext cx="355600" cy="355600"/>
          </a:xfrm>
          <a:prstGeom prst="rect">
            <a:avLst/>
          </a:prstGeom>
        </p:spPr>
      </p:pic>
      <p:sp>
        <p:nvSpPr>
          <p:cNvPr id="11" name="Text 7"/>
          <p:cNvSpPr/>
          <p:nvPr/>
        </p:nvSpPr>
        <p:spPr>
          <a:xfrm>
            <a:off x="4662984" y="3516511"/>
            <a:ext cx="2951912"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D2B38"/>
                </a:solidFill>
                <a:latin typeface="Lexend" pitchFamily="34" charset="0"/>
                <a:ea typeface="Lexend" pitchFamily="34" charset="-122"/>
                <a:cs typeface="Lexend" pitchFamily="34" charset="-120"/>
              </a:rPr>
              <a:t>Registro disperso</a:t>
            </a:r>
            <a:endParaRPr lang="en-US" sz="1700" dirty="0"/>
          </a:p>
        </p:txBody>
      </p:sp>
      <p:sp>
        <p:nvSpPr>
          <p:cNvPr id="12" name="Text 8"/>
          <p:cNvSpPr/>
          <p:nvPr/>
        </p:nvSpPr>
        <p:spPr>
          <a:xfrm>
            <a:off x="4662984" y="390257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5A68"/>
                </a:solidFill>
                <a:latin typeface="Atkinson Hyperlegible Next" pitchFamily="34" charset="0"/>
                <a:ea typeface="Atkinson Hyperlegible Next" pitchFamily="34" charset="-122"/>
                <a:cs typeface="Atkinson Hyperlegible Next" pitchFamily="34" charset="-120"/>
              </a:rPr>
              <a:t>Los equipos PIE trabajan con material impreso y bitácoras manuales no estandarizadas.</a:t>
            </a:r>
            <a:endParaRPr lang="en-US" sz="1400" dirty="0"/>
          </a:p>
        </p:txBody>
      </p:sp>
      <p:sp>
        <p:nvSpPr>
          <p:cNvPr id="13" name="Shape 9"/>
          <p:cNvSpPr/>
          <p:nvPr/>
        </p:nvSpPr>
        <p:spPr>
          <a:xfrm>
            <a:off x="7995642" y="2776736"/>
            <a:ext cx="3380284" cy="2129532"/>
          </a:xfrm>
          <a:prstGeom prst="roundRect">
            <a:avLst>
              <a:gd name="adj" fmla="val 7007"/>
            </a:avLst>
          </a:prstGeom>
          <a:solidFill>
            <a:srgbClr val="FDFCF9"/>
          </a:solidFill>
          <a:ln w="6350">
            <a:solidFill>
              <a:srgbClr val="E2DDD2"/>
            </a:solidFill>
            <a:prstDash val="solid"/>
          </a:ln>
        </p:spPr>
        <p:txBody>
          <a:bodyPr/>
          <a:lstStyle/>
          <a:p>
            <a:endParaRPr lang="es-US"/>
          </a:p>
        </p:txBody>
      </p:sp>
      <p:pic>
        <p:nvPicPr>
          <p:cNvPr id="14" name="Image 2" descr="Clock"/>
          <p:cNvPicPr>
            <a:picLocks noChangeAspect="1"/>
          </p:cNvPicPr>
          <p:nvPr/>
        </p:nvPicPr>
        <p:blipFill>
          <a:blip r:embed="rId5"/>
          <a:srcRect/>
          <a:stretch/>
        </p:blipFill>
        <p:spPr>
          <a:xfrm>
            <a:off x="8252817" y="3033911"/>
            <a:ext cx="355600" cy="355600"/>
          </a:xfrm>
          <a:prstGeom prst="rect">
            <a:avLst/>
          </a:prstGeom>
        </p:spPr>
      </p:pic>
      <p:sp>
        <p:nvSpPr>
          <p:cNvPr id="15" name="Text 10"/>
          <p:cNvSpPr/>
          <p:nvPr/>
        </p:nvSpPr>
        <p:spPr>
          <a:xfrm>
            <a:off x="8252817" y="3516511"/>
            <a:ext cx="2951912"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D2B38"/>
                </a:solidFill>
                <a:latin typeface="Lexend" pitchFamily="34" charset="0"/>
                <a:ea typeface="Lexend" pitchFamily="34" charset="-122"/>
                <a:cs typeface="Lexend" pitchFamily="34" charset="-120"/>
              </a:rPr>
              <a:t>Exigencia normativa</a:t>
            </a:r>
            <a:endParaRPr lang="en-US" sz="1700" dirty="0"/>
          </a:p>
        </p:txBody>
      </p:sp>
      <p:sp>
        <p:nvSpPr>
          <p:cNvPr id="16" name="Text 11"/>
          <p:cNvSpPr/>
          <p:nvPr/>
        </p:nvSpPr>
        <p:spPr>
          <a:xfrm>
            <a:off x="8252817" y="3902571"/>
            <a:ext cx="2951912"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5A68"/>
                </a:solidFill>
                <a:latin typeface="Atkinson Hyperlegible Next" pitchFamily="34" charset="0"/>
                <a:ea typeface="Atkinson Hyperlegible Next" pitchFamily="34" charset="-122"/>
                <a:cs typeface="Atkinson Hyperlegible Next" pitchFamily="34" charset="-120"/>
              </a:rPr>
              <a:t>Los informes del Decreto 170 y el PACI exigen consolidar información que hoy está en papel.</a:t>
            </a:r>
            <a:endParaRPr lang="en-US" sz="1400" dirty="0"/>
          </a:p>
        </p:txBody>
      </p:sp>
      <p:sp>
        <p:nvSpPr>
          <p:cNvPr id="17" name="Text 12"/>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8" name="Text 13"/>
          <p:cNvSpPr/>
          <p:nvPr/>
        </p:nvSpPr>
        <p:spPr>
          <a:xfrm>
            <a:off x="11141770" y="6243340"/>
            <a:ext cx="2374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VALIDACIÓN CON ESPECIALISTA PIE</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Hallazgos de campo que guiaron el diseño</a:t>
            </a:r>
            <a:endParaRPr lang="en-US" sz="3000" dirty="0"/>
          </a:p>
        </p:txBody>
      </p:sp>
      <p:sp>
        <p:nvSpPr>
          <p:cNvPr id="4" name="Shape 2"/>
          <p:cNvSpPr/>
          <p:nvPr/>
        </p:nvSpPr>
        <p:spPr>
          <a:xfrm>
            <a:off x="812800" y="1699220"/>
            <a:ext cx="3175000" cy="4118173"/>
          </a:xfrm>
          <a:prstGeom prst="roundRect">
            <a:avLst>
              <a:gd name="adj" fmla="val 4800"/>
            </a:avLst>
          </a:prstGeom>
          <a:solidFill>
            <a:srgbClr val="D8ECE8"/>
          </a:solidFill>
          <a:ln/>
        </p:spPr>
        <p:txBody>
          <a:bodyPr/>
          <a:lstStyle/>
          <a:p>
            <a:endParaRPr lang="es-US"/>
          </a:p>
        </p:txBody>
      </p:sp>
      <p:sp>
        <p:nvSpPr>
          <p:cNvPr id="5" name="Text 3"/>
          <p:cNvSpPr/>
          <p:nvPr/>
        </p:nvSpPr>
        <p:spPr>
          <a:xfrm>
            <a:off x="1041400" y="1902420"/>
            <a:ext cx="279933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ENCUESTA · GOOGLE FORMS</a:t>
            </a:r>
            <a:endParaRPr lang="en-US" sz="1200" dirty="0"/>
          </a:p>
        </p:txBody>
      </p:sp>
      <p:sp>
        <p:nvSpPr>
          <p:cNvPr id="6" name="Text 4"/>
          <p:cNvSpPr/>
          <p:nvPr/>
        </p:nvSpPr>
        <p:spPr>
          <a:xfrm>
            <a:off x="1041400" y="2217341"/>
            <a:ext cx="2799334" cy="949722"/>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Educadora Diferencial</a:t>
            </a:r>
            <a:endParaRPr lang="en-US" sz="1400" dirty="0"/>
          </a:p>
          <a:p>
            <a:pPr marL="0" indent="0" algn="l">
              <a:lnSpc>
                <a:spcPts val="1820"/>
              </a:lnSpc>
              <a:buNone/>
            </a:pPr>
            <a:r>
              <a:rPr lang="en-US" sz="1400" dirty="0">
                <a:solidFill>
                  <a:srgbClr val="1D2B38"/>
                </a:solidFill>
                <a:latin typeface="Atkinson Hyperlegible Next" pitchFamily="34" charset="0"/>
                <a:ea typeface="Atkinson Hyperlegible Next" pitchFamily="34" charset="-122"/>
                <a:cs typeface="Atkinson Hyperlegible Next" pitchFamily="34" charset="-120"/>
              </a:rPr>
              <a:t>Mención Desarrollo Cognitivo · Servicio Local de Educación Pública</a:t>
            </a:r>
            <a:endParaRPr lang="en-US" sz="1400" dirty="0"/>
          </a:p>
        </p:txBody>
      </p:sp>
      <p:sp>
        <p:nvSpPr>
          <p:cNvPr id="7" name="Text 5"/>
          <p:cNvSpPr/>
          <p:nvPr/>
        </p:nvSpPr>
        <p:spPr>
          <a:xfrm>
            <a:off x="1041400" y="3243263"/>
            <a:ext cx="637480" cy="104140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1F5A55"/>
                </a:solidFill>
                <a:latin typeface="Lexend" pitchFamily="34" charset="0"/>
                <a:ea typeface="Lexend" pitchFamily="34" charset="-122"/>
                <a:cs typeface="Lexend" pitchFamily="34" charset="-120"/>
              </a:rPr>
              <a:t>5/5</a:t>
            </a:r>
            <a:endParaRPr lang="en-US" sz="4000" dirty="0"/>
          </a:p>
        </p:txBody>
      </p:sp>
      <p:sp>
        <p:nvSpPr>
          <p:cNvPr id="8" name="Text 6"/>
          <p:cNvSpPr/>
          <p:nvPr/>
        </p:nvSpPr>
        <p:spPr>
          <a:xfrm>
            <a:off x="1755080" y="3541713"/>
            <a:ext cx="2064243"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Relevancia: «completamente indispensable»</a:t>
            </a:r>
            <a:endParaRPr lang="en-US" sz="1200" dirty="0"/>
          </a:p>
        </p:txBody>
      </p:sp>
      <p:sp>
        <p:nvSpPr>
          <p:cNvPr id="9" name="Text 7"/>
          <p:cNvSpPr/>
          <p:nvPr/>
        </p:nvSpPr>
        <p:spPr>
          <a:xfrm>
            <a:off x="1041400" y="4360863"/>
            <a:ext cx="125343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F5A55"/>
                </a:solidFill>
                <a:latin typeface="Lexend" pitchFamily="34" charset="0"/>
                <a:ea typeface="Lexend" pitchFamily="34" charset="-122"/>
                <a:cs typeface="Lexend" pitchFamily="34" charset="-120"/>
              </a:rPr>
              <a:t>6</a:t>
            </a:r>
            <a:endParaRPr lang="en-US" sz="3200" dirty="0"/>
          </a:p>
        </p:txBody>
      </p:sp>
      <p:sp>
        <p:nvSpPr>
          <p:cNvPr id="10" name="Text 8"/>
          <p:cNvSpPr/>
          <p:nvPr/>
        </p:nvSpPr>
        <p:spPr>
          <a:xfrm>
            <a:off x="1041400" y="4792663"/>
            <a:ext cx="14058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NEE permanentes</a:t>
            </a:r>
            <a:endParaRPr lang="en-US" sz="1200" dirty="0"/>
          </a:p>
        </p:txBody>
      </p:sp>
      <p:sp>
        <p:nvSpPr>
          <p:cNvPr id="11" name="Text 9"/>
          <p:cNvSpPr/>
          <p:nvPr/>
        </p:nvSpPr>
        <p:spPr>
          <a:xfrm>
            <a:off x="2447230" y="4360863"/>
            <a:ext cx="112524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F5A55"/>
                </a:solidFill>
                <a:latin typeface="Lexend" pitchFamily="34" charset="0"/>
                <a:ea typeface="Lexend" pitchFamily="34" charset="-122"/>
                <a:cs typeface="Lexend" pitchFamily="34" charset="-120"/>
              </a:rPr>
              <a:t>10</a:t>
            </a:r>
            <a:endParaRPr lang="en-US" sz="3200" dirty="0"/>
          </a:p>
        </p:txBody>
      </p:sp>
      <p:sp>
        <p:nvSpPr>
          <p:cNvPr id="12" name="Text 10"/>
          <p:cNvSpPr/>
          <p:nvPr/>
        </p:nvSpPr>
        <p:spPr>
          <a:xfrm>
            <a:off x="2447230" y="4792663"/>
            <a:ext cx="12893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NEE transitorias</a:t>
            </a:r>
            <a:endParaRPr lang="en-US" sz="1200" dirty="0"/>
          </a:p>
        </p:txBody>
      </p:sp>
      <p:sp>
        <p:nvSpPr>
          <p:cNvPr id="13" name="Shape 11"/>
          <p:cNvSpPr/>
          <p:nvPr/>
        </p:nvSpPr>
        <p:spPr>
          <a:xfrm>
            <a:off x="1041400" y="5110758"/>
            <a:ext cx="2717800" cy="0"/>
          </a:xfrm>
          <a:prstGeom prst="line">
            <a:avLst/>
          </a:prstGeom>
          <a:noFill/>
          <a:ln w="6350">
            <a:solidFill>
              <a:srgbClr val="9FC9C2"/>
            </a:solidFill>
            <a:prstDash val="solid"/>
          </a:ln>
        </p:spPr>
        <p:txBody>
          <a:bodyPr/>
          <a:lstStyle/>
          <a:p>
            <a:endParaRPr lang="es-US"/>
          </a:p>
        </p:txBody>
      </p:sp>
      <p:sp>
        <p:nvSpPr>
          <p:cNvPr id="14" name="Text 12"/>
          <p:cNvSpPr/>
          <p:nvPr/>
        </p:nvSpPr>
        <p:spPr>
          <a:xfrm>
            <a:off x="1041400" y="5202833"/>
            <a:ext cx="279933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Ya usa pictogramas ARASAAC: valida la elección de la API.</a:t>
            </a:r>
            <a:endParaRPr lang="en-US" sz="1200" dirty="0"/>
          </a:p>
        </p:txBody>
      </p:sp>
      <p:sp>
        <p:nvSpPr>
          <p:cNvPr id="15" name="Text 13"/>
          <p:cNvSpPr/>
          <p:nvPr/>
        </p:nvSpPr>
        <p:spPr>
          <a:xfrm>
            <a:off x="4292600" y="1699220"/>
            <a:ext cx="307403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5A68"/>
                </a:solidFill>
                <a:latin typeface="Atkinson Hyperlegible Next" pitchFamily="34" charset="0"/>
                <a:ea typeface="Atkinson Hyperlegible Next" pitchFamily="34" charset="-122"/>
                <a:cs typeface="Atkinson Hyperlegible Next" pitchFamily="34" charset="-120"/>
              </a:rPr>
              <a:t>HALLAZGO</a:t>
            </a:r>
            <a:endParaRPr lang="en-US" sz="1200" dirty="0"/>
          </a:p>
        </p:txBody>
      </p:sp>
      <p:sp>
        <p:nvSpPr>
          <p:cNvPr id="16" name="Text 14"/>
          <p:cNvSpPr/>
          <p:nvPr/>
        </p:nvSpPr>
        <p:spPr>
          <a:xfrm>
            <a:off x="7835900" y="1699220"/>
            <a:ext cx="3649599"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DECISIÓN DE DISEÑO</a:t>
            </a:r>
            <a:endParaRPr lang="en-US" sz="1200" dirty="0"/>
          </a:p>
        </p:txBody>
      </p:sp>
      <p:sp>
        <p:nvSpPr>
          <p:cNvPr id="17" name="Text 15"/>
          <p:cNvSpPr/>
          <p:nvPr/>
        </p:nvSpPr>
        <p:spPr>
          <a:xfrm>
            <a:off x="4295775" y="2105521"/>
            <a:ext cx="2978150" cy="424160"/>
          </a:xfrm>
          <a:prstGeom prst="roundRect">
            <a:avLst>
              <a:gd name="adj" fmla="val 23205"/>
            </a:avLst>
          </a:prstGeom>
          <a:solidFill>
            <a:srgbClr val="FDFCF9"/>
          </a:solidFill>
          <a:ln w="6350">
            <a:solidFill>
              <a:srgbClr val="E2DDD2"/>
            </a:solidFill>
            <a:prstDash val="solid"/>
          </a:ln>
        </p:spPr>
        <p:txBody>
          <a:bodyPr wrap="square" lIns="101347" tIns="75947" rIns="19813" bIns="50547"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Wi-Fi inestable; solo material físico</a:t>
            </a:r>
            <a:endParaRPr lang="en-US" sz="1300" dirty="0"/>
          </a:p>
        </p:txBody>
      </p:sp>
      <p:pic>
        <p:nvPicPr>
          <p:cNvPr id="18" name="Image 0" descr="arrow-right"/>
          <p:cNvPicPr>
            <a:picLocks noChangeAspect="1"/>
          </p:cNvPicPr>
          <p:nvPr/>
        </p:nvPicPr>
        <p:blipFill>
          <a:blip r:embed="rId3"/>
          <a:srcRect/>
          <a:stretch/>
        </p:blipFill>
        <p:spPr>
          <a:xfrm>
            <a:off x="7378700" y="2228751"/>
            <a:ext cx="355600" cy="177800"/>
          </a:xfrm>
          <a:prstGeom prst="rect">
            <a:avLst/>
          </a:prstGeom>
        </p:spPr>
      </p:pic>
      <p:sp>
        <p:nvSpPr>
          <p:cNvPr id="19" name="Text 16"/>
          <p:cNvSpPr/>
          <p:nvPr/>
        </p:nvSpPr>
        <p:spPr>
          <a:xfrm>
            <a:off x="7835900" y="2001441"/>
            <a:ext cx="3543300" cy="632420"/>
          </a:xfrm>
          <a:prstGeom prst="roundRect">
            <a:avLst>
              <a:gd name="adj" fmla="val 16065"/>
            </a:avLst>
          </a:prstGeom>
          <a:solidFill>
            <a:srgbClr val="D8ECE8"/>
          </a:solidFill>
          <a:ln/>
        </p:spPr>
        <p:txBody>
          <a:bodyPr wrap="square" lIns="97242" tIns="71842" rIns="0" bIns="46442" rtlCol="0" anchor="t">
            <a:normAutofit/>
          </a:bodyPr>
          <a:lstStyle/>
          <a:p>
            <a:pPr marL="0" indent="0" algn="l">
              <a:lnSpc>
                <a:spcPts val="169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Offline-first con caché (Service Worker + IndexedDB)</a:t>
            </a:r>
            <a:endParaRPr lang="en-US" sz="1300" dirty="0"/>
          </a:p>
        </p:txBody>
      </p:sp>
      <p:sp>
        <p:nvSpPr>
          <p:cNvPr id="20" name="Text 17"/>
          <p:cNvSpPr/>
          <p:nvPr/>
        </p:nvSpPr>
        <p:spPr>
          <a:xfrm>
            <a:off x="4295775" y="2725936"/>
            <a:ext cx="2978150" cy="638770"/>
          </a:xfrm>
          <a:prstGeom prst="roundRect">
            <a:avLst>
              <a:gd name="adj" fmla="val 15409"/>
            </a:avLst>
          </a:prstGeom>
          <a:solidFill>
            <a:srgbClr val="FDFCF9"/>
          </a:solidFill>
          <a:ln w="6350">
            <a:solidFill>
              <a:srgbClr val="E2DDD2"/>
            </a:solidFill>
            <a:prstDash val="solid"/>
          </a:ln>
        </p:spPr>
        <p:txBody>
          <a:bodyPr wrap="square" lIns="101347" tIns="75947" rIns="19813" bIns="50547"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Bitácora en papel; firmas de apoderados lentas</a:t>
            </a:r>
            <a:endParaRPr lang="en-US" sz="1300" dirty="0"/>
          </a:p>
        </p:txBody>
      </p:sp>
      <p:pic>
        <p:nvPicPr>
          <p:cNvPr id="21" name="Image 1" descr="arrow-right"/>
          <p:cNvPicPr>
            <a:picLocks noChangeAspect="1"/>
          </p:cNvPicPr>
          <p:nvPr/>
        </p:nvPicPr>
        <p:blipFill>
          <a:blip r:embed="rId3"/>
          <a:srcRect/>
          <a:stretch/>
        </p:blipFill>
        <p:spPr>
          <a:xfrm>
            <a:off x="7378700" y="2956421"/>
            <a:ext cx="355600" cy="177800"/>
          </a:xfrm>
          <a:prstGeom prst="rect">
            <a:avLst/>
          </a:prstGeom>
        </p:spPr>
      </p:pic>
      <p:sp>
        <p:nvSpPr>
          <p:cNvPr id="22" name="Text 18"/>
          <p:cNvSpPr/>
          <p:nvPr/>
        </p:nvSpPr>
        <p:spPr>
          <a:xfrm>
            <a:off x="7835900" y="2836366"/>
            <a:ext cx="3543300" cy="417810"/>
          </a:xfrm>
          <a:prstGeom prst="roundRect">
            <a:avLst>
              <a:gd name="adj" fmla="val 24317"/>
            </a:avLst>
          </a:prstGeom>
          <a:solidFill>
            <a:srgbClr val="D8ECE8"/>
          </a:solidFill>
          <a:ln/>
        </p:spPr>
        <p:txBody>
          <a:bodyPr wrap="square" lIns="97242" tIns="71842" rIns="0" bIns="46442" rtlCol="0" anchor="t">
            <a:normAutofit/>
          </a:bodyPr>
          <a:lstStyle/>
          <a:p>
            <a:pPr marL="0" indent="0" algn="l">
              <a:lnSpc>
                <a:spcPts val="169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Bitácora digital con día y hora exactos</a:t>
            </a:r>
            <a:endParaRPr lang="en-US" sz="1300" dirty="0"/>
          </a:p>
        </p:txBody>
      </p:sp>
      <p:sp>
        <p:nvSpPr>
          <p:cNvPr id="23" name="Text 19"/>
          <p:cNvSpPr/>
          <p:nvPr/>
        </p:nvSpPr>
        <p:spPr>
          <a:xfrm>
            <a:off x="4295775" y="3459956"/>
            <a:ext cx="2978150" cy="638770"/>
          </a:xfrm>
          <a:prstGeom prst="roundRect">
            <a:avLst>
              <a:gd name="adj" fmla="val 15409"/>
            </a:avLst>
          </a:prstGeom>
          <a:solidFill>
            <a:srgbClr val="FDFCF9"/>
          </a:solidFill>
          <a:ln w="6350">
            <a:solidFill>
              <a:srgbClr val="E2DDD2"/>
            </a:solidFill>
            <a:prstDash val="solid"/>
          </a:ln>
        </p:spPr>
        <p:txBody>
          <a:bodyPr wrap="square" lIns="101347" tIns="75947" rIns="19813" bIns="50547"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Apoyo en crisis: «muy útil y prioritario»</a:t>
            </a:r>
            <a:endParaRPr lang="en-US" sz="1300" dirty="0"/>
          </a:p>
        </p:txBody>
      </p:sp>
      <p:pic>
        <p:nvPicPr>
          <p:cNvPr id="24" name="Image 2" descr="arrow-right"/>
          <p:cNvPicPr>
            <a:picLocks noChangeAspect="1"/>
          </p:cNvPicPr>
          <p:nvPr/>
        </p:nvPicPr>
        <p:blipFill>
          <a:blip r:embed="rId3"/>
          <a:srcRect/>
          <a:stretch/>
        </p:blipFill>
        <p:spPr>
          <a:xfrm>
            <a:off x="7378700" y="3690441"/>
            <a:ext cx="355600" cy="177800"/>
          </a:xfrm>
          <a:prstGeom prst="rect">
            <a:avLst/>
          </a:prstGeom>
        </p:spPr>
      </p:pic>
      <p:sp>
        <p:nvSpPr>
          <p:cNvPr id="25" name="Text 20"/>
          <p:cNvSpPr/>
          <p:nvPr/>
        </p:nvSpPr>
        <p:spPr>
          <a:xfrm>
            <a:off x="7835900" y="3570387"/>
            <a:ext cx="3543300" cy="417810"/>
          </a:xfrm>
          <a:prstGeom prst="roundRect">
            <a:avLst>
              <a:gd name="adj" fmla="val 24317"/>
            </a:avLst>
          </a:prstGeom>
          <a:solidFill>
            <a:srgbClr val="D8ECE8"/>
          </a:solidFill>
          <a:ln/>
        </p:spPr>
        <p:txBody>
          <a:bodyPr wrap="square" lIns="97242" tIns="71842" rIns="0" bIns="46442" rtlCol="0" anchor="t">
            <a:normAutofit/>
          </a:bodyPr>
          <a:lstStyle/>
          <a:p>
            <a:pPr marL="0" indent="0" algn="l">
              <a:lnSpc>
                <a:spcPts val="169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Termómetro emocional y botón SOS</a:t>
            </a:r>
            <a:endParaRPr lang="en-US" sz="1300" dirty="0"/>
          </a:p>
        </p:txBody>
      </p:sp>
      <p:sp>
        <p:nvSpPr>
          <p:cNvPr id="26" name="Text 21"/>
          <p:cNvSpPr/>
          <p:nvPr/>
        </p:nvSpPr>
        <p:spPr>
          <a:xfrm>
            <a:off x="4295775" y="4193977"/>
            <a:ext cx="2978150" cy="638770"/>
          </a:xfrm>
          <a:prstGeom prst="roundRect">
            <a:avLst>
              <a:gd name="adj" fmla="val 15409"/>
            </a:avLst>
          </a:prstGeom>
          <a:solidFill>
            <a:srgbClr val="FDFCF9"/>
          </a:solidFill>
          <a:ln w="6350">
            <a:solidFill>
              <a:srgbClr val="E2DDD2"/>
            </a:solidFill>
            <a:prstDash val="solid"/>
          </a:ln>
        </p:spPr>
        <p:txBody>
          <a:bodyPr wrap="square" lIns="101347" tIns="75947" rIns="19813" bIns="50547"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Métrica clave: vocabulario mes a mes</a:t>
            </a:r>
            <a:endParaRPr lang="en-US" sz="1300" dirty="0"/>
          </a:p>
        </p:txBody>
      </p:sp>
      <p:pic>
        <p:nvPicPr>
          <p:cNvPr id="27" name="Image 3" descr="arrow-right"/>
          <p:cNvPicPr>
            <a:picLocks noChangeAspect="1"/>
          </p:cNvPicPr>
          <p:nvPr/>
        </p:nvPicPr>
        <p:blipFill>
          <a:blip r:embed="rId3"/>
          <a:srcRect/>
          <a:stretch/>
        </p:blipFill>
        <p:spPr>
          <a:xfrm>
            <a:off x="7378700" y="4424462"/>
            <a:ext cx="355600" cy="177800"/>
          </a:xfrm>
          <a:prstGeom prst="rect">
            <a:avLst/>
          </a:prstGeom>
        </p:spPr>
      </p:pic>
      <p:sp>
        <p:nvSpPr>
          <p:cNvPr id="28" name="Text 22"/>
          <p:cNvSpPr/>
          <p:nvPr/>
        </p:nvSpPr>
        <p:spPr>
          <a:xfrm>
            <a:off x="7835900" y="4304407"/>
            <a:ext cx="3543300" cy="417810"/>
          </a:xfrm>
          <a:prstGeom prst="roundRect">
            <a:avLst>
              <a:gd name="adj" fmla="val 24317"/>
            </a:avLst>
          </a:prstGeom>
          <a:solidFill>
            <a:srgbClr val="D8ECE8"/>
          </a:solidFill>
          <a:ln/>
        </p:spPr>
        <p:txBody>
          <a:bodyPr wrap="square" lIns="97242" tIns="71842" rIns="0" bIns="46442" rtlCol="0" anchor="t">
            <a:normAutofit/>
          </a:bodyPr>
          <a:lstStyle/>
          <a:p>
            <a:pPr marL="0" indent="0" algn="l">
              <a:lnSpc>
                <a:spcPts val="169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Módulo de métricas de vocabulario</a:t>
            </a:r>
            <a:endParaRPr lang="en-US" sz="1300" dirty="0"/>
          </a:p>
        </p:txBody>
      </p:sp>
      <p:sp>
        <p:nvSpPr>
          <p:cNvPr id="29" name="Text 23"/>
          <p:cNvSpPr/>
          <p:nvPr/>
        </p:nvSpPr>
        <p:spPr>
          <a:xfrm>
            <a:off x="4295775" y="4927997"/>
            <a:ext cx="2978150" cy="638770"/>
          </a:xfrm>
          <a:prstGeom prst="roundRect">
            <a:avLst>
              <a:gd name="adj" fmla="val 15409"/>
            </a:avLst>
          </a:prstGeom>
          <a:solidFill>
            <a:srgbClr val="FDFCF9"/>
          </a:solidFill>
          <a:ln w="6350">
            <a:solidFill>
              <a:srgbClr val="E2DDD2"/>
            </a:solidFill>
            <a:prstDash val="solid"/>
          </a:ln>
        </p:spPr>
        <p:txBody>
          <a:bodyPr wrap="square" lIns="101347" tIns="75947" rIns="19813" bIns="50547"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Fotos reales, rúbricas rápidas, indicadores PACI</a:t>
            </a:r>
            <a:endParaRPr lang="en-US" sz="1300" dirty="0"/>
          </a:p>
        </p:txBody>
      </p:sp>
      <p:pic>
        <p:nvPicPr>
          <p:cNvPr id="30" name="Image 4" descr="arrow-right"/>
          <p:cNvPicPr>
            <a:picLocks noChangeAspect="1"/>
          </p:cNvPicPr>
          <p:nvPr/>
        </p:nvPicPr>
        <p:blipFill>
          <a:blip r:embed="rId3"/>
          <a:srcRect/>
          <a:stretch/>
        </p:blipFill>
        <p:spPr>
          <a:xfrm>
            <a:off x="7378700" y="5158482"/>
            <a:ext cx="355600" cy="177800"/>
          </a:xfrm>
          <a:prstGeom prst="rect">
            <a:avLst/>
          </a:prstGeom>
        </p:spPr>
      </p:pic>
      <p:sp>
        <p:nvSpPr>
          <p:cNvPr id="31" name="Text 24"/>
          <p:cNvSpPr/>
          <p:nvPr/>
        </p:nvSpPr>
        <p:spPr>
          <a:xfrm>
            <a:off x="7835900" y="5038427"/>
            <a:ext cx="3543300" cy="417810"/>
          </a:xfrm>
          <a:prstGeom prst="roundRect">
            <a:avLst>
              <a:gd name="adj" fmla="val 24317"/>
            </a:avLst>
          </a:prstGeom>
          <a:solidFill>
            <a:srgbClr val="D8ECE8"/>
          </a:solidFill>
          <a:ln/>
        </p:spPr>
        <p:txBody>
          <a:bodyPr wrap="square" lIns="97242" tIns="71842" rIns="0" bIns="46442" rtlCol="0" anchor="t">
            <a:normAutofit/>
          </a:bodyPr>
          <a:lstStyle/>
          <a:p>
            <a:pPr marL="0" indent="0" algn="l">
              <a:lnSpc>
                <a:spcPts val="169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Incorporadas al backlog de producto</a:t>
            </a:r>
            <a:endParaRPr lang="en-US" sz="1300" dirty="0"/>
          </a:p>
        </p:txBody>
      </p:sp>
      <p:sp>
        <p:nvSpPr>
          <p:cNvPr id="32" name="Text 25"/>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33" name="Text 26"/>
          <p:cNvSpPr/>
          <p:nvPr/>
        </p:nvSpPr>
        <p:spPr>
          <a:xfrm>
            <a:off x="11136015" y="6243340"/>
            <a:ext cx="24318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1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PRODUCT VISION</a:t>
            </a:r>
            <a:endParaRPr lang="en-US" sz="1200" dirty="0"/>
          </a:p>
        </p:txBody>
      </p:sp>
      <p:sp>
        <p:nvSpPr>
          <p:cNvPr id="3" name="Text 1"/>
          <p:cNvSpPr>
            <a:spLocks noGrp="1"/>
          </p:cNvSpPr>
          <p:nvPr>
            <p:ph type="title"/>
          </p:nvPr>
        </p:nvSpPr>
        <p:spPr>
          <a:xfrm>
            <a:off x="812800" y="1026120"/>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Una herramienta para comunicar y hacer seguimiento</a:t>
            </a:r>
            <a:endParaRPr lang="en-US" sz="3000" dirty="0"/>
          </a:p>
        </p:txBody>
      </p:sp>
      <p:sp>
        <p:nvSpPr>
          <p:cNvPr id="4" name="Text 2"/>
          <p:cNvSpPr/>
          <p:nvPr/>
        </p:nvSpPr>
        <p:spPr>
          <a:xfrm>
            <a:off x="812800" y="1699220"/>
            <a:ext cx="981075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B38"/>
                </a:solidFill>
                <a:latin typeface="Atkinson Hyperlegible Next" pitchFamily="34" charset="0"/>
                <a:ea typeface="Atkinson Hyperlegible Next" pitchFamily="34" charset="-122"/>
                <a:cs typeface="Atkinson Hyperlegible Next" pitchFamily="34" charset="-120"/>
              </a:rPr>
              <a:t>Problema:</a:t>
            </a:r>
            <a:r>
              <a:rPr lang="en-US" sz="1500" dirty="0">
                <a:solidFill>
                  <a:srgbClr val="4C5A68"/>
                </a:solidFill>
                <a:latin typeface="Atkinson Hyperlegible Next" pitchFamily="34" charset="0"/>
                <a:ea typeface="Atkinson Hyperlegible Next" pitchFamily="34" charset="-122"/>
                <a:cs typeface="Atkinson Hyperlegible Next" pitchFamily="34" charset="-120"/>
              </a:rPr>
              <a:t> comunicación funcional limitada para estudiantes TEA y registro disperso en papel en los equipos PIE.</a:t>
            </a:r>
            <a:endParaRPr lang="en-US" sz="1500" dirty="0"/>
          </a:p>
        </p:txBody>
      </p:sp>
      <p:sp>
        <p:nvSpPr>
          <p:cNvPr id="5" name="Shape 3"/>
          <p:cNvSpPr/>
          <p:nvPr/>
        </p:nvSpPr>
        <p:spPr>
          <a:xfrm>
            <a:off x="812800" y="2486620"/>
            <a:ext cx="3386634" cy="1696541"/>
          </a:xfrm>
          <a:prstGeom prst="roundRect">
            <a:avLst>
              <a:gd name="adj" fmla="val 8983"/>
            </a:avLst>
          </a:prstGeom>
          <a:solidFill>
            <a:srgbClr val="F7F5F0"/>
          </a:solidFill>
          <a:ln/>
        </p:spPr>
        <p:txBody>
          <a:bodyPr/>
          <a:lstStyle/>
          <a:p>
            <a:endParaRPr lang="es-US"/>
          </a:p>
        </p:txBody>
      </p:sp>
      <p:pic>
        <p:nvPicPr>
          <p:cNvPr id="6" name="Image 0" descr="Chat"/>
          <p:cNvPicPr>
            <a:picLocks noChangeAspect="1"/>
          </p:cNvPicPr>
          <p:nvPr/>
        </p:nvPicPr>
        <p:blipFill>
          <a:blip r:embed="rId3"/>
          <a:srcRect/>
          <a:stretch/>
        </p:blipFill>
        <p:spPr>
          <a:xfrm>
            <a:off x="1041400" y="2715220"/>
            <a:ext cx="330200" cy="330200"/>
          </a:xfrm>
          <a:prstGeom prst="rect">
            <a:avLst/>
          </a:prstGeom>
        </p:spPr>
      </p:pic>
      <p:sp>
        <p:nvSpPr>
          <p:cNvPr id="7" name="Text 4"/>
          <p:cNvSpPr/>
          <p:nvPr/>
        </p:nvSpPr>
        <p:spPr>
          <a:xfrm>
            <a:off x="1041400" y="3147020"/>
            <a:ext cx="3017317"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D2B38"/>
                </a:solidFill>
                <a:latin typeface="Lexend" pitchFamily="34" charset="0"/>
                <a:ea typeface="Lexend" pitchFamily="34" charset="-122"/>
                <a:cs typeface="Lexend" pitchFamily="34" charset="-120"/>
              </a:rPr>
              <a:t>Niños y niñas con TEA</a:t>
            </a:r>
            <a:endParaRPr lang="en-US" sz="1600" dirty="0"/>
          </a:p>
        </p:txBody>
      </p:sp>
      <p:sp>
        <p:nvSpPr>
          <p:cNvPr id="8" name="Text 5"/>
          <p:cNvSpPr/>
          <p:nvPr/>
        </p:nvSpPr>
        <p:spPr>
          <a:xfrm>
            <a:off x="1041400" y="3492401"/>
            <a:ext cx="301731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C5A68"/>
                </a:solidFill>
                <a:latin typeface="Atkinson Hyperlegible Next" pitchFamily="34" charset="0"/>
                <a:ea typeface="Atkinson Hyperlegible Next" pitchFamily="34" charset="-122"/>
                <a:cs typeface="Atkinson Hyperlegible Next" pitchFamily="34" charset="-120"/>
              </a:rPr>
              <a:t>Arman frases con pictogramas y las escuchan en voz alta.</a:t>
            </a:r>
            <a:endParaRPr lang="en-US" sz="1300" dirty="0"/>
          </a:p>
        </p:txBody>
      </p:sp>
      <p:sp>
        <p:nvSpPr>
          <p:cNvPr id="9" name="Shape 6"/>
          <p:cNvSpPr/>
          <p:nvPr/>
        </p:nvSpPr>
        <p:spPr>
          <a:xfrm>
            <a:off x="4402634" y="2486620"/>
            <a:ext cx="3386634" cy="1696541"/>
          </a:xfrm>
          <a:prstGeom prst="roundRect">
            <a:avLst>
              <a:gd name="adj" fmla="val 8983"/>
            </a:avLst>
          </a:prstGeom>
          <a:solidFill>
            <a:srgbClr val="F7F5F0"/>
          </a:solidFill>
          <a:ln/>
        </p:spPr>
        <p:txBody>
          <a:bodyPr/>
          <a:lstStyle/>
          <a:p>
            <a:endParaRPr lang="es-US"/>
          </a:p>
        </p:txBody>
      </p:sp>
      <p:pic>
        <p:nvPicPr>
          <p:cNvPr id="10" name="Image 1" descr="Users"/>
          <p:cNvPicPr>
            <a:picLocks noChangeAspect="1"/>
          </p:cNvPicPr>
          <p:nvPr/>
        </p:nvPicPr>
        <p:blipFill>
          <a:blip r:embed="rId4"/>
          <a:srcRect/>
          <a:stretch/>
        </p:blipFill>
        <p:spPr>
          <a:xfrm>
            <a:off x="4631234" y="2715220"/>
            <a:ext cx="330200" cy="330200"/>
          </a:xfrm>
          <a:prstGeom prst="rect">
            <a:avLst/>
          </a:prstGeom>
        </p:spPr>
      </p:pic>
      <p:sp>
        <p:nvSpPr>
          <p:cNvPr id="11" name="Text 7"/>
          <p:cNvSpPr/>
          <p:nvPr/>
        </p:nvSpPr>
        <p:spPr>
          <a:xfrm>
            <a:off x="4631234" y="3147020"/>
            <a:ext cx="3158034"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D2B38"/>
                </a:solidFill>
                <a:latin typeface="Lexend" pitchFamily="34" charset="0"/>
                <a:ea typeface="Lexend" pitchFamily="34" charset="-122"/>
                <a:cs typeface="Lexend" pitchFamily="34" charset="-120"/>
              </a:rPr>
              <a:t>Profesionales PIE y docentes</a:t>
            </a:r>
            <a:endParaRPr lang="en-US" sz="1600" dirty="0"/>
          </a:p>
        </p:txBody>
      </p:sp>
      <p:sp>
        <p:nvSpPr>
          <p:cNvPr id="12" name="Text 8"/>
          <p:cNvSpPr/>
          <p:nvPr/>
        </p:nvSpPr>
        <p:spPr>
          <a:xfrm>
            <a:off x="4631234" y="3492401"/>
            <a:ext cx="301731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C5A68"/>
                </a:solidFill>
                <a:latin typeface="Atkinson Hyperlegible Next" pitchFamily="34" charset="0"/>
                <a:ea typeface="Atkinson Hyperlegible Next" pitchFamily="34" charset="-122"/>
                <a:cs typeface="Atkinson Hyperlegible Next" pitchFamily="34" charset="-120"/>
              </a:rPr>
              <a:t>Usan la bitácora, configuran rutinas y hacen seguimiento.</a:t>
            </a:r>
            <a:endParaRPr lang="en-US" sz="1300" dirty="0"/>
          </a:p>
        </p:txBody>
      </p:sp>
      <p:sp>
        <p:nvSpPr>
          <p:cNvPr id="13" name="Shape 9"/>
          <p:cNvSpPr/>
          <p:nvPr/>
        </p:nvSpPr>
        <p:spPr>
          <a:xfrm>
            <a:off x="7992467" y="2486620"/>
            <a:ext cx="3386634" cy="1696541"/>
          </a:xfrm>
          <a:prstGeom prst="roundRect">
            <a:avLst>
              <a:gd name="adj" fmla="val 8983"/>
            </a:avLst>
          </a:prstGeom>
          <a:solidFill>
            <a:srgbClr val="F7F5F0"/>
          </a:solidFill>
          <a:ln/>
        </p:spPr>
        <p:txBody>
          <a:bodyPr/>
          <a:lstStyle/>
          <a:p>
            <a:endParaRPr lang="es-US"/>
          </a:p>
        </p:txBody>
      </p:sp>
      <p:pic>
        <p:nvPicPr>
          <p:cNvPr id="14" name="Image 2" descr="Home"/>
          <p:cNvPicPr>
            <a:picLocks noChangeAspect="1"/>
          </p:cNvPicPr>
          <p:nvPr/>
        </p:nvPicPr>
        <p:blipFill>
          <a:blip r:embed="rId5"/>
          <a:srcRect/>
          <a:stretch/>
        </p:blipFill>
        <p:spPr>
          <a:xfrm>
            <a:off x="8221067" y="2715220"/>
            <a:ext cx="330200" cy="330200"/>
          </a:xfrm>
          <a:prstGeom prst="rect">
            <a:avLst/>
          </a:prstGeom>
        </p:spPr>
      </p:pic>
      <p:sp>
        <p:nvSpPr>
          <p:cNvPr id="15" name="Text 10"/>
          <p:cNvSpPr/>
          <p:nvPr/>
        </p:nvSpPr>
        <p:spPr>
          <a:xfrm>
            <a:off x="8221067" y="3147020"/>
            <a:ext cx="3017317"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D2B38"/>
                </a:solidFill>
                <a:latin typeface="Lexend" pitchFamily="34" charset="0"/>
                <a:ea typeface="Lexend" pitchFamily="34" charset="-122"/>
                <a:cs typeface="Lexend" pitchFamily="34" charset="-120"/>
              </a:rPr>
              <a:t>Apoderados</a:t>
            </a:r>
            <a:endParaRPr lang="en-US" sz="1600" dirty="0"/>
          </a:p>
        </p:txBody>
      </p:sp>
      <p:sp>
        <p:nvSpPr>
          <p:cNvPr id="16" name="Text 11"/>
          <p:cNvSpPr/>
          <p:nvPr/>
        </p:nvSpPr>
        <p:spPr>
          <a:xfrm>
            <a:off x="8221067" y="3492401"/>
            <a:ext cx="315803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C5A68"/>
                </a:solidFill>
                <a:latin typeface="Atkinson Hyperlegible Next" pitchFamily="34" charset="0"/>
                <a:ea typeface="Atkinson Hyperlegible Next" pitchFamily="34" charset="-122"/>
                <a:cs typeface="Atkinson Hyperlegible Next" pitchFamily="34" charset="-120"/>
              </a:rPr>
              <a:t>Consultan el progreso y la rutina diaria.</a:t>
            </a:r>
            <a:endParaRPr lang="en-US" sz="1300" dirty="0"/>
          </a:p>
        </p:txBody>
      </p:sp>
      <p:sp>
        <p:nvSpPr>
          <p:cNvPr id="17" name="Shape 12"/>
          <p:cNvSpPr/>
          <p:nvPr/>
        </p:nvSpPr>
        <p:spPr>
          <a:xfrm>
            <a:off x="812800" y="4437162"/>
            <a:ext cx="10566400" cy="1018381"/>
          </a:xfrm>
          <a:prstGeom prst="roundRect">
            <a:avLst>
              <a:gd name="adj" fmla="val 14965"/>
            </a:avLst>
          </a:prstGeom>
          <a:solidFill>
            <a:srgbClr val="1E3646"/>
          </a:solidFill>
          <a:ln/>
        </p:spPr>
        <p:txBody>
          <a:bodyPr/>
          <a:lstStyle/>
          <a:p>
            <a:endParaRPr lang="es-US"/>
          </a:p>
        </p:txBody>
      </p:sp>
      <p:sp>
        <p:nvSpPr>
          <p:cNvPr id="18" name="Text 13"/>
          <p:cNvSpPr/>
          <p:nvPr/>
        </p:nvSpPr>
        <p:spPr>
          <a:xfrm>
            <a:off x="1117600" y="4839692"/>
            <a:ext cx="1701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FD3C9"/>
                </a:solidFill>
                <a:latin typeface="Atkinson Hyperlegible Next" pitchFamily="34" charset="0"/>
                <a:ea typeface="Atkinson Hyperlegible Next" pitchFamily="34" charset="-122"/>
                <a:cs typeface="Atkinson Hyperlegible Next" pitchFamily="34" charset="-120"/>
              </a:rPr>
              <a:t>DIFERENCIADOR</a:t>
            </a:r>
            <a:endParaRPr lang="en-US" sz="1200" dirty="0"/>
          </a:p>
        </p:txBody>
      </p:sp>
      <p:sp>
        <p:nvSpPr>
          <p:cNvPr id="19" name="Text 14"/>
          <p:cNvSpPr/>
          <p:nvPr/>
        </p:nvSpPr>
        <p:spPr>
          <a:xfrm>
            <a:off x="3022600" y="4665762"/>
            <a:ext cx="8293354" cy="58658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F3EFE6"/>
                </a:solidFill>
                <a:latin typeface="Lexend" pitchFamily="34" charset="0"/>
                <a:ea typeface="Lexend" pitchFamily="34" charset="-122"/>
                <a:cs typeface="Lexend" pitchFamily="34" charset="-120"/>
              </a:rPr>
              <a:t>Comunicación e historial de seguimiento centralizados en un solo lugar, funcionando sin conexión.</a:t>
            </a:r>
            <a:endParaRPr lang="en-US" sz="1700" dirty="0"/>
          </a:p>
        </p:txBody>
      </p:sp>
      <p:sp>
        <p:nvSpPr>
          <p:cNvPr id="20" name="Text 15"/>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21" name="Text 16"/>
          <p:cNvSpPr/>
          <p:nvPr/>
        </p:nvSpPr>
        <p:spPr>
          <a:xfrm>
            <a:off x="11139984" y="6243340"/>
            <a:ext cx="23921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OBJETIVOS</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Objetivo general y objetivos específicos</a:t>
            </a:r>
            <a:endParaRPr lang="en-US" sz="3000" dirty="0"/>
          </a:p>
        </p:txBody>
      </p:sp>
      <p:sp>
        <p:nvSpPr>
          <p:cNvPr id="4" name="Shape 2"/>
          <p:cNvSpPr/>
          <p:nvPr/>
        </p:nvSpPr>
        <p:spPr>
          <a:xfrm>
            <a:off x="812800" y="1699220"/>
            <a:ext cx="10566400" cy="1496020"/>
          </a:xfrm>
          <a:prstGeom prst="roundRect">
            <a:avLst>
              <a:gd name="adj" fmla="val 10187"/>
            </a:avLst>
          </a:prstGeom>
          <a:solidFill>
            <a:srgbClr val="D8ECE8"/>
          </a:solidFill>
          <a:ln/>
        </p:spPr>
        <p:txBody>
          <a:bodyPr/>
          <a:lstStyle/>
          <a:p>
            <a:endParaRPr lang="es-US"/>
          </a:p>
        </p:txBody>
      </p:sp>
      <p:sp>
        <p:nvSpPr>
          <p:cNvPr id="5" name="Text 3"/>
          <p:cNvSpPr/>
          <p:nvPr/>
        </p:nvSpPr>
        <p:spPr>
          <a:xfrm>
            <a:off x="1066800" y="1902420"/>
            <a:ext cx="103601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OBJETIVO GENERAL</a:t>
            </a:r>
            <a:endParaRPr lang="en-US" sz="1200" dirty="0"/>
          </a:p>
        </p:txBody>
      </p:sp>
      <p:sp>
        <p:nvSpPr>
          <p:cNvPr id="6" name="Text 4"/>
          <p:cNvSpPr/>
          <p:nvPr/>
        </p:nvSpPr>
        <p:spPr>
          <a:xfrm>
            <a:off x="1066800" y="2191941"/>
            <a:ext cx="1036015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D2B38"/>
                </a:solidFill>
                <a:latin typeface="Atkinson Hyperlegible Next" pitchFamily="34" charset="0"/>
                <a:ea typeface="Atkinson Hyperlegible Next" pitchFamily="34" charset="-122"/>
                <a:cs typeface="Atkinson Hyperlegible Next" pitchFamily="34" charset="-120"/>
              </a:rPr>
              <a:t>Desarrollar una plataforma web accesible e integral para la gestión del PIE y el apoyo a niños TEA en la educación pública, combinando comunicación aumentativa con pictogramas ARASAAC y un sistema de seguimiento y bitácora profesional.</a:t>
            </a:r>
            <a:endParaRPr lang="en-US" sz="1500" dirty="0"/>
          </a:p>
        </p:txBody>
      </p:sp>
      <p:sp>
        <p:nvSpPr>
          <p:cNvPr id="7" name="Shape 5"/>
          <p:cNvSpPr/>
          <p:nvPr/>
        </p:nvSpPr>
        <p:spPr>
          <a:xfrm>
            <a:off x="815975" y="3452416"/>
            <a:ext cx="3414117" cy="954980"/>
          </a:xfrm>
          <a:prstGeom prst="roundRect">
            <a:avLst>
              <a:gd name="adj" fmla="val 12966"/>
            </a:avLst>
          </a:prstGeom>
          <a:solidFill>
            <a:srgbClr val="FDFCF9"/>
          </a:solidFill>
          <a:ln w="6350">
            <a:solidFill>
              <a:srgbClr val="E2DDD2"/>
            </a:solidFill>
            <a:prstDash val="solid"/>
          </a:ln>
        </p:spPr>
        <p:txBody>
          <a:bodyPr/>
          <a:lstStyle/>
          <a:p>
            <a:endParaRPr lang="es-US"/>
          </a:p>
        </p:txBody>
      </p:sp>
      <p:sp>
        <p:nvSpPr>
          <p:cNvPr id="8" name="Text 6"/>
          <p:cNvSpPr/>
          <p:nvPr/>
        </p:nvSpPr>
        <p:spPr>
          <a:xfrm>
            <a:off x="971550" y="3607991"/>
            <a:ext cx="355600" cy="66923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2A6F6A"/>
                </a:solidFill>
                <a:latin typeface="Lexend" pitchFamily="34" charset="0"/>
                <a:ea typeface="Lexend" pitchFamily="34" charset="-122"/>
                <a:cs typeface="Lexend" pitchFamily="34" charset="-120"/>
              </a:rPr>
              <a:t>1</a:t>
            </a:r>
            <a:endParaRPr lang="en-US" sz="2000" dirty="0"/>
          </a:p>
        </p:txBody>
      </p:sp>
      <p:sp>
        <p:nvSpPr>
          <p:cNvPr id="9" name="Text 7"/>
          <p:cNvSpPr/>
          <p:nvPr/>
        </p:nvSpPr>
        <p:spPr>
          <a:xfrm>
            <a:off x="1377950" y="3607991"/>
            <a:ext cx="2777464"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Diseñar el modelo arquitectónico y de datos, escalable y seguro</a:t>
            </a:r>
            <a:endParaRPr lang="en-US" sz="1300" dirty="0"/>
          </a:p>
        </p:txBody>
      </p:sp>
      <p:sp>
        <p:nvSpPr>
          <p:cNvPr id="10" name="Shape 8"/>
          <p:cNvSpPr/>
          <p:nvPr/>
        </p:nvSpPr>
        <p:spPr>
          <a:xfrm>
            <a:off x="4388842" y="3452416"/>
            <a:ext cx="3414216" cy="954980"/>
          </a:xfrm>
          <a:prstGeom prst="roundRect">
            <a:avLst>
              <a:gd name="adj" fmla="val 12966"/>
            </a:avLst>
          </a:prstGeom>
          <a:solidFill>
            <a:srgbClr val="FDFCF9"/>
          </a:solidFill>
          <a:ln w="6350">
            <a:solidFill>
              <a:srgbClr val="E2DDD2"/>
            </a:solidFill>
            <a:prstDash val="solid"/>
          </a:ln>
        </p:spPr>
        <p:txBody>
          <a:bodyPr/>
          <a:lstStyle/>
          <a:p>
            <a:endParaRPr lang="es-US"/>
          </a:p>
        </p:txBody>
      </p:sp>
      <p:sp>
        <p:nvSpPr>
          <p:cNvPr id="11" name="Text 9"/>
          <p:cNvSpPr/>
          <p:nvPr/>
        </p:nvSpPr>
        <p:spPr>
          <a:xfrm>
            <a:off x="4544417" y="3607991"/>
            <a:ext cx="355600" cy="66923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2A6F6A"/>
                </a:solidFill>
                <a:latin typeface="Lexend" pitchFamily="34" charset="0"/>
                <a:ea typeface="Lexend" pitchFamily="34" charset="-122"/>
                <a:cs typeface="Lexend" pitchFamily="34" charset="-120"/>
              </a:rPr>
              <a:t>2</a:t>
            </a:r>
            <a:endParaRPr lang="en-US" sz="2000" dirty="0"/>
          </a:p>
        </p:txBody>
      </p:sp>
      <p:sp>
        <p:nvSpPr>
          <p:cNvPr id="12" name="Text 10"/>
          <p:cNvSpPr/>
          <p:nvPr/>
        </p:nvSpPr>
        <p:spPr>
          <a:xfrm>
            <a:off x="4950817" y="3607991"/>
            <a:ext cx="2777566"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Desarrollar una interfaz accesible centrada en la inclusión</a:t>
            </a:r>
            <a:endParaRPr lang="en-US" sz="1300" dirty="0"/>
          </a:p>
        </p:txBody>
      </p:sp>
      <p:sp>
        <p:nvSpPr>
          <p:cNvPr id="13" name="Shape 11"/>
          <p:cNvSpPr/>
          <p:nvPr/>
        </p:nvSpPr>
        <p:spPr>
          <a:xfrm>
            <a:off x="7961809" y="3452416"/>
            <a:ext cx="3414216" cy="954980"/>
          </a:xfrm>
          <a:prstGeom prst="roundRect">
            <a:avLst>
              <a:gd name="adj" fmla="val 12966"/>
            </a:avLst>
          </a:prstGeom>
          <a:solidFill>
            <a:srgbClr val="FDFCF9"/>
          </a:solidFill>
          <a:ln w="6350">
            <a:solidFill>
              <a:srgbClr val="E2DDD2"/>
            </a:solidFill>
            <a:prstDash val="solid"/>
          </a:ln>
        </p:spPr>
        <p:txBody>
          <a:bodyPr/>
          <a:lstStyle/>
          <a:p>
            <a:endParaRPr lang="es-US"/>
          </a:p>
        </p:txBody>
      </p:sp>
      <p:sp>
        <p:nvSpPr>
          <p:cNvPr id="14" name="Text 12"/>
          <p:cNvSpPr/>
          <p:nvPr/>
        </p:nvSpPr>
        <p:spPr>
          <a:xfrm>
            <a:off x="8117384" y="3607991"/>
            <a:ext cx="355600" cy="66923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2A6F6A"/>
                </a:solidFill>
                <a:latin typeface="Lexend" pitchFamily="34" charset="0"/>
                <a:ea typeface="Lexend" pitchFamily="34" charset="-122"/>
                <a:cs typeface="Lexend" pitchFamily="34" charset="-120"/>
              </a:rPr>
              <a:t>3</a:t>
            </a:r>
            <a:endParaRPr lang="en-US" sz="2000" dirty="0"/>
          </a:p>
        </p:txBody>
      </p:sp>
      <p:sp>
        <p:nvSpPr>
          <p:cNvPr id="15" name="Text 13"/>
          <p:cNvSpPr/>
          <p:nvPr/>
        </p:nvSpPr>
        <p:spPr>
          <a:xfrm>
            <a:off x="8523784" y="3607991"/>
            <a:ext cx="2777566"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Integrar la API ARASAAC para frases, rutinas y regulación emocional</a:t>
            </a:r>
            <a:endParaRPr lang="en-US" sz="1300" dirty="0"/>
          </a:p>
        </p:txBody>
      </p:sp>
      <p:sp>
        <p:nvSpPr>
          <p:cNvPr id="16" name="Shape 14"/>
          <p:cNvSpPr/>
          <p:nvPr/>
        </p:nvSpPr>
        <p:spPr>
          <a:xfrm>
            <a:off x="815975" y="4566146"/>
            <a:ext cx="3414117" cy="740370"/>
          </a:xfrm>
          <a:prstGeom prst="roundRect">
            <a:avLst>
              <a:gd name="adj" fmla="val 16725"/>
            </a:avLst>
          </a:prstGeom>
          <a:solidFill>
            <a:srgbClr val="FDFCF9"/>
          </a:solidFill>
          <a:ln w="6350">
            <a:solidFill>
              <a:srgbClr val="E2DDD2"/>
            </a:solidFill>
            <a:prstDash val="solid"/>
          </a:ln>
        </p:spPr>
        <p:txBody>
          <a:bodyPr/>
          <a:lstStyle/>
          <a:p>
            <a:endParaRPr lang="es-US"/>
          </a:p>
        </p:txBody>
      </p:sp>
      <p:sp>
        <p:nvSpPr>
          <p:cNvPr id="17" name="Text 15"/>
          <p:cNvSpPr/>
          <p:nvPr/>
        </p:nvSpPr>
        <p:spPr>
          <a:xfrm>
            <a:off x="971550" y="4721721"/>
            <a:ext cx="355600" cy="45462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2A6F6A"/>
                </a:solidFill>
                <a:latin typeface="Lexend" pitchFamily="34" charset="0"/>
                <a:ea typeface="Lexend" pitchFamily="34" charset="-122"/>
                <a:cs typeface="Lexend" pitchFamily="34" charset="-120"/>
              </a:rPr>
              <a:t>4</a:t>
            </a:r>
            <a:endParaRPr lang="en-US" sz="2000" dirty="0"/>
          </a:p>
        </p:txBody>
      </p:sp>
      <p:sp>
        <p:nvSpPr>
          <p:cNvPr id="18" name="Text 16"/>
          <p:cNvSpPr/>
          <p:nvPr/>
        </p:nvSpPr>
        <p:spPr>
          <a:xfrm>
            <a:off x="1377950" y="4721721"/>
            <a:ext cx="2777464"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Programar la bitácora y las consultas para historial y reportes PIE</a:t>
            </a:r>
            <a:endParaRPr lang="en-US" sz="1300" dirty="0"/>
          </a:p>
        </p:txBody>
      </p:sp>
      <p:sp>
        <p:nvSpPr>
          <p:cNvPr id="19" name="Shape 17"/>
          <p:cNvSpPr/>
          <p:nvPr/>
        </p:nvSpPr>
        <p:spPr>
          <a:xfrm>
            <a:off x="4388842" y="4566146"/>
            <a:ext cx="3414216" cy="740370"/>
          </a:xfrm>
          <a:prstGeom prst="roundRect">
            <a:avLst>
              <a:gd name="adj" fmla="val 16725"/>
            </a:avLst>
          </a:prstGeom>
          <a:solidFill>
            <a:srgbClr val="FDFCF9"/>
          </a:solidFill>
          <a:ln w="6350">
            <a:solidFill>
              <a:srgbClr val="E2DDD2"/>
            </a:solidFill>
            <a:prstDash val="solid"/>
          </a:ln>
        </p:spPr>
        <p:txBody>
          <a:bodyPr/>
          <a:lstStyle/>
          <a:p>
            <a:endParaRPr lang="es-US"/>
          </a:p>
        </p:txBody>
      </p:sp>
      <p:sp>
        <p:nvSpPr>
          <p:cNvPr id="20" name="Text 18"/>
          <p:cNvSpPr/>
          <p:nvPr/>
        </p:nvSpPr>
        <p:spPr>
          <a:xfrm>
            <a:off x="4544417" y="4721721"/>
            <a:ext cx="355600" cy="45462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2A6F6A"/>
                </a:solidFill>
                <a:latin typeface="Lexend" pitchFamily="34" charset="0"/>
                <a:ea typeface="Lexend" pitchFamily="34" charset="-122"/>
                <a:cs typeface="Lexend" pitchFamily="34" charset="-120"/>
              </a:rPr>
              <a:t>5</a:t>
            </a:r>
            <a:endParaRPr lang="en-US" sz="2000" dirty="0"/>
          </a:p>
        </p:txBody>
      </p:sp>
      <p:sp>
        <p:nvSpPr>
          <p:cNvPr id="21" name="Text 19"/>
          <p:cNvSpPr/>
          <p:nvPr/>
        </p:nvSpPr>
        <p:spPr>
          <a:xfrm>
            <a:off x="4950817" y="4721721"/>
            <a:ext cx="2777566"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Implementar seguridad para los datos sensibles de menores</a:t>
            </a:r>
            <a:endParaRPr lang="en-US" sz="1300" dirty="0"/>
          </a:p>
        </p:txBody>
      </p:sp>
      <p:sp>
        <p:nvSpPr>
          <p:cNvPr id="22" name="Shape 20"/>
          <p:cNvSpPr/>
          <p:nvPr/>
        </p:nvSpPr>
        <p:spPr>
          <a:xfrm>
            <a:off x="7961809" y="4566146"/>
            <a:ext cx="3414216" cy="740370"/>
          </a:xfrm>
          <a:prstGeom prst="roundRect">
            <a:avLst>
              <a:gd name="adj" fmla="val 16725"/>
            </a:avLst>
          </a:prstGeom>
          <a:solidFill>
            <a:srgbClr val="FDFCF9"/>
          </a:solidFill>
          <a:ln w="6350">
            <a:solidFill>
              <a:srgbClr val="E2DDD2"/>
            </a:solidFill>
            <a:prstDash val="solid"/>
          </a:ln>
        </p:spPr>
        <p:txBody>
          <a:bodyPr/>
          <a:lstStyle/>
          <a:p>
            <a:endParaRPr lang="es-US"/>
          </a:p>
        </p:txBody>
      </p:sp>
      <p:sp>
        <p:nvSpPr>
          <p:cNvPr id="23" name="Text 21"/>
          <p:cNvSpPr/>
          <p:nvPr/>
        </p:nvSpPr>
        <p:spPr>
          <a:xfrm>
            <a:off x="8117384" y="4721721"/>
            <a:ext cx="355600" cy="45462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2A6F6A"/>
                </a:solidFill>
                <a:latin typeface="Lexend" pitchFamily="34" charset="0"/>
                <a:ea typeface="Lexend" pitchFamily="34" charset="-122"/>
                <a:cs typeface="Lexend" pitchFamily="34" charset="-120"/>
              </a:rPr>
              <a:t>6</a:t>
            </a:r>
            <a:endParaRPr lang="en-US" sz="2000" dirty="0"/>
          </a:p>
        </p:txBody>
      </p:sp>
      <p:sp>
        <p:nvSpPr>
          <p:cNvPr id="24" name="Text 22"/>
          <p:cNvSpPr/>
          <p:nvPr/>
        </p:nvSpPr>
        <p:spPr>
          <a:xfrm>
            <a:off x="8523784" y="4721721"/>
            <a:ext cx="2777566"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Ejecutar pruebas de calidad de software (QA)</a:t>
            </a:r>
            <a:endParaRPr lang="en-US" sz="1300" dirty="0"/>
          </a:p>
        </p:txBody>
      </p:sp>
      <p:sp>
        <p:nvSpPr>
          <p:cNvPr id="25" name="Text 23"/>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26" name="Text 24"/>
          <p:cNvSpPr/>
          <p:nvPr/>
        </p:nvSpPr>
        <p:spPr>
          <a:xfrm>
            <a:off x="11138495" y="6243340"/>
            <a:ext cx="24070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METODOLOGÍA</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Scrum en Jira</a:t>
            </a:r>
            <a:endParaRPr lang="en-US" sz="3000" dirty="0"/>
          </a:p>
        </p:txBody>
      </p:sp>
      <p:sp>
        <p:nvSpPr>
          <p:cNvPr id="4" name="Text 2"/>
          <p:cNvSpPr/>
          <p:nvPr/>
        </p:nvSpPr>
        <p:spPr>
          <a:xfrm>
            <a:off x="812800" y="1496020"/>
            <a:ext cx="498788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C5A68"/>
                </a:solidFill>
                <a:latin typeface="Atkinson Hyperlegible Next" pitchFamily="34" charset="0"/>
                <a:ea typeface="Atkinson Hyperlegible Next" pitchFamily="34" charset="-122"/>
                <a:cs typeface="Atkinson Hyperlegible Next" pitchFamily="34" charset="-120"/>
              </a:rPr>
              <a:t>8 sprints de 2 semanas · 12 de agosto – 25 de noviembre</a:t>
            </a:r>
            <a:endParaRPr lang="en-US" sz="1300" dirty="0"/>
          </a:p>
        </p:txBody>
      </p:sp>
      <p:sp>
        <p:nvSpPr>
          <p:cNvPr id="5" name="Shape 3"/>
          <p:cNvSpPr/>
          <p:nvPr/>
        </p:nvSpPr>
        <p:spPr>
          <a:xfrm>
            <a:off x="812800" y="1930301"/>
            <a:ext cx="3136900" cy="812602"/>
          </a:xfrm>
          <a:prstGeom prst="roundRect">
            <a:avLst>
              <a:gd name="adj" fmla="val 12503"/>
            </a:avLst>
          </a:prstGeom>
          <a:solidFill>
            <a:srgbClr val="D8ECE8"/>
          </a:solidFill>
          <a:ln/>
        </p:spPr>
        <p:txBody>
          <a:bodyPr/>
          <a:lstStyle/>
          <a:p>
            <a:endParaRPr lang="es-US"/>
          </a:p>
        </p:txBody>
      </p:sp>
      <p:sp>
        <p:nvSpPr>
          <p:cNvPr id="6" name="Text 4"/>
          <p:cNvSpPr/>
          <p:nvPr/>
        </p:nvSpPr>
        <p:spPr>
          <a:xfrm>
            <a:off x="939800" y="2019201"/>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S1</a:t>
            </a:r>
            <a:endParaRPr lang="en-US" sz="1200" dirty="0"/>
          </a:p>
        </p:txBody>
      </p:sp>
      <p:sp>
        <p:nvSpPr>
          <p:cNvPr id="7" name="Text 5"/>
          <p:cNvSpPr/>
          <p:nvPr/>
        </p:nvSpPr>
        <p:spPr>
          <a:xfrm>
            <a:off x="939800" y="2257921"/>
            <a:ext cx="296938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Planificación, requerimientos y MER</a:t>
            </a:r>
            <a:endParaRPr lang="en-US" sz="1200" dirty="0"/>
          </a:p>
        </p:txBody>
      </p:sp>
      <p:sp>
        <p:nvSpPr>
          <p:cNvPr id="8" name="Shape 6"/>
          <p:cNvSpPr/>
          <p:nvPr/>
        </p:nvSpPr>
        <p:spPr>
          <a:xfrm>
            <a:off x="4025900" y="1930301"/>
            <a:ext cx="3136900" cy="812602"/>
          </a:xfrm>
          <a:prstGeom prst="roundRect">
            <a:avLst>
              <a:gd name="adj" fmla="val 12503"/>
            </a:avLst>
          </a:prstGeom>
          <a:solidFill>
            <a:srgbClr val="D8ECE8"/>
          </a:solidFill>
          <a:ln/>
        </p:spPr>
        <p:txBody>
          <a:bodyPr/>
          <a:lstStyle/>
          <a:p>
            <a:endParaRPr lang="es-US"/>
          </a:p>
        </p:txBody>
      </p:sp>
      <p:sp>
        <p:nvSpPr>
          <p:cNvPr id="9" name="Text 7"/>
          <p:cNvSpPr/>
          <p:nvPr/>
        </p:nvSpPr>
        <p:spPr>
          <a:xfrm>
            <a:off x="4152900" y="2019201"/>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S2</a:t>
            </a:r>
            <a:endParaRPr lang="en-US" sz="1200" dirty="0"/>
          </a:p>
        </p:txBody>
      </p:sp>
      <p:sp>
        <p:nvSpPr>
          <p:cNvPr id="10" name="Text 8"/>
          <p:cNvSpPr/>
          <p:nvPr/>
        </p:nvSpPr>
        <p:spPr>
          <a:xfrm>
            <a:off x="4152900" y="2257921"/>
            <a:ext cx="2969387"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Arquitectura, prototipo, plan de pruebas y login</a:t>
            </a:r>
            <a:endParaRPr lang="en-US" sz="1200" dirty="0"/>
          </a:p>
        </p:txBody>
      </p:sp>
      <p:sp>
        <p:nvSpPr>
          <p:cNvPr id="11" name="Shape 9"/>
          <p:cNvSpPr/>
          <p:nvPr/>
        </p:nvSpPr>
        <p:spPr>
          <a:xfrm>
            <a:off x="812800" y="2819102"/>
            <a:ext cx="3136900" cy="812602"/>
          </a:xfrm>
          <a:prstGeom prst="roundRect">
            <a:avLst>
              <a:gd name="adj" fmla="val 12503"/>
            </a:avLst>
          </a:prstGeom>
          <a:solidFill>
            <a:srgbClr val="DCE7F2"/>
          </a:solidFill>
          <a:ln/>
        </p:spPr>
        <p:txBody>
          <a:bodyPr/>
          <a:lstStyle/>
          <a:p>
            <a:endParaRPr lang="es-US"/>
          </a:p>
        </p:txBody>
      </p:sp>
      <p:sp>
        <p:nvSpPr>
          <p:cNvPr id="12" name="Text 10"/>
          <p:cNvSpPr/>
          <p:nvPr/>
        </p:nvSpPr>
        <p:spPr>
          <a:xfrm>
            <a:off x="939800" y="2908002"/>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480"/>
                </a:solidFill>
                <a:latin typeface="Atkinson Hyperlegible Next" pitchFamily="34" charset="0"/>
                <a:ea typeface="Atkinson Hyperlegible Next" pitchFamily="34" charset="-122"/>
                <a:cs typeface="Atkinson Hyperlegible Next" pitchFamily="34" charset="-120"/>
              </a:rPr>
              <a:t>S3</a:t>
            </a:r>
            <a:endParaRPr lang="en-US" sz="1200" dirty="0"/>
          </a:p>
        </p:txBody>
      </p:sp>
      <p:sp>
        <p:nvSpPr>
          <p:cNvPr id="13" name="Text 11"/>
          <p:cNvSpPr/>
          <p:nvPr/>
        </p:nvSpPr>
        <p:spPr>
          <a:xfrm>
            <a:off x="939800" y="3146723"/>
            <a:ext cx="296938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Roles, perfiles, ARASAAC y tablero</a:t>
            </a:r>
            <a:endParaRPr lang="en-US" sz="1200" dirty="0"/>
          </a:p>
        </p:txBody>
      </p:sp>
      <p:sp>
        <p:nvSpPr>
          <p:cNvPr id="14" name="Shape 12"/>
          <p:cNvSpPr/>
          <p:nvPr/>
        </p:nvSpPr>
        <p:spPr>
          <a:xfrm>
            <a:off x="4025900" y="2819102"/>
            <a:ext cx="3136900" cy="812602"/>
          </a:xfrm>
          <a:prstGeom prst="roundRect">
            <a:avLst>
              <a:gd name="adj" fmla="val 12503"/>
            </a:avLst>
          </a:prstGeom>
          <a:solidFill>
            <a:srgbClr val="DCE7F2"/>
          </a:solidFill>
          <a:ln/>
        </p:spPr>
        <p:txBody>
          <a:bodyPr/>
          <a:lstStyle/>
          <a:p>
            <a:endParaRPr lang="es-US"/>
          </a:p>
        </p:txBody>
      </p:sp>
      <p:sp>
        <p:nvSpPr>
          <p:cNvPr id="15" name="Text 13"/>
          <p:cNvSpPr/>
          <p:nvPr/>
        </p:nvSpPr>
        <p:spPr>
          <a:xfrm>
            <a:off x="4152900" y="2908002"/>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480"/>
                </a:solidFill>
                <a:latin typeface="Atkinson Hyperlegible Next" pitchFamily="34" charset="0"/>
                <a:ea typeface="Atkinson Hyperlegible Next" pitchFamily="34" charset="-122"/>
                <a:cs typeface="Atkinson Hyperlegible Next" pitchFamily="34" charset="-120"/>
              </a:rPr>
              <a:t>S4</a:t>
            </a:r>
            <a:endParaRPr lang="en-US" sz="1200" dirty="0"/>
          </a:p>
        </p:txBody>
      </p:sp>
      <p:sp>
        <p:nvSpPr>
          <p:cNvPr id="16" name="Text 14"/>
          <p:cNvSpPr/>
          <p:nvPr/>
        </p:nvSpPr>
        <p:spPr>
          <a:xfrm>
            <a:off x="4152900" y="3146723"/>
            <a:ext cx="2969387"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Frases, personalización, emociones, rutinas e inicio de bitácora</a:t>
            </a:r>
            <a:endParaRPr lang="en-US" sz="1200" dirty="0"/>
          </a:p>
        </p:txBody>
      </p:sp>
      <p:sp>
        <p:nvSpPr>
          <p:cNvPr id="17" name="Shape 15"/>
          <p:cNvSpPr/>
          <p:nvPr/>
        </p:nvSpPr>
        <p:spPr>
          <a:xfrm>
            <a:off x="812800" y="3707904"/>
            <a:ext cx="3136900" cy="812602"/>
          </a:xfrm>
          <a:prstGeom prst="roundRect">
            <a:avLst>
              <a:gd name="adj" fmla="val 12503"/>
            </a:avLst>
          </a:prstGeom>
          <a:solidFill>
            <a:srgbClr val="EFE4D2"/>
          </a:solidFill>
          <a:ln/>
        </p:spPr>
        <p:txBody>
          <a:bodyPr/>
          <a:lstStyle/>
          <a:p>
            <a:endParaRPr lang="es-US"/>
          </a:p>
        </p:txBody>
      </p:sp>
      <p:sp>
        <p:nvSpPr>
          <p:cNvPr id="18" name="Text 16"/>
          <p:cNvSpPr/>
          <p:nvPr/>
        </p:nvSpPr>
        <p:spPr>
          <a:xfrm>
            <a:off x="939800" y="3796804"/>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4F24"/>
                </a:solidFill>
                <a:latin typeface="Atkinson Hyperlegible Next" pitchFamily="34" charset="0"/>
                <a:ea typeface="Atkinson Hyperlegible Next" pitchFamily="34" charset="-122"/>
                <a:cs typeface="Atkinson Hyperlegible Next" pitchFamily="34" charset="-120"/>
              </a:rPr>
              <a:t>S5</a:t>
            </a:r>
            <a:endParaRPr lang="en-US" sz="1200" dirty="0"/>
          </a:p>
        </p:txBody>
      </p:sp>
      <p:sp>
        <p:nvSpPr>
          <p:cNvPr id="19" name="Text 17"/>
          <p:cNvSpPr/>
          <p:nvPr/>
        </p:nvSpPr>
        <p:spPr>
          <a:xfrm>
            <a:off x="939800" y="4035524"/>
            <a:ext cx="2969387"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Historial, reportes, cifrado y validación de entradas</a:t>
            </a:r>
            <a:endParaRPr lang="en-US" sz="1200" dirty="0"/>
          </a:p>
        </p:txBody>
      </p:sp>
      <p:sp>
        <p:nvSpPr>
          <p:cNvPr id="20" name="Shape 18"/>
          <p:cNvSpPr/>
          <p:nvPr/>
        </p:nvSpPr>
        <p:spPr>
          <a:xfrm>
            <a:off x="4025900" y="3707904"/>
            <a:ext cx="3136900" cy="812602"/>
          </a:xfrm>
          <a:prstGeom prst="roundRect">
            <a:avLst>
              <a:gd name="adj" fmla="val 12503"/>
            </a:avLst>
          </a:prstGeom>
          <a:solidFill>
            <a:srgbClr val="EFE4D2"/>
          </a:solidFill>
          <a:ln/>
        </p:spPr>
        <p:txBody>
          <a:bodyPr/>
          <a:lstStyle/>
          <a:p>
            <a:endParaRPr lang="es-US"/>
          </a:p>
        </p:txBody>
      </p:sp>
      <p:sp>
        <p:nvSpPr>
          <p:cNvPr id="21" name="Text 19"/>
          <p:cNvSpPr/>
          <p:nvPr/>
        </p:nvSpPr>
        <p:spPr>
          <a:xfrm>
            <a:off x="4152900" y="3796804"/>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4F24"/>
                </a:solidFill>
                <a:latin typeface="Atkinson Hyperlegible Next" pitchFamily="34" charset="0"/>
                <a:ea typeface="Atkinson Hyperlegible Next" pitchFamily="34" charset="-122"/>
                <a:cs typeface="Atkinson Hyperlegible Next" pitchFamily="34" charset="-120"/>
              </a:rPr>
              <a:t>S6</a:t>
            </a:r>
            <a:endParaRPr lang="en-US" sz="1200" dirty="0"/>
          </a:p>
        </p:txBody>
      </p:sp>
      <p:sp>
        <p:nvSpPr>
          <p:cNvPr id="22" name="Text 20"/>
          <p:cNvSpPr/>
          <p:nvPr/>
        </p:nvSpPr>
        <p:spPr>
          <a:xfrm>
            <a:off x="4152900" y="4035524"/>
            <a:ext cx="296938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OWASP, usabilidad y Docker/producción</a:t>
            </a:r>
            <a:endParaRPr lang="en-US" sz="1200" dirty="0"/>
          </a:p>
        </p:txBody>
      </p:sp>
      <p:sp>
        <p:nvSpPr>
          <p:cNvPr id="23" name="Shape 21"/>
          <p:cNvSpPr/>
          <p:nvPr/>
        </p:nvSpPr>
        <p:spPr>
          <a:xfrm>
            <a:off x="812800" y="4596705"/>
            <a:ext cx="3136900" cy="812602"/>
          </a:xfrm>
          <a:prstGeom prst="roundRect">
            <a:avLst>
              <a:gd name="adj" fmla="val 12503"/>
            </a:avLst>
          </a:prstGeom>
          <a:solidFill>
            <a:srgbClr val="E6E9EC"/>
          </a:solidFill>
          <a:ln/>
        </p:spPr>
        <p:txBody>
          <a:bodyPr/>
          <a:lstStyle/>
          <a:p>
            <a:endParaRPr lang="es-US"/>
          </a:p>
        </p:txBody>
      </p:sp>
      <p:sp>
        <p:nvSpPr>
          <p:cNvPr id="24" name="Text 22"/>
          <p:cNvSpPr/>
          <p:nvPr/>
        </p:nvSpPr>
        <p:spPr>
          <a:xfrm>
            <a:off x="939800" y="4685605"/>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6"/>
                </a:solidFill>
                <a:latin typeface="Atkinson Hyperlegible Next" pitchFamily="34" charset="0"/>
                <a:ea typeface="Atkinson Hyperlegible Next" pitchFamily="34" charset="-122"/>
                <a:cs typeface="Atkinson Hyperlegible Next" pitchFamily="34" charset="-120"/>
              </a:rPr>
              <a:t>S7</a:t>
            </a:r>
            <a:endParaRPr lang="en-US" sz="1200" dirty="0"/>
          </a:p>
        </p:txBody>
      </p:sp>
      <p:sp>
        <p:nvSpPr>
          <p:cNvPr id="25" name="Text 23"/>
          <p:cNvSpPr/>
          <p:nvPr/>
        </p:nvSpPr>
        <p:spPr>
          <a:xfrm>
            <a:off x="939800" y="4924326"/>
            <a:ext cx="2969387"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Rendimiento, informe QA, demo y manuales</a:t>
            </a:r>
            <a:endParaRPr lang="en-US" sz="1200" dirty="0"/>
          </a:p>
        </p:txBody>
      </p:sp>
      <p:sp>
        <p:nvSpPr>
          <p:cNvPr id="26" name="Shape 24"/>
          <p:cNvSpPr/>
          <p:nvPr/>
        </p:nvSpPr>
        <p:spPr>
          <a:xfrm>
            <a:off x="4025900" y="4596705"/>
            <a:ext cx="3136900" cy="812602"/>
          </a:xfrm>
          <a:prstGeom prst="roundRect">
            <a:avLst>
              <a:gd name="adj" fmla="val 12503"/>
            </a:avLst>
          </a:prstGeom>
          <a:solidFill>
            <a:srgbClr val="E6E9EC"/>
          </a:solidFill>
          <a:ln/>
        </p:spPr>
        <p:txBody>
          <a:bodyPr/>
          <a:lstStyle/>
          <a:p>
            <a:endParaRPr lang="es-US"/>
          </a:p>
        </p:txBody>
      </p:sp>
      <p:sp>
        <p:nvSpPr>
          <p:cNvPr id="27" name="Text 25"/>
          <p:cNvSpPr/>
          <p:nvPr/>
        </p:nvSpPr>
        <p:spPr>
          <a:xfrm>
            <a:off x="4152900" y="4685605"/>
            <a:ext cx="29693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F4A56"/>
                </a:solidFill>
                <a:latin typeface="Atkinson Hyperlegible Next" pitchFamily="34" charset="0"/>
                <a:ea typeface="Atkinson Hyperlegible Next" pitchFamily="34" charset="-122"/>
                <a:cs typeface="Atkinson Hyperlegible Next" pitchFamily="34" charset="-120"/>
              </a:rPr>
              <a:t>S8</a:t>
            </a:r>
            <a:endParaRPr lang="en-US" sz="1200" dirty="0"/>
          </a:p>
        </p:txBody>
      </p:sp>
      <p:sp>
        <p:nvSpPr>
          <p:cNvPr id="28" name="Text 26"/>
          <p:cNvSpPr/>
          <p:nvPr/>
        </p:nvSpPr>
        <p:spPr>
          <a:xfrm>
            <a:off x="4152900" y="4924326"/>
            <a:ext cx="2969387"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Informe final y defensa</a:t>
            </a:r>
            <a:endParaRPr lang="en-US" sz="1200" dirty="0"/>
          </a:p>
        </p:txBody>
      </p:sp>
      <p:sp>
        <p:nvSpPr>
          <p:cNvPr id="29" name="Shape 27"/>
          <p:cNvSpPr/>
          <p:nvPr/>
        </p:nvSpPr>
        <p:spPr>
          <a:xfrm>
            <a:off x="7467600" y="1930301"/>
            <a:ext cx="3911600" cy="2658765"/>
          </a:xfrm>
          <a:prstGeom prst="roundRect">
            <a:avLst>
              <a:gd name="adj" fmla="val 5732"/>
            </a:avLst>
          </a:prstGeom>
          <a:solidFill>
            <a:srgbClr val="1E3646"/>
          </a:solidFill>
          <a:ln/>
        </p:spPr>
        <p:txBody>
          <a:bodyPr/>
          <a:lstStyle/>
          <a:p>
            <a:endParaRPr lang="es-US"/>
          </a:p>
        </p:txBody>
      </p:sp>
      <p:sp>
        <p:nvSpPr>
          <p:cNvPr id="30" name="Text 28"/>
          <p:cNvSpPr/>
          <p:nvPr/>
        </p:nvSpPr>
        <p:spPr>
          <a:xfrm>
            <a:off x="7696200" y="2133501"/>
            <a:ext cx="3558032"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F3EFE6"/>
                </a:solidFill>
                <a:latin typeface="Lexend" pitchFamily="34" charset="0"/>
                <a:ea typeface="Lexend" pitchFamily="34" charset="-122"/>
                <a:cs typeface="Lexend" pitchFamily="34" charset="-120"/>
              </a:rPr>
              <a:t>Definition of Done</a:t>
            </a:r>
            <a:endParaRPr lang="en-US" sz="1600" dirty="0"/>
          </a:p>
        </p:txBody>
      </p:sp>
      <p:pic>
        <p:nvPicPr>
          <p:cNvPr id="31" name="Image 0" descr="Check"/>
          <p:cNvPicPr>
            <a:picLocks noChangeAspect="1"/>
          </p:cNvPicPr>
          <p:nvPr/>
        </p:nvPicPr>
        <p:blipFill>
          <a:blip r:embed="rId3"/>
          <a:srcRect/>
          <a:stretch/>
        </p:blipFill>
        <p:spPr>
          <a:xfrm>
            <a:off x="7696200" y="2466181"/>
            <a:ext cx="177800" cy="177800"/>
          </a:xfrm>
          <a:prstGeom prst="rect">
            <a:avLst/>
          </a:prstGeom>
        </p:spPr>
      </p:pic>
      <p:sp>
        <p:nvSpPr>
          <p:cNvPr id="32" name="Text 29"/>
          <p:cNvSpPr/>
          <p:nvPr/>
        </p:nvSpPr>
        <p:spPr>
          <a:xfrm>
            <a:off x="7962900" y="2466181"/>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Código revisado por otro integrante</a:t>
            </a:r>
            <a:endParaRPr lang="en-US" sz="1200" dirty="0"/>
          </a:p>
        </p:txBody>
      </p:sp>
      <p:pic>
        <p:nvPicPr>
          <p:cNvPr id="33" name="Image 1" descr="Check"/>
          <p:cNvPicPr>
            <a:picLocks noChangeAspect="1"/>
          </p:cNvPicPr>
          <p:nvPr/>
        </p:nvPicPr>
        <p:blipFill>
          <a:blip r:embed="rId3"/>
          <a:srcRect/>
          <a:stretch/>
        </p:blipFill>
        <p:spPr>
          <a:xfrm>
            <a:off x="7696200" y="2753122"/>
            <a:ext cx="177800" cy="177800"/>
          </a:xfrm>
          <a:prstGeom prst="rect">
            <a:avLst/>
          </a:prstGeom>
        </p:spPr>
      </p:pic>
      <p:sp>
        <p:nvSpPr>
          <p:cNvPr id="34" name="Text 30"/>
          <p:cNvSpPr/>
          <p:nvPr/>
        </p:nvSpPr>
        <p:spPr>
          <a:xfrm>
            <a:off x="7962900" y="2753122"/>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WCAG AA en contraste y tamaño táctil</a:t>
            </a:r>
            <a:endParaRPr lang="en-US" sz="1200" dirty="0"/>
          </a:p>
        </p:txBody>
      </p:sp>
      <p:pic>
        <p:nvPicPr>
          <p:cNvPr id="35" name="Image 2" descr="Check"/>
          <p:cNvPicPr>
            <a:picLocks noChangeAspect="1"/>
          </p:cNvPicPr>
          <p:nvPr/>
        </p:nvPicPr>
        <p:blipFill>
          <a:blip r:embed="rId3"/>
          <a:srcRect/>
          <a:stretch/>
        </p:blipFill>
        <p:spPr>
          <a:xfrm>
            <a:off x="7696200" y="3040063"/>
            <a:ext cx="177800" cy="177800"/>
          </a:xfrm>
          <a:prstGeom prst="rect">
            <a:avLst/>
          </a:prstGeom>
        </p:spPr>
      </p:pic>
      <p:sp>
        <p:nvSpPr>
          <p:cNvPr id="36" name="Text 31"/>
          <p:cNvSpPr/>
          <p:nvPr/>
        </p:nvSpPr>
        <p:spPr>
          <a:xfrm>
            <a:off x="7962900" y="3040063"/>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Probado en tablets de gama baja</a:t>
            </a:r>
            <a:endParaRPr lang="en-US" sz="1200" dirty="0"/>
          </a:p>
        </p:txBody>
      </p:sp>
      <p:pic>
        <p:nvPicPr>
          <p:cNvPr id="37" name="Image 3" descr="Check"/>
          <p:cNvPicPr>
            <a:picLocks noChangeAspect="1"/>
          </p:cNvPicPr>
          <p:nvPr/>
        </p:nvPicPr>
        <p:blipFill>
          <a:blip r:embed="rId3"/>
          <a:srcRect/>
          <a:stretch/>
        </p:blipFill>
        <p:spPr>
          <a:xfrm>
            <a:off x="7696200" y="3327003"/>
            <a:ext cx="177800" cy="177800"/>
          </a:xfrm>
          <a:prstGeom prst="rect">
            <a:avLst/>
          </a:prstGeom>
        </p:spPr>
      </p:pic>
      <p:sp>
        <p:nvSpPr>
          <p:cNvPr id="38" name="Text 32"/>
          <p:cNvSpPr/>
          <p:nvPr/>
        </p:nvSpPr>
        <p:spPr>
          <a:xfrm>
            <a:off x="7962900" y="3327003"/>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Funciona offline si depende de ARASAAC</a:t>
            </a:r>
            <a:endParaRPr lang="en-US" sz="1200" dirty="0"/>
          </a:p>
        </p:txBody>
      </p:sp>
      <p:pic>
        <p:nvPicPr>
          <p:cNvPr id="39" name="Image 4" descr="Check"/>
          <p:cNvPicPr>
            <a:picLocks noChangeAspect="1"/>
          </p:cNvPicPr>
          <p:nvPr/>
        </p:nvPicPr>
        <p:blipFill>
          <a:blip r:embed="rId3"/>
          <a:srcRect/>
          <a:stretch/>
        </p:blipFill>
        <p:spPr>
          <a:xfrm>
            <a:off x="7696200" y="3613944"/>
            <a:ext cx="177800" cy="177800"/>
          </a:xfrm>
          <a:prstGeom prst="rect">
            <a:avLst/>
          </a:prstGeom>
        </p:spPr>
      </p:pic>
      <p:sp>
        <p:nvSpPr>
          <p:cNvPr id="40" name="Text 33"/>
          <p:cNvSpPr/>
          <p:nvPr/>
        </p:nvSpPr>
        <p:spPr>
          <a:xfrm>
            <a:off x="7962900" y="3613944"/>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Cifrado y control por rol en datos sensibles</a:t>
            </a:r>
            <a:endParaRPr lang="en-US" sz="1200" dirty="0"/>
          </a:p>
        </p:txBody>
      </p:sp>
      <p:pic>
        <p:nvPicPr>
          <p:cNvPr id="41" name="Image 5" descr="Check"/>
          <p:cNvPicPr>
            <a:picLocks noChangeAspect="1"/>
          </p:cNvPicPr>
          <p:nvPr/>
        </p:nvPicPr>
        <p:blipFill>
          <a:blip r:embed="rId3"/>
          <a:srcRect/>
          <a:stretch/>
        </p:blipFill>
        <p:spPr>
          <a:xfrm>
            <a:off x="7696200" y="3900884"/>
            <a:ext cx="177800" cy="177800"/>
          </a:xfrm>
          <a:prstGeom prst="rect">
            <a:avLst/>
          </a:prstGeom>
        </p:spPr>
      </p:pic>
      <p:sp>
        <p:nvSpPr>
          <p:cNvPr id="42" name="Text 34"/>
          <p:cNvSpPr/>
          <p:nvPr/>
        </p:nvSpPr>
        <p:spPr>
          <a:xfrm>
            <a:off x="7962900" y="3900884"/>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Sin errores críticos en consola</a:t>
            </a:r>
            <a:endParaRPr lang="en-US" sz="1200" dirty="0"/>
          </a:p>
        </p:txBody>
      </p:sp>
      <p:pic>
        <p:nvPicPr>
          <p:cNvPr id="43" name="Image 6" descr="Check"/>
          <p:cNvPicPr>
            <a:picLocks noChangeAspect="1"/>
          </p:cNvPicPr>
          <p:nvPr/>
        </p:nvPicPr>
        <p:blipFill>
          <a:blip r:embed="rId3"/>
          <a:srcRect/>
          <a:stretch/>
        </p:blipFill>
        <p:spPr>
          <a:xfrm>
            <a:off x="7696200" y="4187825"/>
            <a:ext cx="177800" cy="177800"/>
          </a:xfrm>
          <a:prstGeom prst="rect">
            <a:avLst/>
          </a:prstGeom>
        </p:spPr>
      </p:pic>
      <p:sp>
        <p:nvSpPr>
          <p:cNvPr id="44" name="Text 35"/>
          <p:cNvSpPr/>
          <p:nvPr/>
        </p:nvSpPr>
        <p:spPr>
          <a:xfrm>
            <a:off x="7962900" y="4187825"/>
            <a:ext cx="3283331"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3EBEE"/>
                </a:solidFill>
                <a:latin typeface="Atkinson Hyperlegible Next" pitchFamily="34" charset="0"/>
                <a:ea typeface="Atkinson Hyperlegible Next" pitchFamily="34" charset="-122"/>
                <a:cs typeface="Atkinson Hyperlegible Next" pitchFamily="34" charset="-120"/>
              </a:rPr>
              <a:t>Tarjeta en «Listo» en Jira con evidencia</a:t>
            </a:r>
            <a:endParaRPr lang="en-US" sz="1200" dirty="0"/>
          </a:p>
        </p:txBody>
      </p:sp>
      <p:sp>
        <p:nvSpPr>
          <p:cNvPr id="45" name="Text 36"/>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46" name="Text 37"/>
          <p:cNvSpPr/>
          <p:nvPr/>
        </p:nvSpPr>
        <p:spPr>
          <a:xfrm>
            <a:off x="11151890" y="6243340"/>
            <a:ext cx="2273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ARQUITECTURA</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Arquitectura en cuatro capas</a:t>
            </a:r>
            <a:endParaRPr lang="en-US" sz="3000" dirty="0"/>
          </a:p>
        </p:txBody>
      </p:sp>
      <p:sp>
        <p:nvSpPr>
          <p:cNvPr id="4" name="Shape 2"/>
          <p:cNvSpPr/>
          <p:nvPr/>
        </p:nvSpPr>
        <p:spPr>
          <a:xfrm>
            <a:off x="812800" y="1673820"/>
            <a:ext cx="8356600" cy="738981"/>
          </a:xfrm>
          <a:prstGeom prst="roundRect">
            <a:avLst>
              <a:gd name="adj" fmla="val 17186"/>
            </a:avLst>
          </a:prstGeom>
          <a:solidFill>
            <a:srgbClr val="DCE7F2"/>
          </a:solidFill>
          <a:ln/>
        </p:spPr>
        <p:txBody>
          <a:bodyPr/>
          <a:lstStyle/>
          <a:p>
            <a:endParaRPr lang="es-US"/>
          </a:p>
        </p:txBody>
      </p:sp>
      <p:sp>
        <p:nvSpPr>
          <p:cNvPr id="5" name="Text 3"/>
          <p:cNvSpPr/>
          <p:nvPr/>
        </p:nvSpPr>
        <p:spPr>
          <a:xfrm>
            <a:off x="965200" y="1940123"/>
            <a:ext cx="14478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2B5480"/>
                </a:solidFill>
                <a:latin typeface="Atkinson Hyperlegible Next" pitchFamily="34" charset="0"/>
                <a:ea typeface="Atkinson Hyperlegible Next" pitchFamily="34" charset="-122"/>
                <a:cs typeface="Atkinson Hyperlegible Next" pitchFamily="34" charset="-120"/>
              </a:rPr>
              <a:t>1 · Presentación</a:t>
            </a:r>
            <a:endParaRPr lang="en-US" sz="1300" dirty="0"/>
          </a:p>
        </p:txBody>
      </p:sp>
      <p:sp>
        <p:nvSpPr>
          <p:cNvPr id="6" name="Text 4"/>
          <p:cNvSpPr/>
          <p:nvPr/>
        </p:nvSpPr>
        <p:spPr>
          <a:xfrm>
            <a:off x="2517775" y="1778595"/>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Zona Calma / SOS</a:t>
            </a:r>
            <a:endParaRPr lang="en-US" sz="1200" dirty="0"/>
          </a:p>
        </p:txBody>
      </p:sp>
      <p:sp>
        <p:nvSpPr>
          <p:cNvPr id="7" name="Text 5"/>
          <p:cNvSpPr/>
          <p:nvPr/>
        </p:nvSpPr>
        <p:spPr>
          <a:xfrm>
            <a:off x="4162425" y="1778595"/>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Comunicador SAAC</a:t>
            </a:r>
            <a:endParaRPr lang="en-US" sz="1200" dirty="0"/>
          </a:p>
        </p:txBody>
      </p:sp>
      <p:sp>
        <p:nvSpPr>
          <p:cNvPr id="8" name="Text 6"/>
          <p:cNvSpPr/>
          <p:nvPr/>
        </p:nvSpPr>
        <p:spPr>
          <a:xfrm>
            <a:off x="5807075" y="1778595"/>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Agenda de Rutinas</a:t>
            </a:r>
            <a:endParaRPr lang="en-US" sz="1200" dirty="0"/>
          </a:p>
        </p:txBody>
      </p:sp>
      <p:sp>
        <p:nvSpPr>
          <p:cNvPr id="9" name="Text 7"/>
          <p:cNvSpPr/>
          <p:nvPr/>
        </p:nvSpPr>
        <p:spPr>
          <a:xfrm>
            <a:off x="7451725" y="1778595"/>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Dashboard Bitácora PIE</a:t>
            </a:r>
            <a:endParaRPr lang="en-US" sz="1200" dirty="0"/>
          </a:p>
        </p:txBody>
      </p:sp>
      <p:pic>
        <p:nvPicPr>
          <p:cNvPr id="10" name="Image 0" descr="arrow-down"/>
          <p:cNvPicPr>
            <a:picLocks noChangeAspect="1"/>
          </p:cNvPicPr>
          <p:nvPr/>
        </p:nvPicPr>
        <p:blipFill>
          <a:blip r:embed="rId3"/>
          <a:srcRect/>
          <a:stretch/>
        </p:blipFill>
        <p:spPr>
          <a:xfrm>
            <a:off x="4902200" y="2463602"/>
            <a:ext cx="177800" cy="165100"/>
          </a:xfrm>
          <a:prstGeom prst="rect">
            <a:avLst/>
          </a:prstGeom>
        </p:spPr>
      </p:pic>
      <p:sp>
        <p:nvSpPr>
          <p:cNvPr id="11" name="Shape 8"/>
          <p:cNvSpPr/>
          <p:nvPr/>
        </p:nvSpPr>
        <p:spPr>
          <a:xfrm>
            <a:off x="812800" y="2679502"/>
            <a:ext cx="8356600" cy="738981"/>
          </a:xfrm>
          <a:prstGeom prst="roundRect">
            <a:avLst>
              <a:gd name="adj" fmla="val 17186"/>
            </a:avLst>
          </a:prstGeom>
          <a:solidFill>
            <a:srgbClr val="D8ECE8"/>
          </a:solidFill>
          <a:ln/>
        </p:spPr>
        <p:txBody>
          <a:bodyPr/>
          <a:lstStyle/>
          <a:p>
            <a:endParaRPr lang="es-US"/>
          </a:p>
        </p:txBody>
      </p:sp>
      <p:sp>
        <p:nvSpPr>
          <p:cNvPr id="12" name="Text 9"/>
          <p:cNvSpPr/>
          <p:nvPr/>
        </p:nvSpPr>
        <p:spPr>
          <a:xfrm>
            <a:off x="965200" y="2842617"/>
            <a:ext cx="14478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F5A55"/>
                </a:solidFill>
                <a:latin typeface="Atkinson Hyperlegible Next" pitchFamily="34" charset="0"/>
                <a:ea typeface="Atkinson Hyperlegible Next" pitchFamily="34" charset="-122"/>
                <a:cs typeface="Atkinson Hyperlegible Next" pitchFamily="34" charset="-120"/>
              </a:rPr>
              <a:t>2 · Lógica de negocio</a:t>
            </a:r>
            <a:endParaRPr lang="en-US" sz="1300" dirty="0"/>
          </a:p>
        </p:txBody>
      </p:sp>
      <p:sp>
        <p:nvSpPr>
          <p:cNvPr id="13" name="Text 10"/>
          <p:cNvSpPr/>
          <p:nvPr/>
        </p:nvSpPr>
        <p:spPr>
          <a:xfrm>
            <a:off x="2517775" y="2784277"/>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Roles y seguridad PIN/JWT</a:t>
            </a:r>
            <a:endParaRPr lang="en-US" sz="1200" dirty="0"/>
          </a:p>
        </p:txBody>
      </p:sp>
      <p:sp>
        <p:nvSpPr>
          <p:cNvPr id="14" name="Text 11"/>
          <p:cNvSpPr/>
          <p:nvPr/>
        </p:nvSpPr>
        <p:spPr>
          <a:xfrm>
            <a:off x="4162425" y="2784277"/>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Motor TTS (Web Speech API)</a:t>
            </a:r>
            <a:endParaRPr lang="en-US" sz="1200" dirty="0"/>
          </a:p>
        </p:txBody>
      </p:sp>
      <p:sp>
        <p:nvSpPr>
          <p:cNvPr id="15" name="Text 12"/>
          <p:cNvSpPr/>
          <p:nvPr/>
        </p:nvSpPr>
        <p:spPr>
          <a:xfrm>
            <a:off x="5807075" y="2784277"/>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Motor de métricas</a:t>
            </a:r>
            <a:endParaRPr lang="en-US" sz="1200" dirty="0"/>
          </a:p>
        </p:txBody>
      </p:sp>
      <p:sp>
        <p:nvSpPr>
          <p:cNvPr id="16" name="Text 13"/>
          <p:cNvSpPr/>
          <p:nvPr/>
        </p:nvSpPr>
        <p:spPr>
          <a:xfrm>
            <a:off x="7451725" y="2784277"/>
            <a:ext cx="1562100" cy="529431"/>
          </a:xfrm>
          <a:prstGeom prst="roundRect">
            <a:avLst>
              <a:gd name="adj" fmla="val 13793"/>
            </a:avLst>
          </a:prstGeom>
          <a:solidFill>
            <a:srgbClr val="FDFCF9"/>
          </a:solidFill>
          <a:ln w="6350">
            <a:solidFill>
              <a:srgbClr val="C9D3DB"/>
            </a:solidFill>
            <a:prstDash val="solid"/>
          </a:ln>
        </p:spPr>
        <p:txBody>
          <a:bodyPr wrap="square" lIns="70687" tIns="45287" rIns="19887"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Controlador de tareas</a:t>
            </a:r>
            <a:endParaRPr lang="en-US" sz="1200" dirty="0"/>
          </a:p>
        </p:txBody>
      </p:sp>
      <p:pic>
        <p:nvPicPr>
          <p:cNvPr id="17" name="Image 1" descr="arrow-down"/>
          <p:cNvPicPr>
            <a:picLocks noChangeAspect="1"/>
          </p:cNvPicPr>
          <p:nvPr/>
        </p:nvPicPr>
        <p:blipFill>
          <a:blip r:embed="rId3"/>
          <a:srcRect/>
          <a:stretch/>
        </p:blipFill>
        <p:spPr>
          <a:xfrm>
            <a:off x="4902200" y="3469283"/>
            <a:ext cx="177800" cy="165100"/>
          </a:xfrm>
          <a:prstGeom prst="rect">
            <a:avLst/>
          </a:prstGeom>
        </p:spPr>
      </p:pic>
      <p:sp>
        <p:nvSpPr>
          <p:cNvPr id="18" name="Shape 14"/>
          <p:cNvSpPr/>
          <p:nvPr/>
        </p:nvSpPr>
        <p:spPr>
          <a:xfrm>
            <a:off x="812800" y="3685183"/>
            <a:ext cx="8356600" cy="738981"/>
          </a:xfrm>
          <a:prstGeom prst="roundRect">
            <a:avLst>
              <a:gd name="adj" fmla="val 17186"/>
            </a:avLst>
          </a:prstGeom>
          <a:solidFill>
            <a:srgbClr val="EFE4D2"/>
          </a:solidFill>
          <a:ln/>
        </p:spPr>
        <p:txBody>
          <a:bodyPr/>
          <a:lstStyle/>
          <a:p>
            <a:endParaRPr lang="es-US"/>
          </a:p>
        </p:txBody>
      </p:sp>
      <p:sp>
        <p:nvSpPr>
          <p:cNvPr id="19" name="Text 15"/>
          <p:cNvSpPr/>
          <p:nvPr/>
        </p:nvSpPr>
        <p:spPr>
          <a:xfrm>
            <a:off x="965200" y="3848298"/>
            <a:ext cx="144780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6B4F24"/>
                </a:solidFill>
                <a:latin typeface="Atkinson Hyperlegible Next" pitchFamily="34" charset="0"/>
                <a:ea typeface="Atkinson Hyperlegible Next" pitchFamily="34" charset="-122"/>
                <a:cs typeface="Atkinson Hyperlegible Next" pitchFamily="34" charset="-120"/>
              </a:rPr>
              <a:t>3 · Servicios e integración</a:t>
            </a:r>
            <a:endParaRPr lang="en-US" sz="1300" dirty="0"/>
          </a:p>
        </p:txBody>
      </p:sp>
      <p:sp>
        <p:nvSpPr>
          <p:cNvPr id="20" name="Text 16"/>
          <p:cNvSpPr/>
          <p:nvPr/>
        </p:nvSpPr>
        <p:spPr>
          <a:xfrm>
            <a:off x="2517775" y="3789958"/>
            <a:ext cx="2110284" cy="529431"/>
          </a:xfrm>
          <a:prstGeom prst="roundRect">
            <a:avLst>
              <a:gd name="adj" fmla="val 13793"/>
            </a:avLst>
          </a:prstGeom>
          <a:solidFill>
            <a:srgbClr val="FDFCF9"/>
          </a:solidFill>
          <a:ln w="6350">
            <a:solidFill>
              <a:srgbClr val="C9D3DB"/>
            </a:solidFill>
            <a:prstDash val="solid"/>
          </a:ln>
        </p:spPr>
        <p:txBody>
          <a:bodyPr wrap="square" lIns="70687" tIns="45287" rIns="12903"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Sincronización en segundo plano</a:t>
            </a:r>
            <a:endParaRPr lang="en-US" sz="1200" dirty="0"/>
          </a:p>
        </p:txBody>
      </p:sp>
      <p:sp>
        <p:nvSpPr>
          <p:cNvPr id="21" name="Text 17"/>
          <p:cNvSpPr/>
          <p:nvPr/>
        </p:nvSpPr>
        <p:spPr>
          <a:xfrm>
            <a:off x="4710609" y="3789958"/>
            <a:ext cx="2110383" cy="529431"/>
          </a:xfrm>
          <a:prstGeom prst="roundRect">
            <a:avLst>
              <a:gd name="adj" fmla="val 13793"/>
            </a:avLst>
          </a:prstGeom>
          <a:solidFill>
            <a:srgbClr val="FDFCF9"/>
          </a:solidFill>
          <a:ln w="6350">
            <a:solidFill>
              <a:srgbClr val="C9D3DB"/>
            </a:solidFill>
            <a:prstDash val="solid"/>
          </a:ln>
        </p:spPr>
        <p:txBody>
          <a:bodyPr wrap="square" lIns="70687" tIns="45287" rIns="12900"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Cliente API ARASAAC</a:t>
            </a:r>
            <a:endParaRPr lang="en-US" sz="1200" dirty="0"/>
          </a:p>
        </p:txBody>
      </p:sp>
      <p:sp>
        <p:nvSpPr>
          <p:cNvPr id="22" name="Text 18"/>
          <p:cNvSpPr/>
          <p:nvPr/>
        </p:nvSpPr>
        <p:spPr>
          <a:xfrm>
            <a:off x="6903541" y="3789958"/>
            <a:ext cx="2110284" cy="529431"/>
          </a:xfrm>
          <a:prstGeom prst="roundRect">
            <a:avLst>
              <a:gd name="adj" fmla="val 13793"/>
            </a:avLst>
          </a:prstGeom>
          <a:solidFill>
            <a:srgbClr val="FDFCF9"/>
          </a:solidFill>
          <a:ln w="6350">
            <a:solidFill>
              <a:srgbClr val="C9D3DB"/>
            </a:solidFill>
            <a:prstDash val="solid"/>
          </a:ln>
        </p:spPr>
        <p:txBody>
          <a:bodyPr wrap="square" lIns="70687" tIns="45287" rIns="12903"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Service Worker offline-first</a:t>
            </a:r>
            <a:endParaRPr lang="en-US" sz="1200" dirty="0"/>
          </a:p>
        </p:txBody>
      </p:sp>
      <p:pic>
        <p:nvPicPr>
          <p:cNvPr id="23" name="Image 2" descr="arrow-down"/>
          <p:cNvPicPr>
            <a:picLocks noChangeAspect="1"/>
          </p:cNvPicPr>
          <p:nvPr/>
        </p:nvPicPr>
        <p:blipFill>
          <a:blip r:embed="rId3"/>
          <a:srcRect/>
          <a:stretch/>
        </p:blipFill>
        <p:spPr>
          <a:xfrm>
            <a:off x="4902200" y="4474964"/>
            <a:ext cx="177800" cy="165100"/>
          </a:xfrm>
          <a:prstGeom prst="rect">
            <a:avLst/>
          </a:prstGeom>
        </p:spPr>
      </p:pic>
      <p:sp>
        <p:nvSpPr>
          <p:cNvPr id="24" name="Shape 19"/>
          <p:cNvSpPr/>
          <p:nvPr/>
        </p:nvSpPr>
        <p:spPr>
          <a:xfrm>
            <a:off x="812800" y="4690864"/>
            <a:ext cx="8356600" cy="540941"/>
          </a:xfrm>
          <a:prstGeom prst="roundRect">
            <a:avLst>
              <a:gd name="adj" fmla="val 23478"/>
            </a:avLst>
          </a:prstGeom>
          <a:solidFill>
            <a:srgbClr val="E6E9EC"/>
          </a:solidFill>
          <a:ln/>
        </p:spPr>
        <p:txBody>
          <a:bodyPr/>
          <a:lstStyle/>
          <a:p>
            <a:endParaRPr lang="es-US"/>
          </a:p>
        </p:txBody>
      </p:sp>
      <p:sp>
        <p:nvSpPr>
          <p:cNvPr id="25" name="Text 20"/>
          <p:cNvSpPr/>
          <p:nvPr/>
        </p:nvSpPr>
        <p:spPr>
          <a:xfrm>
            <a:off x="965200" y="4858147"/>
            <a:ext cx="144780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3F4A56"/>
                </a:solidFill>
                <a:latin typeface="Atkinson Hyperlegible Next" pitchFamily="34" charset="0"/>
                <a:ea typeface="Atkinson Hyperlegible Next" pitchFamily="34" charset="-122"/>
                <a:cs typeface="Atkinson Hyperlegible Next" pitchFamily="34" charset="-120"/>
              </a:rPr>
              <a:t>4 · Persistencia</a:t>
            </a:r>
            <a:endParaRPr lang="en-US" sz="1300" dirty="0"/>
          </a:p>
        </p:txBody>
      </p:sp>
      <p:sp>
        <p:nvSpPr>
          <p:cNvPr id="26" name="Text 21"/>
          <p:cNvSpPr/>
          <p:nvPr/>
        </p:nvSpPr>
        <p:spPr>
          <a:xfrm>
            <a:off x="2517775" y="4795639"/>
            <a:ext cx="2190750" cy="331391"/>
          </a:xfrm>
          <a:prstGeom prst="roundRect">
            <a:avLst>
              <a:gd name="adj" fmla="val 22036"/>
            </a:avLst>
          </a:prstGeom>
          <a:solidFill>
            <a:srgbClr val="FDFCF9"/>
          </a:solidFill>
          <a:ln w="6350">
            <a:solidFill>
              <a:srgbClr val="C9D3DB"/>
            </a:solidFill>
            <a:prstDash val="solid"/>
          </a:ln>
        </p:spPr>
        <p:txBody>
          <a:bodyPr wrap="square" lIns="70687" tIns="45287" rIns="10489" bIns="19887"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IndexedDB local</a:t>
            </a:r>
            <a:endParaRPr lang="en-US" sz="1200" dirty="0"/>
          </a:p>
        </p:txBody>
      </p:sp>
      <p:sp>
        <p:nvSpPr>
          <p:cNvPr id="27" name="Text 22"/>
          <p:cNvSpPr/>
          <p:nvPr/>
        </p:nvSpPr>
        <p:spPr>
          <a:xfrm>
            <a:off x="4797425" y="4801989"/>
            <a:ext cx="4210050" cy="318691"/>
          </a:xfrm>
          <a:prstGeom prst="roundRect">
            <a:avLst>
              <a:gd name="adj" fmla="val 20922"/>
            </a:avLst>
          </a:prstGeom>
          <a:solidFill>
            <a:srgbClr val="FDEBD9"/>
          </a:solidFill>
          <a:ln w="19050">
            <a:solidFill>
              <a:srgbClr val="B85A1E"/>
            </a:solidFill>
            <a:prstDash val="solid"/>
          </a:ln>
        </p:spPr>
        <p:txBody>
          <a:bodyPr wrap="square" lIns="78897" tIns="40797" rIns="0" bIns="15397" rtlCol="0" anchor="t">
            <a:normAutofit/>
          </a:bodyPr>
          <a:lstStyle/>
          <a:p>
            <a:pPr marL="0" indent="0" algn="l">
              <a:lnSpc>
                <a:spcPts val="1560"/>
              </a:lnSpc>
              <a:buNone/>
            </a:pPr>
            <a:r>
              <a:rPr lang="en-US" sz="1200" b="1" dirty="0">
                <a:solidFill>
                  <a:srgbClr val="8A3B0C"/>
                </a:solidFill>
                <a:latin typeface="Atkinson Hyperlegible Next" pitchFamily="34" charset="0"/>
                <a:ea typeface="Atkinson Hyperlegible Next" pitchFamily="34" charset="-122"/>
                <a:cs typeface="Atkinson Hyperlegible Next" pitchFamily="34" charset="-120"/>
              </a:rPr>
              <a:t>PostgreSql</a:t>
            </a:r>
            <a:endParaRPr lang="en-US" sz="1200" dirty="0"/>
          </a:p>
        </p:txBody>
      </p:sp>
      <p:sp>
        <p:nvSpPr>
          <p:cNvPr id="28" name="Shape 23"/>
          <p:cNvSpPr/>
          <p:nvPr/>
        </p:nvSpPr>
        <p:spPr>
          <a:xfrm>
            <a:off x="9477375" y="1676995"/>
            <a:ext cx="1898650" cy="2990850"/>
          </a:xfrm>
          <a:prstGeom prst="roundRect">
            <a:avLst>
              <a:gd name="adj" fmla="val 5184"/>
            </a:avLst>
          </a:prstGeom>
          <a:solidFill>
            <a:srgbClr val="FFFFFF"/>
          </a:solidFill>
          <a:ln w="6350">
            <a:solidFill>
              <a:srgbClr val="E2DDD2"/>
            </a:solidFill>
            <a:prstDash val="solid"/>
          </a:ln>
        </p:spPr>
        <p:txBody>
          <a:bodyPr/>
          <a:lstStyle/>
          <a:p>
            <a:endParaRPr lang="es-US"/>
          </a:p>
        </p:txBody>
      </p:sp>
      <p:pic>
        <p:nvPicPr>
          <p:cNvPr id="29" name="Image 3" descr="Diagrama original de arquitectura en cuatro capas de TEA-yudo"/>
          <p:cNvPicPr>
            <a:picLocks noChangeAspect="1"/>
          </p:cNvPicPr>
          <p:nvPr/>
        </p:nvPicPr>
        <p:blipFill>
          <a:blip r:embed="rId4"/>
          <a:srcRect t="-29" b="-29"/>
          <a:stretch/>
        </p:blipFill>
        <p:spPr>
          <a:xfrm>
            <a:off x="9556750" y="1756370"/>
            <a:ext cx="1752600" cy="2832100"/>
          </a:xfrm>
          <a:prstGeom prst="rect">
            <a:avLst/>
          </a:prstGeom>
        </p:spPr>
      </p:pic>
      <p:sp>
        <p:nvSpPr>
          <p:cNvPr id="30" name="Text 24"/>
          <p:cNvSpPr/>
          <p:nvPr/>
        </p:nvSpPr>
        <p:spPr>
          <a:xfrm>
            <a:off x="9474200" y="4734520"/>
            <a:ext cx="196215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Diagrama original (anexo del informe)</a:t>
            </a:r>
            <a:endParaRPr lang="en-US" sz="1200" dirty="0"/>
          </a:p>
        </p:txBody>
      </p:sp>
      <p:sp>
        <p:nvSpPr>
          <p:cNvPr id="31" name="Text 25"/>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32" name="Text 26"/>
          <p:cNvSpPr/>
          <p:nvPr/>
        </p:nvSpPr>
        <p:spPr>
          <a:xfrm>
            <a:off x="11135916" y="6243340"/>
            <a:ext cx="24328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526060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DISEÑO TÉCNICO</a:t>
            </a:r>
            <a:endParaRPr lang="en-US" sz="1200" dirty="0"/>
          </a:p>
        </p:txBody>
      </p:sp>
      <p:sp>
        <p:nvSpPr>
          <p:cNvPr id="3" name="Text 1"/>
          <p:cNvSpPr>
            <a:spLocks noGrp="1"/>
          </p:cNvSpPr>
          <p:nvPr>
            <p:ph type="title"/>
          </p:nvPr>
        </p:nvSpPr>
        <p:spPr>
          <a:xfrm>
            <a:off x="812800" y="1026120"/>
            <a:ext cx="5490865"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Diagrama de componentes</a:t>
            </a:r>
            <a:endParaRPr lang="en-US" sz="3000" dirty="0"/>
          </a:p>
        </p:txBody>
      </p:sp>
      <p:sp>
        <p:nvSpPr>
          <p:cNvPr id="4" name="Text 2"/>
          <p:cNvSpPr/>
          <p:nvPr/>
        </p:nvSpPr>
        <p:spPr>
          <a:xfrm>
            <a:off x="6303665" y="1130300"/>
            <a:ext cx="1473597" cy="314920"/>
          </a:xfrm>
          <a:prstGeom prst="roundRect">
            <a:avLst>
              <a:gd name="adj" fmla="val 50000"/>
            </a:avLst>
          </a:prstGeom>
          <a:solidFill>
            <a:srgbClr val="D8ECE8"/>
          </a:solidFill>
          <a:ln/>
        </p:spPr>
        <p:txBody>
          <a:bodyPr wrap="none" lIns="0" tIns="0" rIns="0" bIns="0" rtlCol="0" anchor="ctr">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API REST /api/v1</a:t>
            </a:r>
            <a:endParaRPr lang="en-US" sz="1200" dirty="0"/>
          </a:p>
        </p:txBody>
      </p:sp>
      <p:sp>
        <p:nvSpPr>
          <p:cNvPr id="5" name="Text 3"/>
          <p:cNvSpPr/>
          <p:nvPr/>
        </p:nvSpPr>
        <p:spPr>
          <a:xfrm>
            <a:off x="7853462" y="1130300"/>
            <a:ext cx="1596529" cy="314920"/>
          </a:xfrm>
          <a:prstGeom prst="roundRect">
            <a:avLst>
              <a:gd name="adj" fmla="val 50000"/>
            </a:avLst>
          </a:prstGeom>
          <a:solidFill>
            <a:srgbClr val="DCE7F2"/>
          </a:solidFill>
          <a:ln/>
        </p:spPr>
        <p:txBody>
          <a:bodyPr wrap="none" lIns="0" tIns="0" rIns="0" bIns="0" rtlCol="0" anchor="ctr">
            <a:normAutofit/>
          </a:bodyPr>
          <a:lstStyle/>
          <a:p>
            <a:pPr marL="0" indent="0" algn="ctr">
              <a:lnSpc>
                <a:spcPts val="1680"/>
              </a:lnSpc>
              <a:buNone/>
            </a:pPr>
            <a:r>
              <a:rPr lang="en-US" sz="1200" b="1" dirty="0">
                <a:solidFill>
                  <a:srgbClr val="2B5480"/>
                </a:solidFill>
                <a:latin typeface="Atkinson Hyperlegible Next" pitchFamily="34" charset="0"/>
                <a:ea typeface="Atkinson Hyperlegible Next" pitchFamily="34" charset="-122"/>
                <a:cs typeface="Atkinson Hyperlegible Next" pitchFamily="34" charset="-120"/>
              </a:rPr>
              <a:t>Autenticación JWT</a:t>
            </a:r>
            <a:endParaRPr lang="en-US" sz="1200" dirty="0"/>
          </a:p>
        </p:txBody>
      </p:sp>
      <p:sp>
        <p:nvSpPr>
          <p:cNvPr id="6" name="Text 4"/>
          <p:cNvSpPr/>
          <p:nvPr/>
        </p:nvSpPr>
        <p:spPr>
          <a:xfrm>
            <a:off x="9526191" y="1130300"/>
            <a:ext cx="1853009" cy="314920"/>
          </a:xfrm>
          <a:prstGeom prst="roundRect">
            <a:avLst>
              <a:gd name="adj" fmla="val 50000"/>
            </a:avLst>
          </a:prstGeom>
          <a:solidFill>
            <a:srgbClr val="EFE4D2"/>
          </a:solidFill>
          <a:ln/>
        </p:spPr>
        <p:txBody>
          <a:bodyPr wrap="none" lIns="0" tIns="0" rIns="0" bIns="0" rtlCol="0" anchor="ctr">
            <a:normAutofit/>
          </a:bodyPr>
          <a:lstStyle/>
          <a:p>
            <a:pPr marL="0" indent="0" algn="ctr">
              <a:lnSpc>
                <a:spcPts val="1680"/>
              </a:lnSpc>
              <a:buNone/>
            </a:pPr>
            <a:r>
              <a:rPr lang="en-US" sz="1200" b="1" dirty="0">
                <a:solidFill>
                  <a:srgbClr val="6B4F24"/>
                </a:solidFill>
                <a:latin typeface="Atkinson Hyperlegible Next" pitchFamily="34" charset="0"/>
                <a:ea typeface="Atkinson Hyperlegible Next" pitchFamily="34" charset="-122"/>
                <a:cs typeface="Atkinson Hyperlegible Next" pitchFamily="34" charset="-120"/>
              </a:rPr>
              <a:t>API externa ARASAAC</a:t>
            </a:r>
            <a:endParaRPr lang="en-US" sz="1200" dirty="0"/>
          </a:p>
        </p:txBody>
      </p:sp>
      <p:sp>
        <p:nvSpPr>
          <p:cNvPr id="7" name="Shape 5"/>
          <p:cNvSpPr/>
          <p:nvPr/>
        </p:nvSpPr>
        <p:spPr>
          <a:xfrm>
            <a:off x="409575" y="1651595"/>
            <a:ext cx="11372850" cy="4006850"/>
          </a:xfrm>
          <a:prstGeom prst="roundRect">
            <a:avLst>
              <a:gd name="adj" fmla="val 3090"/>
            </a:avLst>
          </a:prstGeom>
          <a:solidFill>
            <a:srgbClr val="FFFFFF"/>
          </a:solidFill>
          <a:ln w="6350">
            <a:solidFill>
              <a:srgbClr val="E2DDD2"/>
            </a:solidFill>
            <a:prstDash val="solid"/>
          </a:ln>
        </p:spPr>
        <p:txBody>
          <a:bodyPr/>
          <a:lstStyle/>
          <a:p>
            <a:endParaRPr lang="es-US"/>
          </a:p>
        </p:txBody>
      </p:sp>
      <p:pic>
        <p:nvPicPr>
          <p:cNvPr id="8" name="Image 0" descr="Diagrama de componentes de TEA-yudo: componentes de Estudiante, Lógica central, Gestión PIE y Persistencia, con API ARASAAC y base de datos relacional"/>
          <p:cNvPicPr>
            <a:picLocks noChangeAspect="1"/>
          </p:cNvPicPr>
          <p:nvPr/>
        </p:nvPicPr>
        <p:blipFill>
          <a:blip r:embed="rId3"/>
          <a:srcRect l="-17" r="-17"/>
          <a:stretch/>
        </p:blipFill>
        <p:spPr>
          <a:xfrm>
            <a:off x="514350" y="1756370"/>
            <a:ext cx="11163300" cy="3797300"/>
          </a:xfrm>
          <a:prstGeom prst="rect">
            <a:avLst/>
          </a:prstGeom>
        </p:spPr>
      </p:pic>
      <p:sp>
        <p:nvSpPr>
          <p:cNvPr id="9" name="Text 6"/>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0" name="Text 7"/>
          <p:cNvSpPr/>
          <p:nvPr/>
        </p:nvSpPr>
        <p:spPr>
          <a:xfrm>
            <a:off x="11138892" y="6243340"/>
            <a:ext cx="24030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32159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DISEÑO TÉCNICO</a:t>
            </a:r>
            <a:endParaRPr lang="en-US" sz="1200" dirty="0"/>
          </a:p>
        </p:txBody>
      </p:sp>
      <p:sp>
        <p:nvSpPr>
          <p:cNvPr id="3" name="Text 1"/>
          <p:cNvSpPr>
            <a:spLocks noGrp="1"/>
          </p:cNvSpPr>
          <p:nvPr>
            <p:ph type="title"/>
          </p:nvPr>
        </p:nvSpPr>
        <p:spPr>
          <a:xfrm>
            <a:off x="812800" y="1026120"/>
            <a:ext cx="3746778"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Modelo de datos</a:t>
            </a:r>
            <a:endParaRPr lang="en-US" sz="3000" dirty="0"/>
          </a:p>
        </p:txBody>
      </p:sp>
      <p:sp>
        <p:nvSpPr>
          <p:cNvPr id="4" name="Text 2"/>
          <p:cNvSpPr/>
          <p:nvPr/>
        </p:nvSpPr>
        <p:spPr>
          <a:xfrm>
            <a:off x="5537200" y="1130300"/>
            <a:ext cx="2666802" cy="314920"/>
          </a:xfrm>
          <a:prstGeom prst="roundRect">
            <a:avLst>
              <a:gd name="adj" fmla="val 50000"/>
            </a:avLst>
          </a:prstGeom>
          <a:solidFill>
            <a:srgbClr val="DCE7F2"/>
          </a:solidFill>
          <a:ln/>
        </p:spPr>
        <p:txBody>
          <a:bodyPr wrap="none" lIns="0" tIns="0" rIns="0" bIns="0" rtlCol="0" anchor="ctr">
            <a:normAutofit/>
          </a:bodyPr>
          <a:lstStyle/>
          <a:p>
            <a:pPr marL="0" indent="0" algn="ctr">
              <a:lnSpc>
                <a:spcPts val="1680"/>
              </a:lnSpc>
              <a:buNone/>
            </a:pPr>
            <a:r>
              <a:rPr lang="en-US" sz="1200" b="1" dirty="0">
                <a:solidFill>
                  <a:srgbClr val="2B5480"/>
                </a:solidFill>
                <a:latin typeface="Atkinson Hyperlegible Next" pitchFamily="34" charset="0"/>
                <a:ea typeface="Atkinson Hyperlegible Next" pitchFamily="34" charset="-122"/>
                <a:cs typeface="Atkinson Hyperlegible Next" pitchFamily="34" charset="-120"/>
              </a:rPr>
              <a:t>MER: 10 entidades · 14 relaciones</a:t>
            </a:r>
            <a:endParaRPr lang="en-US" sz="1200" dirty="0"/>
          </a:p>
        </p:txBody>
      </p:sp>
      <p:pic>
        <p:nvPicPr>
          <p:cNvPr id="5" name="Image 0" descr="arrow-right"/>
          <p:cNvPicPr>
            <a:picLocks noChangeAspect="1"/>
          </p:cNvPicPr>
          <p:nvPr/>
        </p:nvPicPr>
        <p:blipFill>
          <a:blip r:embed="rId3"/>
          <a:srcRect/>
          <a:stretch/>
        </p:blipFill>
        <p:spPr>
          <a:xfrm>
            <a:off x="8280202" y="1224260"/>
            <a:ext cx="254000" cy="127000"/>
          </a:xfrm>
          <a:prstGeom prst="rect">
            <a:avLst/>
          </a:prstGeom>
        </p:spPr>
      </p:pic>
      <p:sp>
        <p:nvSpPr>
          <p:cNvPr id="6" name="Text 3"/>
          <p:cNvSpPr/>
          <p:nvPr/>
        </p:nvSpPr>
        <p:spPr>
          <a:xfrm>
            <a:off x="8610402" y="1130300"/>
            <a:ext cx="2768798" cy="314920"/>
          </a:xfrm>
          <a:prstGeom prst="roundRect">
            <a:avLst>
              <a:gd name="adj" fmla="val 50000"/>
            </a:avLst>
          </a:prstGeom>
          <a:solidFill>
            <a:srgbClr val="D8ECE8"/>
          </a:solidFill>
          <a:ln/>
        </p:spPr>
        <p:txBody>
          <a:bodyPr wrap="none" lIns="0" tIns="0" rIns="0" bIns="0" rtlCol="0" anchor="ctr">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12 tablas · PK/FK · CHECK · índices</a:t>
            </a:r>
            <a:endParaRPr lang="en-US" sz="1200" dirty="0"/>
          </a:p>
        </p:txBody>
      </p:sp>
      <p:sp>
        <p:nvSpPr>
          <p:cNvPr id="7" name="Shape 4"/>
          <p:cNvSpPr/>
          <p:nvPr/>
        </p:nvSpPr>
        <p:spPr>
          <a:xfrm>
            <a:off x="409575" y="1651595"/>
            <a:ext cx="7486650" cy="4067770"/>
          </a:xfrm>
          <a:prstGeom prst="roundRect">
            <a:avLst>
              <a:gd name="adj" fmla="val 3044"/>
            </a:avLst>
          </a:prstGeom>
          <a:solidFill>
            <a:srgbClr val="141A1F"/>
          </a:solidFill>
          <a:ln w="6350">
            <a:solidFill>
              <a:srgbClr val="2B3A47"/>
            </a:solidFill>
            <a:prstDash val="solid"/>
          </a:ln>
        </p:spPr>
        <p:txBody>
          <a:bodyPr/>
          <a:lstStyle/>
          <a:p>
            <a:endParaRPr lang="es-US"/>
          </a:p>
        </p:txBody>
      </p:sp>
      <p:sp>
        <p:nvSpPr>
          <p:cNvPr id="8" name="Text 5"/>
          <p:cNvSpPr/>
          <p:nvPr/>
        </p:nvSpPr>
        <p:spPr>
          <a:xfrm>
            <a:off x="565150" y="1756370"/>
            <a:ext cx="74430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DE"/>
                </a:solidFill>
                <a:latin typeface="Atkinson Hyperlegible Next" pitchFamily="34" charset="0"/>
                <a:ea typeface="Atkinson Hyperlegible Next" pitchFamily="34" charset="-122"/>
                <a:cs typeface="Atkinson Hyperlegible Next" pitchFamily="34" charset="-120"/>
              </a:rPr>
              <a:t>MER · notación de Chen</a:t>
            </a:r>
            <a:endParaRPr lang="en-US" sz="1200" dirty="0"/>
          </a:p>
        </p:txBody>
      </p:sp>
      <p:pic>
        <p:nvPicPr>
          <p:cNvPr id="9" name="Image 1" descr="Diagrama entidad-relación de TEA-yudo en notación de Chen con 10 entidades y 14 relaciones"/>
          <p:cNvPicPr>
            <a:picLocks noChangeAspect="1"/>
          </p:cNvPicPr>
          <p:nvPr/>
        </p:nvPicPr>
        <p:blipFill>
          <a:blip r:embed="rId4"/>
          <a:srcRect l="-642" r="-642"/>
          <a:stretch/>
        </p:blipFill>
        <p:spPr>
          <a:xfrm>
            <a:off x="514350" y="2020491"/>
            <a:ext cx="7289800" cy="3594100"/>
          </a:xfrm>
          <a:prstGeom prst="rect">
            <a:avLst/>
          </a:prstGeom>
        </p:spPr>
      </p:pic>
      <p:sp>
        <p:nvSpPr>
          <p:cNvPr id="10" name="Shape 6"/>
          <p:cNvSpPr/>
          <p:nvPr/>
        </p:nvSpPr>
        <p:spPr>
          <a:xfrm>
            <a:off x="8105775" y="1651595"/>
            <a:ext cx="3676650" cy="3635970"/>
          </a:xfrm>
          <a:prstGeom prst="roundRect">
            <a:avLst>
              <a:gd name="adj" fmla="val 3406"/>
            </a:avLst>
          </a:prstGeom>
          <a:solidFill>
            <a:srgbClr val="FFFFFF"/>
          </a:solidFill>
          <a:ln w="6350">
            <a:solidFill>
              <a:srgbClr val="E2DDD2"/>
            </a:solidFill>
            <a:prstDash val="solid"/>
          </a:ln>
        </p:spPr>
        <p:txBody>
          <a:bodyPr/>
          <a:lstStyle/>
          <a:p>
            <a:endParaRPr lang="es-US"/>
          </a:p>
        </p:txBody>
      </p:sp>
      <p:sp>
        <p:nvSpPr>
          <p:cNvPr id="11" name="Text 7"/>
          <p:cNvSpPr/>
          <p:nvPr/>
        </p:nvSpPr>
        <p:spPr>
          <a:xfrm>
            <a:off x="8261350" y="1756370"/>
            <a:ext cx="35187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Modelo relacional · 12 tablas</a:t>
            </a:r>
            <a:endParaRPr lang="en-US" sz="1200" dirty="0"/>
          </a:p>
        </p:txBody>
      </p:sp>
      <p:pic>
        <p:nvPicPr>
          <p:cNvPr id="12" name="Image 2" descr="Modelo relacional de TEA-yudo con 12 tablas y sus claves primarias y foráneas"/>
          <p:cNvPicPr>
            <a:picLocks noChangeAspect="1"/>
          </p:cNvPicPr>
          <p:nvPr/>
        </p:nvPicPr>
        <p:blipFill>
          <a:blip r:embed="rId5"/>
          <a:srcRect t="-28" b="-28"/>
          <a:stretch/>
        </p:blipFill>
        <p:spPr>
          <a:xfrm>
            <a:off x="8210550" y="2020491"/>
            <a:ext cx="3479800" cy="3162300"/>
          </a:xfrm>
          <a:prstGeom prst="rect">
            <a:avLst/>
          </a:prstGeom>
        </p:spPr>
      </p:pic>
      <p:sp>
        <p:nvSpPr>
          <p:cNvPr id="13" name="Text 8"/>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4" name="Text 9"/>
          <p:cNvSpPr/>
          <p:nvPr/>
        </p:nvSpPr>
        <p:spPr>
          <a:xfrm>
            <a:off x="11167566" y="6243340"/>
            <a:ext cx="21163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1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DISEÑO TÉCNICO · UML 2.5</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Casos de uso</a:t>
            </a:r>
            <a:endParaRPr lang="en-US" sz="3000" dirty="0"/>
          </a:p>
        </p:txBody>
      </p:sp>
      <p:sp>
        <p:nvSpPr>
          <p:cNvPr id="4" name="Text 2"/>
          <p:cNvSpPr/>
          <p:nvPr/>
        </p:nvSpPr>
        <p:spPr>
          <a:xfrm>
            <a:off x="812800" y="1673820"/>
            <a:ext cx="673298"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A55"/>
                </a:solidFill>
                <a:latin typeface="Lexend" pitchFamily="34" charset="0"/>
                <a:ea typeface="Lexend" pitchFamily="34" charset="-122"/>
                <a:cs typeface="Lexend" pitchFamily="34" charset="-120"/>
              </a:rPr>
              <a:t>3</a:t>
            </a:r>
            <a:endParaRPr lang="en-US" sz="3600" dirty="0"/>
          </a:p>
        </p:txBody>
      </p:sp>
      <p:sp>
        <p:nvSpPr>
          <p:cNvPr id="5" name="Text 3"/>
          <p:cNvSpPr/>
          <p:nvPr/>
        </p:nvSpPr>
        <p:spPr>
          <a:xfrm>
            <a:off x="812800" y="2143720"/>
            <a:ext cx="74699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módulos</a:t>
            </a:r>
            <a:endParaRPr lang="en-US" sz="1300" dirty="0"/>
          </a:p>
        </p:txBody>
      </p:sp>
      <p:sp>
        <p:nvSpPr>
          <p:cNvPr id="6" name="Text 4"/>
          <p:cNvSpPr/>
          <p:nvPr/>
        </p:nvSpPr>
        <p:spPr>
          <a:xfrm>
            <a:off x="1790898" y="1673820"/>
            <a:ext cx="99189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A55"/>
                </a:solidFill>
                <a:latin typeface="Lexend" pitchFamily="34" charset="0"/>
                <a:ea typeface="Lexend" pitchFamily="34" charset="-122"/>
                <a:cs typeface="Lexend" pitchFamily="34" charset="-120"/>
              </a:rPr>
              <a:t>10</a:t>
            </a:r>
            <a:endParaRPr lang="en-US" sz="3600" dirty="0"/>
          </a:p>
        </p:txBody>
      </p:sp>
      <p:sp>
        <p:nvSpPr>
          <p:cNvPr id="7" name="Text 5"/>
          <p:cNvSpPr/>
          <p:nvPr/>
        </p:nvSpPr>
        <p:spPr>
          <a:xfrm>
            <a:off x="1790898" y="2143720"/>
            <a:ext cx="112930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casos de uso</a:t>
            </a:r>
            <a:endParaRPr lang="en-US" sz="1300" dirty="0"/>
          </a:p>
        </p:txBody>
      </p:sp>
      <p:sp>
        <p:nvSpPr>
          <p:cNvPr id="8" name="Text 6"/>
          <p:cNvSpPr/>
          <p:nvPr/>
        </p:nvSpPr>
        <p:spPr>
          <a:xfrm>
            <a:off x="3087588" y="1673820"/>
            <a:ext cx="155902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F5A55"/>
                </a:solidFill>
                <a:latin typeface="Lexend" pitchFamily="34" charset="0"/>
                <a:ea typeface="Lexend" pitchFamily="34" charset="-122"/>
                <a:cs typeface="Lexend" pitchFamily="34" charset="-120"/>
              </a:rPr>
              <a:t>2</a:t>
            </a:r>
            <a:endParaRPr lang="en-US" sz="3600" dirty="0"/>
          </a:p>
        </p:txBody>
      </p:sp>
      <p:sp>
        <p:nvSpPr>
          <p:cNvPr id="9" name="Text 7"/>
          <p:cNvSpPr/>
          <p:nvPr/>
        </p:nvSpPr>
        <p:spPr>
          <a:xfrm>
            <a:off x="3087588" y="2143720"/>
            <a:ext cx="180986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relaciones «include»</a:t>
            </a:r>
            <a:endParaRPr lang="en-US" sz="1300" dirty="0"/>
          </a:p>
        </p:txBody>
      </p:sp>
      <p:sp>
        <p:nvSpPr>
          <p:cNvPr id="10" name="Shape 8"/>
          <p:cNvSpPr/>
          <p:nvPr/>
        </p:nvSpPr>
        <p:spPr>
          <a:xfrm>
            <a:off x="812800" y="2552601"/>
            <a:ext cx="2582267" cy="1643063"/>
          </a:xfrm>
          <a:prstGeom prst="roundRect">
            <a:avLst>
              <a:gd name="adj" fmla="val 7729"/>
            </a:avLst>
          </a:prstGeom>
          <a:solidFill>
            <a:srgbClr val="F7F5F0"/>
          </a:solidFill>
          <a:ln/>
        </p:spPr>
        <p:txBody>
          <a:bodyPr/>
          <a:lstStyle/>
          <a:p>
            <a:endParaRPr lang="es-US"/>
          </a:p>
        </p:txBody>
      </p:sp>
      <p:sp>
        <p:nvSpPr>
          <p:cNvPr id="11" name="Text 9"/>
          <p:cNvSpPr/>
          <p:nvPr/>
        </p:nvSpPr>
        <p:spPr>
          <a:xfrm>
            <a:off x="990600" y="2730401"/>
            <a:ext cx="2293467"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1F5A55"/>
                </a:solidFill>
                <a:latin typeface="Lexend" pitchFamily="34" charset="0"/>
                <a:ea typeface="Lexend" pitchFamily="34" charset="-122"/>
                <a:cs typeface="Lexend" pitchFamily="34" charset="-120"/>
              </a:rPr>
              <a:t>Estudiante</a:t>
            </a:r>
            <a:endParaRPr lang="en-US" sz="1500" dirty="0"/>
          </a:p>
        </p:txBody>
      </p:sp>
      <p:sp>
        <p:nvSpPr>
          <p:cNvPr id="12" name="Text 10"/>
          <p:cNvSpPr/>
          <p:nvPr/>
        </p:nvSpPr>
        <p:spPr>
          <a:xfrm>
            <a:off x="990600" y="3047901"/>
            <a:ext cx="2293467"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CU-01</a:t>
            </a:r>
            <a:r>
              <a:rPr lang="en-US" sz="1200" dirty="0">
                <a:solidFill>
                  <a:srgbClr val="1D2B38"/>
                </a:solidFill>
                <a:latin typeface="Atkinson Hyperlegible Next" pitchFamily="34" charset="0"/>
                <a:ea typeface="Atkinson Hyperlegible Next" pitchFamily="34" charset="-122"/>
                <a:cs typeface="Atkinson Hyperlegible Next" pitchFamily="34" charset="-120"/>
              </a:rPr>
              <a:t> Armar frase · incluye </a:t>
            </a: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CU-02</a:t>
            </a:r>
            <a:r>
              <a:rPr lang="en-US" sz="1200" dirty="0">
                <a:solidFill>
                  <a:srgbClr val="1D2B38"/>
                </a:solidFill>
                <a:latin typeface="Atkinson Hyperlegible Next" pitchFamily="34" charset="0"/>
                <a:ea typeface="Atkinson Hyperlegible Next" pitchFamily="34" charset="-122"/>
                <a:cs typeface="Atkinson Hyperlegible Next" pitchFamily="34" charset="-120"/>
              </a:rPr>
              <a:t> TTS</a:t>
            </a:r>
            <a:endParaRPr lang="en-US" sz="1200" dirty="0"/>
          </a:p>
        </p:txBody>
      </p:sp>
      <p:sp>
        <p:nvSpPr>
          <p:cNvPr id="13" name="Text 11"/>
          <p:cNvSpPr/>
          <p:nvPr/>
        </p:nvSpPr>
        <p:spPr>
          <a:xfrm>
            <a:off x="990600" y="3532882"/>
            <a:ext cx="2293467"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CU-03</a:t>
            </a:r>
            <a:r>
              <a:rPr lang="en-US" sz="1200" dirty="0">
                <a:solidFill>
                  <a:srgbClr val="1D2B38"/>
                </a:solidFill>
                <a:latin typeface="Atkinson Hyperlegible Next" pitchFamily="34" charset="0"/>
                <a:ea typeface="Atkinson Hyperlegible Next" pitchFamily="34" charset="-122"/>
                <a:cs typeface="Atkinson Hyperlegible Next" pitchFamily="34" charset="-120"/>
              </a:rPr>
              <a:t> Visualizar rutina</a:t>
            </a:r>
            <a:endParaRPr lang="en-US" sz="1200" dirty="0"/>
          </a:p>
        </p:txBody>
      </p:sp>
      <p:sp>
        <p:nvSpPr>
          <p:cNvPr id="14" name="Text 12"/>
          <p:cNvSpPr/>
          <p:nvPr/>
        </p:nvSpPr>
        <p:spPr>
          <a:xfrm>
            <a:off x="990600" y="3819823"/>
            <a:ext cx="2293467"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CU-04</a:t>
            </a:r>
            <a:r>
              <a:rPr lang="en-US" sz="1200" dirty="0">
                <a:solidFill>
                  <a:srgbClr val="1D2B38"/>
                </a:solidFill>
                <a:latin typeface="Atkinson Hyperlegible Next" pitchFamily="34" charset="0"/>
                <a:ea typeface="Atkinson Hyperlegible Next" pitchFamily="34" charset="-122"/>
                <a:cs typeface="Atkinson Hyperlegible Next" pitchFamily="34" charset="-120"/>
              </a:rPr>
              <a:t> Registrar emoción / SOS</a:t>
            </a:r>
            <a:endParaRPr lang="en-US" sz="1200" dirty="0"/>
          </a:p>
        </p:txBody>
      </p:sp>
      <p:sp>
        <p:nvSpPr>
          <p:cNvPr id="15" name="Shape 13"/>
          <p:cNvSpPr/>
          <p:nvPr/>
        </p:nvSpPr>
        <p:spPr>
          <a:xfrm>
            <a:off x="3522067" y="2552601"/>
            <a:ext cx="2582366" cy="1643063"/>
          </a:xfrm>
          <a:prstGeom prst="roundRect">
            <a:avLst>
              <a:gd name="adj" fmla="val 7729"/>
            </a:avLst>
          </a:prstGeom>
          <a:solidFill>
            <a:srgbClr val="F7F5F0"/>
          </a:solidFill>
          <a:ln/>
        </p:spPr>
        <p:txBody>
          <a:bodyPr/>
          <a:lstStyle/>
          <a:p>
            <a:endParaRPr lang="es-US"/>
          </a:p>
        </p:txBody>
      </p:sp>
      <p:sp>
        <p:nvSpPr>
          <p:cNvPr id="16" name="Text 14"/>
          <p:cNvSpPr/>
          <p:nvPr/>
        </p:nvSpPr>
        <p:spPr>
          <a:xfrm>
            <a:off x="3699867" y="2730401"/>
            <a:ext cx="2293569"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2B5480"/>
                </a:solidFill>
                <a:latin typeface="Lexend" pitchFamily="34" charset="0"/>
                <a:ea typeface="Lexend" pitchFamily="34" charset="-122"/>
                <a:cs typeface="Lexend" pitchFamily="34" charset="-120"/>
              </a:rPr>
              <a:t>Profesional PIE</a:t>
            </a:r>
            <a:endParaRPr lang="en-US" sz="1500" dirty="0"/>
          </a:p>
        </p:txBody>
      </p:sp>
      <p:sp>
        <p:nvSpPr>
          <p:cNvPr id="17" name="Text 15"/>
          <p:cNvSpPr/>
          <p:nvPr/>
        </p:nvSpPr>
        <p:spPr>
          <a:xfrm>
            <a:off x="3699867" y="3047901"/>
            <a:ext cx="2293569"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CU-05</a:t>
            </a:r>
            <a:r>
              <a:rPr lang="en-US" sz="1200" dirty="0">
                <a:solidFill>
                  <a:srgbClr val="1D2B38"/>
                </a:solidFill>
                <a:latin typeface="Atkinson Hyperlegible Next" pitchFamily="34" charset="0"/>
                <a:ea typeface="Atkinson Hyperlegible Next" pitchFamily="34" charset="-122"/>
                <a:cs typeface="Atkinson Hyperlegible Next" pitchFamily="34" charset="-120"/>
              </a:rPr>
              <a:t> Bitácora · incluida por </a:t>
            </a: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CU-08</a:t>
            </a:r>
            <a:r>
              <a:rPr lang="en-US" sz="1200" dirty="0">
                <a:solidFill>
                  <a:srgbClr val="1D2B38"/>
                </a:solidFill>
                <a:latin typeface="Atkinson Hyperlegible Next" pitchFamily="34" charset="0"/>
                <a:ea typeface="Atkinson Hyperlegible Next" pitchFamily="34" charset="-122"/>
                <a:cs typeface="Atkinson Hyperlegible Next" pitchFamily="34" charset="-120"/>
              </a:rPr>
              <a:t> exportar CSV/PDF</a:t>
            </a:r>
            <a:endParaRPr lang="en-US" sz="1200" dirty="0"/>
          </a:p>
        </p:txBody>
      </p:sp>
      <p:sp>
        <p:nvSpPr>
          <p:cNvPr id="18" name="Text 16"/>
          <p:cNvSpPr/>
          <p:nvPr/>
        </p:nvSpPr>
        <p:spPr>
          <a:xfrm>
            <a:off x="3699867" y="3532882"/>
            <a:ext cx="2293569"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CU-06</a:t>
            </a:r>
            <a:r>
              <a:rPr lang="en-US" sz="1200" dirty="0">
                <a:solidFill>
                  <a:srgbClr val="1D2B38"/>
                </a:solidFill>
                <a:latin typeface="Atkinson Hyperlegible Next" pitchFamily="34" charset="0"/>
                <a:ea typeface="Atkinson Hyperlegible Next" pitchFamily="34" charset="-122"/>
                <a:cs typeface="Atkinson Hyperlegible Next" pitchFamily="34" charset="-120"/>
              </a:rPr>
              <a:t> Registrar observación</a:t>
            </a:r>
            <a:endParaRPr lang="en-US" sz="1200" dirty="0"/>
          </a:p>
        </p:txBody>
      </p:sp>
      <p:sp>
        <p:nvSpPr>
          <p:cNvPr id="19" name="Text 17"/>
          <p:cNvSpPr/>
          <p:nvPr/>
        </p:nvSpPr>
        <p:spPr>
          <a:xfrm>
            <a:off x="3699867" y="3819823"/>
            <a:ext cx="2293569"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CU-07</a:t>
            </a:r>
            <a:r>
              <a:rPr lang="en-US" sz="1200" dirty="0">
                <a:solidFill>
                  <a:srgbClr val="1D2B38"/>
                </a:solidFill>
                <a:latin typeface="Atkinson Hyperlegible Next" pitchFamily="34" charset="0"/>
                <a:ea typeface="Atkinson Hyperlegible Next" pitchFamily="34" charset="-122"/>
                <a:cs typeface="Atkinson Hyperlegible Next" pitchFamily="34" charset="-120"/>
              </a:rPr>
              <a:t> Configurar tableros</a:t>
            </a:r>
            <a:endParaRPr lang="en-US" sz="1200" dirty="0"/>
          </a:p>
        </p:txBody>
      </p:sp>
      <p:sp>
        <p:nvSpPr>
          <p:cNvPr id="20" name="Shape 18"/>
          <p:cNvSpPr/>
          <p:nvPr/>
        </p:nvSpPr>
        <p:spPr>
          <a:xfrm>
            <a:off x="6231434" y="2552601"/>
            <a:ext cx="2582267" cy="1643063"/>
          </a:xfrm>
          <a:prstGeom prst="roundRect">
            <a:avLst>
              <a:gd name="adj" fmla="val 7729"/>
            </a:avLst>
          </a:prstGeom>
          <a:solidFill>
            <a:srgbClr val="F7F5F0"/>
          </a:solidFill>
          <a:ln/>
        </p:spPr>
        <p:txBody>
          <a:bodyPr/>
          <a:lstStyle/>
          <a:p>
            <a:endParaRPr lang="es-US"/>
          </a:p>
        </p:txBody>
      </p:sp>
      <p:sp>
        <p:nvSpPr>
          <p:cNvPr id="21" name="Text 19"/>
          <p:cNvSpPr/>
          <p:nvPr/>
        </p:nvSpPr>
        <p:spPr>
          <a:xfrm>
            <a:off x="6409234" y="2730401"/>
            <a:ext cx="2293467"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6B4F24"/>
                </a:solidFill>
                <a:latin typeface="Lexend" pitchFamily="34" charset="0"/>
                <a:ea typeface="Lexend" pitchFamily="34" charset="-122"/>
                <a:cs typeface="Lexend" pitchFamily="34" charset="-120"/>
              </a:rPr>
              <a:t>Administrador</a:t>
            </a:r>
            <a:endParaRPr lang="en-US" sz="1500" dirty="0"/>
          </a:p>
        </p:txBody>
      </p:sp>
      <p:sp>
        <p:nvSpPr>
          <p:cNvPr id="22" name="Text 20"/>
          <p:cNvSpPr/>
          <p:nvPr/>
        </p:nvSpPr>
        <p:spPr>
          <a:xfrm>
            <a:off x="6409234" y="3047901"/>
            <a:ext cx="2293467"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CU-09</a:t>
            </a:r>
            <a:r>
              <a:rPr lang="en-US" sz="1200" dirty="0">
                <a:solidFill>
                  <a:srgbClr val="1D2B38"/>
                </a:solidFill>
                <a:latin typeface="Atkinson Hyperlegible Next" pitchFamily="34" charset="0"/>
                <a:ea typeface="Atkinson Hyperlegible Next" pitchFamily="34" charset="-122"/>
                <a:cs typeface="Atkinson Hyperlegible Next" pitchFamily="34" charset="-120"/>
              </a:rPr>
              <a:t> Usuarios y roles</a:t>
            </a:r>
            <a:endParaRPr lang="en-US" sz="1200" dirty="0"/>
          </a:p>
        </p:txBody>
      </p:sp>
      <p:sp>
        <p:nvSpPr>
          <p:cNvPr id="23" name="Text 21"/>
          <p:cNvSpPr/>
          <p:nvPr/>
        </p:nvSpPr>
        <p:spPr>
          <a:xfrm>
            <a:off x="6409234" y="3334841"/>
            <a:ext cx="2293467" cy="22344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CU-10</a:t>
            </a:r>
            <a:r>
              <a:rPr lang="en-US" sz="1200" dirty="0">
                <a:solidFill>
                  <a:srgbClr val="1D2B38"/>
                </a:solidFill>
                <a:latin typeface="Atkinson Hyperlegible Next" pitchFamily="34" charset="0"/>
                <a:ea typeface="Atkinson Hyperlegible Next" pitchFamily="34" charset="-122"/>
                <a:cs typeface="Atkinson Hyperlegible Next" pitchFamily="34" charset="-120"/>
              </a:rPr>
              <a:t> Catálogo de pictogramas</a:t>
            </a:r>
            <a:endParaRPr lang="en-US" sz="1200" dirty="0"/>
          </a:p>
        </p:txBody>
      </p:sp>
      <p:sp>
        <p:nvSpPr>
          <p:cNvPr id="24" name="Shape 22"/>
          <p:cNvSpPr/>
          <p:nvPr/>
        </p:nvSpPr>
        <p:spPr>
          <a:xfrm>
            <a:off x="9121775" y="1676995"/>
            <a:ext cx="2254250" cy="4083050"/>
          </a:xfrm>
          <a:prstGeom prst="roundRect">
            <a:avLst>
              <a:gd name="adj" fmla="val 4366"/>
            </a:avLst>
          </a:prstGeom>
          <a:solidFill>
            <a:srgbClr val="FFFFFF"/>
          </a:solidFill>
          <a:ln w="6350">
            <a:solidFill>
              <a:srgbClr val="D5DDE2"/>
            </a:solidFill>
            <a:prstDash val="solid"/>
          </a:ln>
        </p:spPr>
        <p:txBody>
          <a:bodyPr/>
          <a:lstStyle/>
          <a:p>
            <a:endParaRPr lang="es-US"/>
          </a:p>
        </p:txBody>
      </p:sp>
      <p:pic>
        <p:nvPicPr>
          <p:cNvPr id="25" name="Image 0" descr="Diagrama de casos de uso de TEA-yudo con módulos Estudiante, Profesional PIE y Administración"/>
          <p:cNvPicPr>
            <a:picLocks noChangeAspect="1"/>
          </p:cNvPicPr>
          <p:nvPr/>
        </p:nvPicPr>
        <p:blipFill>
          <a:blip r:embed="rId3"/>
          <a:srcRect t="-44" b="-44"/>
          <a:stretch/>
        </p:blipFill>
        <p:spPr>
          <a:xfrm>
            <a:off x="9201150" y="1756370"/>
            <a:ext cx="2095500" cy="3924300"/>
          </a:xfrm>
          <a:prstGeom prst="rect">
            <a:avLst/>
          </a:prstGeom>
        </p:spPr>
      </p:pic>
      <p:sp>
        <p:nvSpPr>
          <p:cNvPr id="26" name="Text 23"/>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27" name="Text 24"/>
          <p:cNvSpPr/>
          <p:nvPr/>
        </p:nvSpPr>
        <p:spPr>
          <a:xfrm>
            <a:off x="11204277" y="6243340"/>
            <a:ext cx="17492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DISEÑO TÉCNICO · UML 2.5</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Secuencia de la funcionalidad principal (CU-01)</a:t>
            </a:r>
            <a:endParaRPr lang="en-US" sz="3000" dirty="0"/>
          </a:p>
        </p:txBody>
      </p:sp>
      <p:sp>
        <p:nvSpPr>
          <p:cNvPr id="4" name="Shape 2"/>
          <p:cNvSpPr/>
          <p:nvPr/>
        </p:nvSpPr>
        <p:spPr>
          <a:xfrm>
            <a:off x="409575" y="1676995"/>
            <a:ext cx="8972550" cy="4089400"/>
          </a:xfrm>
          <a:prstGeom prst="roundRect">
            <a:avLst>
              <a:gd name="adj" fmla="val 3028"/>
            </a:avLst>
          </a:prstGeom>
          <a:solidFill>
            <a:srgbClr val="FFFFFF"/>
          </a:solidFill>
          <a:ln w="6350">
            <a:solidFill>
              <a:srgbClr val="E2DDD2"/>
            </a:solidFill>
            <a:prstDash val="solid"/>
          </a:ln>
        </p:spPr>
        <p:txBody>
          <a:bodyPr/>
          <a:lstStyle/>
          <a:p>
            <a:endParaRPr lang="es-US"/>
          </a:p>
        </p:txBody>
      </p:sp>
      <p:pic>
        <p:nvPicPr>
          <p:cNvPr id="5" name="Image 0" descr="Diagrama de secuencia de CU-01: selección de pictogramas, caché, voz TTS, logger, persistencia en IndexedDB y envío al backend con alternativa sin conexión"/>
          <p:cNvPicPr>
            <a:picLocks noChangeAspect="1"/>
          </p:cNvPicPr>
          <p:nvPr/>
        </p:nvPicPr>
        <p:blipFill>
          <a:blip r:embed="rId3"/>
          <a:srcRect l="-25" r="-25"/>
          <a:stretch/>
        </p:blipFill>
        <p:spPr>
          <a:xfrm>
            <a:off x="501650" y="1769070"/>
            <a:ext cx="8788400" cy="3905250"/>
          </a:xfrm>
          <a:prstGeom prst="rect">
            <a:avLst/>
          </a:prstGeom>
        </p:spPr>
      </p:pic>
      <p:sp>
        <p:nvSpPr>
          <p:cNvPr id="6" name="Shape 3"/>
          <p:cNvSpPr/>
          <p:nvPr/>
        </p:nvSpPr>
        <p:spPr>
          <a:xfrm>
            <a:off x="9563100" y="1673820"/>
            <a:ext cx="2222500" cy="901502"/>
          </a:xfrm>
          <a:prstGeom prst="roundRect">
            <a:avLst>
              <a:gd name="adj" fmla="val 11270"/>
            </a:avLst>
          </a:prstGeom>
          <a:solidFill>
            <a:srgbClr val="DCE7F2"/>
          </a:solidFill>
          <a:ln/>
        </p:spPr>
        <p:txBody>
          <a:bodyPr/>
          <a:lstStyle/>
          <a:p>
            <a:endParaRPr lang="es-US"/>
          </a:p>
        </p:txBody>
      </p:sp>
      <p:sp>
        <p:nvSpPr>
          <p:cNvPr id="7" name="Text 4"/>
          <p:cNvSpPr/>
          <p:nvPr/>
        </p:nvSpPr>
        <p:spPr>
          <a:xfrm>
            <a:off x="9690100" y="1800820"/>
            <a:ext cx="202755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B5480"/>
                </a:solidFill>
                <a:latin typeface="Atkinson Hyperlegible Next" pitchFamily="34" charset="0"/>
                <a:ea typeface="Atkinson Hyperlegible Next" pitchFamily="34" charset="-122"/>
                <a:cs typeface="Atkinson Hyperlegible Next" pitchFamily="34" charset="-120"/>
              </a:rPr>
              <a:t>Pasos 1–7</a:t>
            </a:r>
            <a:endParaRPr lang="en-US" sz="1200" dirty="0"/>
          </a:p>
        </p:txBody>
      </p:sp>
      <p:sp>
        <p:nvSpPr>
          <p:cNvPr id="8" name="Text 5"/>
          <p:cNvSpPr/>
          <p:nvPr/>
        </p:nvSpPr>
        <p:spPr>
          <a:xfrm>
            <a:off x="9690100" y="2052241"/>
            <a:ext cx="2027555"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Pictograma → caché → voz TTS → Logger</a:t>
            </a:r>
            <a:endParaRPr lang="en-US" sz="1200" dirty="0"/>
          </a:p>
        </p:txBody>
      </p:sp>
      <p:sp>
        <p:nvSpPr>
          <p:cNvPr id="9" name="Shape 6"/>
          <p:cNvSpPr/>
          <p:nvPr/>
        </p:nvSpPr>
        <p:spPr>
          <a:xfrm>
            <a:off x="9563100" y="2676922"/>
            <a:ext cx="2222500" cy="901502"/>
          </a:xfrm>
          <a:prstGeom prst="roundRect">
            <a:avLst>
              <a:gd name="adj" fmla="val 11270"/>
            </a:avLst>
          </a:prstGeom>
          <a:solidFill>
            <a:srgbClr val="D8ECE8"/>
          </a:solidFill>
          <a:ln/>
        </p:spPr>
        <p:txBody>
          <a:bodyPr/>
          <a:lstStyle/>
          <a:p>
            <a:endParaRPr lang="es-US"/>
          </a:p>
        </p:txBody>
      </p:sp>
      <p:sp>
        <p:nvSpPr>
          <p:cNvPr id="10" name="Text 7"/>
          <p:cNvSpPr/>
          <p:nvPr/>
        </p:nvSpPr>
        <p:spPr>
          <a:xfrm>
            <a:off x="9690100" y="2803922"/>
            <a:ext cx="202755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par</a:t>
            </a:r>
            <a:endParaRPr lang="en-US" sz="1200" dirty="0"/>
          </a:p>
        </p:txBody>
      </p:sp>
      <p:sp>
        <p:nvSpPr>
          <p:cNvPr id="11" name="Text 8"/>
          <p:cNvSpPr/>
          <p:nvPr/>
        </p:nvSpPr>
        <p:spPr>
          <a:xfrm>
            <a:off x="9690100" y="3055342"/>
            <a:ext cx="2027555"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Persistencia inmediata en IndexedDB</a:t>
            </a:r>
            <a:endParaRPr lang="en-US" sz="1200" dirty="0"/>
          </a:p>
        </p:txBody>
      </p:sp>
      <p:sp>
        <p:nvSpPr>
          <p:cNvPr id="12" name="Shape 9"/>
          <p:cNvSpPr/>
          <p:nvPr/>
        </p:nvSpPr>
        <p:spPr>
          <a:xfrm>
            <a:off x="9563100" y="3680023"/>
            <a:ext cx="2222500" cy="1137642"/>
          </a:xfrm>
          <a:prstGeom prst="roundRect">
            <a:avLst>
              <a:gd name="adj" fmla="val 8931"/>
            </a:avLst>
          </a:prstGeom>
          <a:solidFill>
            <a:srgbClr val="EFE4D2"/>
          </a:solidFill>
          <a:ln/>
        </p:spPr>
        <p:txBody>
          <a:bodyPr/>
          <a:lstStyle/>
          <a:p>
            <a:endParaRPr lang="es-US"/>
          </a:p>
        </p:txBody>
      </p:sp>
      <p:sp>
        <p:nvSpPr>
          <p:cNvPr id="13" name="Text 10"/>
          <p:cNvSpPr/>
          <p:nvPr/>
        </p:nvSpPr>
        <p:spPr>
          <a:xfrm>
            <a:off x="9690100" y="3807023"/>
            <a:ext cx="202755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4F24"/>
                </a:solidFill>
                <a:latin typeface="Atkinson Hyperlegible Next" pitchFamily="34" charset="0"/>
                <a:ea typeface="Atkinson Hyperlegible Next" pitchFamily="34" charset="-122"/>
                <a:cs typeface="Atkinson Hyperlegible Next" pitchFamily="34" charset="-120"/>
              </a:rPr>
              <a:t>alt</a:t>
            </a:r>
            <a:endParaRPr lang="en-US" sz="1200" dirty="0"/>
          </a:p>
        </p:txBody>
      </p:sp>
      <p:sp>
        <p:nvSpPr>
          <p:cNvPr id="14" name="Text 11"/>
          <p:cNvSpPr/>
          <p:nvPr/>
        </p:nvSpPr>
        <p:spPr>
          <a:xfrm>
            <a:off x="9690100" y="4058444"/>
            <a:ext cx="202755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Con red: POST + INSERT</a:t>
            </a:r>
            <a:endParaRPr lang="en-US" sz="1200" dirty="0"/>
          </a:p>
        </p:txBody>
      </p:sp>
      <p:sp>
        <p:nvSpPr>
          <p:cNvPr id="15" name="Text 12"/>
          <p:cNvSpPr/>
          <p:nvPr/>
        </p:nvSpPr>
        <p:spPr>
          <a:xfrm>
            <a:off x="9690100" y="4294584"/>
            <a:ext cx="2027555"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Sin red: cola pendiente con reintento</a:t>
            </a:r>
            <a:endParaRPr lang="en-US" sz="1200" dirty="0"/>
          </a:p>
        </p:txBody>
      </p:sp>
      <p:sp>
        <p:nvSpPr>
          <p:cNvPr id="16" name="Text 13"/>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7" name="Text 14"/>
          <p:cNvSpPr/>
          <p:nvPr/>
        </p:nvSpPr>
        <p:spPr>
          <a:xfrm>
            <a:off x="11182846" y="6243340"/>
            <a:ext cx="19635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1F3"/>
        </a:solidFill>
        <a:effectLst/>
      </p:bgPr>
    </p:bg>
    <p:spTree>
      <p:nvGrpSpPr>
        <p:cNvPr id="1" name=""/>
        <p:cNvGrpSpPr/>
        <p:nvPr/>
      </p:nvGrpSpPr>
      <p:grpSpPr>
        <a:xfrm>
          <a:off x="0" y="0"/>
          <a:ext cx="0" cy="0"/>
          <a:chOff x="0" y="0"/>
          <a:chExt cx="0" cy="0"/>
        </a:xfrm>
      </p:grpSpPr>
      <p:sp>
        <p:nvSpPr>
          <p:cNvPr id="2" name="Text 0"/>
          <p:cNvSpPr/>
          <p:nvPr/>
        </p:nvSpPr>
        <p:spPr>
          <a:xfrm>
            <a:off x="812800" y="762000"/>
            <a:ext cx="570403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PROTOTIPO UI/UX</a:t>
            </a:r>
            <a:endParaRPr lang="en-US" sz="1200" dirty="0"/>
          </a:p>
        </p:txBody>
      </p:sp>
      <p:sp>
        <p:nvSpPr>
          <p:cNvPr id="3" name="Text 1"/>
          <p:cNvSpPr>
            <a:spLocks noGrp="1"/>
          </p:cNvSpPr>
          <p:nvPr>
            <p:ph type="title"/>
          </p:nvPr>
        </p:nvSpPr>
        <p:spPr>
          <a:xfrm>
            <a:off x="812800" y="1026120"/>
            <a:ext cx="6645473"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Cuatro módulos prototipados</a:t>
            </a:r>
            <a:endParaRPr lang="en-US" sz="3000" dirty="0"/>
          </a:p>
        </p:txBody>
      </p:sp>
      <p:sp>
        <p:nvSpPr>
          <p:cNvPr id="4" name="Text 2"/>
          <p:cNvSpPr/>
          <p:nvPr/>
        </p:nvSpPr>
        <p:spPr>
          <a:xfrm>
            <a:off x="8639969" y="1130300"/>
            <a:ext cx="2739231" cy="314920"/>
          </a:xfrm>
          <a:prstGeom prst="roundRect">
            <a:avLst>
              <a:gd name="adj" fmla="val 50000"/>
            </a:avLst>
          </a:prstGeom>
          <a:solidFill>
            <a:srgbClr val="D8ECE8"/>
          </a:solidFill>
          <a:ln/>
        </p:spPr>
        <p:txBody>
          <a:bodyPr wrap="none" lIns="0" tIns="0" rIns="0" bIns="0" rtlCol="0" anchor="ctr">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Figma / Balsamiq · criterios WCAG</a:t>
            </a:r>
            <a:endParaRPr lang="en-US" sz="1200" dirty="0"/>
          </a:p>
        </p:txBody>
      </p:sp>
      <p:sp>
        <p:nvSpPr>
          <p:cNvPr id="5" name="Text 3"/>
          <p:cNvSpPr/>
          <p:nvPr/>
        </p:nvSpPr>
        <p:spPr>
          <a:xfrm>
            <a:off x="406400" y="1673820"/>
            <a:ext cx="281241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Comunicador</a:t>
            </a:r>
            <a:endParaRPr lang="en-US" sz="1400" dirty="0"/>
          </a:p>
        </p:txBody>
      </p:sp>
      <p:sp>
        <p:nvSpPr>
          <p:cNvPr id="6" name="Shape 4"/>
          <p:cNvSpPr/>
          <p:nvPr/>
        </p:nvSpPr>
        <p:spPr>
          <a:xfrm>
            <a:off x="409575" y="2002036"/>
            <a:ext cx="2724150" cy="3460750"/>
          </a:xfrm>
          <a:prstGeom prst="roundRect">
            <a:avLst>
              <a:gd name="adj" fmla="val 3613"/>
            </a:avLst>
          </a:prstGeom>
          <a:solidFill>
            <a:srgbClr val="FFFFFF"/>
          </a:solidFill>
          <a:ln w="6350">
            <a:solidFill>
              <a:srgbClr val="D5DDE2"/>
            </a:solidFill>
            <a:prstDash val="solid"/>
          </a:ln>
        </p:spPr>
        <p:txBody>
          <a:bodyPr/>
          <a:lstStyle/>
          <a:p>
            <a:endParaRPr lang="es-US"/>
          </a:p>
        </p:txBody>
      </p:sp>
      <p:pic>
        <p:nvPicPr>
          <p:cNvPr id="7" name="Image 0" descr="Mockup del comunicador SAAC con tablero de pictogramas y botones Hablar, Atrás y Borrar"/>
          <p:cNvPicPr>
            <a:picLocks noChangeAspect="1"/>
          </p:cNvPicPr>
          <p:nvPr/>
        </p:nvPicPr>
        <p:blipFill>
          <a:blip r:embed="rId3"/>
          <a:srcRect t="-57727" b="-57727"/>
          <a:stretch/>
        </p:blipFill>
        <p:spPr>
          <a:xfrm>
            <a:off x="488950" y="2081411"/>
            <a:ext cx="2565400" cy="3302000"/>
          </a:xfrm>
          <a:prstGeom prst="rect">
            <a:avLst/>
          </a:prstGeom>
        </p:spPr>
      </p:pic>
      <p:sp>
        <p:nvSpPr>
          <p:cNvPr id="8" name="Text 5"/>
          <p:cNvSpPr/>
          <p:nvPr/>
        </p:nvSpPr>
        <p:spPr>
          <a:xfrm>
            <a:off x="3289300" y="1673820"/>
            <a:ext cx="281241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Agenda Diaria</a:t>
            </a:r>
            <a:endParaRPr lang="en-US" sz="1400" dirty="0"/>
          </a:p>
        </p:txBody>
      </p:sp>
      <p:sp>
        <p:nvSpPr>
          <p:cNvPr id="9" name="Shape 6"/>
          <p:cNvSpPr/>
          <p:nvPr/>
        </p:nvSpPr>
        <p:spPr>
          <a:xfrm>
            <a:off x="3292475" y="2002036"/>
            <a:ext cx="2724150" cy="3460750"/>
          </a:xfrm>
          <a:prstGeom prst="roundRect">
            <a:avLst>
              <a:gd name="adj" fmla="val 3613"/>
            </a:avLst>
          </a:prstGeom>
          <a:solidFill>
            <a:srgbClr val="FFFFFF"/>
          </a:solidFill>
          <a:ln w="6350">
            <a:solidFill>
              <a:srgbClr val="D5DDE2"/>
            </a:solidFill>
            <a:prstDash val="solid"/>
          </a:ln>
        </p:spPr>
        <p:txBody>
          <a:bodyPr/>
          <a:lstStyle/>
          <a:p>
            <a:endParaRPr lang="es-US"/>
          </a:p>
        </p:txBody>
      </p:sp>
      <p:pic>
        <p:nvPicPr>
          <p:cNvPr id="10" name="Image 1" descr="Mockup de la rutina escolar diaria con tareas y botones para marcar como terminadas"/>
          <p:cNvPicPr>
            <a:picLocks noChangeAspect="1"/>
          </p:cNvPicPr>
          <p:nvPr/>
        </p:nvPicPr>
        <p:blipFill>
          <a:blip r:embed="rId4"/>
          <a:srcRect t="-45148" b="-45148"/>
          <a:stretch/>
        </p:blipFill>
        <p:spPr>
          <a:xfrm>
            <a:off x="3371850" y="2081411"/>
            <a:ext cx="2565400" cy="3302000"/>
          </a:xfrm>
          <a:prstGeom prst="rect">
            <a:avLst/>
          </a:prstGeom>
        </p:spPr>
      </p:pic>
      <p:sp>
        <p:nvSpPr>
          <p:cNvPr id="11" name="Text 7"/>
          <p:cNvSpPr/>
          <p:nvPr/>
        </p:nvSpPr>
        <p:spPr>
          <a:xfrm>
            <a:off x="6172200" y="1673820"/>
            <a:ext cx="281241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Manejo de Crisis</a:t>
            </a:r>
            <a:endParaRPr lang="en-US" sz="1400" dirty="0"/>
          </a:p>
        </p:txBody>
      </p:sp>
      <p:sp>
        <p:nvSpPr>
          <p:cNvPr id="12" name="Shape 8"/>
          <p:cNvSpPr/>
          <p:nvPr/>
        </p:nvSpPr>
        <p:spPr>
          <a:xfrm>
            <a:off x="6175375" y="2002036"/>
            <a:ext cx="2724150" cy="3460750"/>
          </a:xfrm>
          <a:prstGeom prst="roundRect">
            <a:avLst>
              <a:gd name="adj" fmla="val 3613"/>
            </a:avLst>
          </a:prstGeom>
          <a:solidFill>
            <a:srgbClr val="FFFFFF"/>
          </a:solidFill>
          <a:ln w="6350">
            <a:solidFill>
              <a:srgbClr val="D5DDE2"/>
            </a:solidFill>
            <a:prstDash val="solid"/>
          </a:ln>
        </p:spPr>
        <p:txBody>
          <a:bodyPr/>
          <a:lstStyle/>
          <a:p>
            <a:endParaRPr lang="es-US"/>
          </a:p>
        </p:txBody>
      </p:sp>
      <p:pic>
        <p:nvPicPr>
          <p:cNvPr id="13" name="Image 2" descr="Mockup del termómetro emocional verde, amarillo y rojo con respiración guiada"/>
          <p:cNvPicPr>
            <a:picLocks noChangeAspect="1"/>
          </p:cNvPicPr>
          <p:nvPr/>
        </p:nvPicPr>
        <p:blipFill>
          <a:blip r:embed="rId5"/>
          <a:srcRect t="-35170" b="-35170"/>
          <a:stretch/>
        </p:blipFill>
        <p:spPr>
          <a:xfrm>
            <a:off x="6254750" y="2081411"/>
            <a:ext cx="2565400" cy="3302000"/>
          </a:xfrm>
          <a:prstGeom prst="rect">
            <a:avLst/>
          </a:prstGeom>
        </p:spPr>
      </p:pic>
      <p:sp>
        <p:nvSpPr>
          <p:cNvPr id="14" name="Text 9"/>
          <p:cNvSpPr/>
          <p:nvPr/>
        </p:nvSpPr>
        <p:spPr>
          <a:xfrm>
            <a:off x="9055100" y="1673820"/>
            <a:ext cx="2812415"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Bitácora PIE</a:t>
            </a:r>
            <a:endParaRPr lang="en-US" sz="1400" dirty="0"/>
          </a:p>
        </p:txBody>
      </p:sp>
      <p:sp>
        <p:nvSpPr>
          <p:cNvPr id="15" name="Shape 10"/>
          <p:cNvSpPr/>
          <p:nvPr/>
        </p:nvSpPr>
        <p:spPr>
          <a:xfrm>
            <a:off x="9058275" y="2002036"/>
            <a:ext cx="2724150" cy="3460750"/>
          </a:xfrm>
          <a:prstGeom prst="roundRect">
            <a:avLst>
              <a:gd name="adj" fmla="val 3613"/>
            </a:avLst>
          </a:prstGeom>
          <a:solidFill>
            <a:srgbClr val="FFFFFF"/>
          </a:solidFill>
          <a:ln w="6350">
            <a:solidFill>
              <a:srgbClr val="D5DDE2"/>
            </a:solidFill>
            <a:prstDash val="solid"/>
          </a:ln>
        </p:spPr>
        <p:txBody>
          <a:bodyPr/>
          <a:lstStyle/>
          <a:p>
            <a:endParaRPr lang="es-US"/>
          </a:p>
        </p:txBody>
      </p:sp>
      <p:pic>
        <p:nvPicPr>
          <p:cNvPr id="16" name="Image 3" descr="Mockup de la bitácora profesional PIE con indicadores, observación pedagógica e historial"/>
          <p:cNvPicPr>
            <a:picLocks noChangeAspect="1"/>
          </p:cNvPicPr>
          <p:nvPr/>
        </p:nvPicPr>
        <p:blipFill>
          <a:blip r:embed="rId6"/>
          <a:srcRect t="-13207" b="-13207"/>
          <a:stretch/>
        </p:blipFill>
        <p:spPr>
          <a:xfrm>
            <a:off x="9137650" y="2081411"/>
            <a:ext cx="2565400" cy="3302000"/>
          </a:xfrm>
          <a:prstGeom prst="rect">
            <a:avLst/>
          </a:prstGeom>
        </p:spPr>
      </p:pic>
      <p:sp>
        <p:nvSpPr>
          <p:cNvPr id="17" name="Text 11"/>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8" name="Text 12"/>
          <p:cNvSpPr/>
          <p:nvPr/>
        </p:nvSpPr>
        <p:spPr>
          <a:xfrm>
            <a:off x="11178580" y="6243340"/>
            <a:ext cx="20062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a:effectLst/>
      </p:bgPr>
    </p:bg>
    <p:spTree>
      <p:nvGrpSpPr>
        <p:cNvPr id="1" name=""/>
        <p:cNvGrpSpPr/>
        <p:nvPr/>
      </p:nvGrpSpPr>
      <p:grpSpPr>
        <a:xfrm>
          <a:off x="0" y="0"/>
          <a:ext cx="0" cy="0"/>
          <a:chOff x="0" y="0"/>
          <a:chExt cx="0" cy="0"/>
        </a:xfrm>
      </p:grpSpPr>
      <p:sp>
        <p:nvSpPr>
          <p:cNvPr id="3" name="Text 1"/>
          <p:cNvSpPr/>
          <p:nvPr/>
        </p:nvSpPr>
        <p:spPr>
          <a:xfrm>
            <a:off x="11172726" y="6243340"/>
            <a:ext cx="20647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14</a:t>
            </a:r>
            <a:endParaRPr lang="en-US" sz="1200" dirty="0"/>
          </a:p>
        </p:txBody>
      </p:sp>
      <p:sp>
        <p:nvSpPr>
          <p:cNvPr id="4" name="Text 2"/>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MONITOREO</a:t>
            </a:r>
            <a:endParaRPr lang="en-US" sz="1200" dirty="0"/>
          </a:p>
        </p:txBody>
      </p:sp>
      <p:sp>
        <p:nvSpPr>
          <p:cNvPr id="5" name="Text 3"/>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Estado del plan de trabajo</a:t>
            </a:r>
            <a:endParaRPr lang="en-US" sz="3000" dirty="0"/>
          </a:p>
        </p:txBody>
      </p:sp>
      <p:sp>
        <p:nvSpPr>
          <p:cNvPr id="6" name="Shape 4"/>
          <p:cNvSpPr/>
          <p:nvPr/>
        </p:nvSpPr>
        <p:spPr>
          <a:xfrm>
            <a:off x="812800" y="1994495"/>
            <a:ext cx="10566400" cy="0"/>
          </a:xfrm>
          <a:prstGeom prst="line">
            <a:avLst/>
          </a:prstGeom>
          <a:noFill/>
          <a:ln w="6350">
            <a:solidFill>
              <a:srgbClr val="DCD6CA"/>
            </a:solidFill>
            <a:prstDash val="solid"/>
          </a:ln>
        </p:spPr>
        <p:txBody>
          <a:bodyPr/>
          <a:lstStyle/>
          <a:p>
            <a:endParaRPr lang="es-US"/>
          </a:p>
        </p:txBody>
      </p:sp>
      <p:sp>
        <p:nvSpPr>
          <p:cNvPr id="7" name="Text 5"/>
          <p:cNvSpPr/>
          <p:nvPr/>
        </p:nvSpPr>
        <p:spPr>
          <a:xfrm>
            <a:off x="812800" y="1692870"/>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Modelamiento de arquitectura y datos</a:t>
            </a:r>
            <a:endParaRPr lang="en-US" sz="1300" dirty="0"/>
          </a:p>
        </p:txBody>
      </p:sp>
      <p:sp>
        <p:nvSpPr>
          <p:cNvPr id="8" name="Text 6"/>
          <p:cNvSpPr/>
          <p:nvPr/>
        </p:nvSpPr>
        <p:spPr>
          <a:xfrm>
            <a:off x="4775200" y="1670050"/>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D8ECE8"/>
          </a:solidFill>
          <a:ln/>
        </p:spPr>
        <p:txBody>
          <a:bodyPr wrap="square" lIns="50800" tIns="31750" rIns="50800" bIns="6350" rtlCol="0" anchor="t">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Completado</a:t>
            </a:r>
            <a:endParaRPr lang="en-US" sz="1200" dirty="0"/>
          </a:p>
        </p:txBody>
      </p:sp>
      <p:sp>
        <p:nvSpPr>
          <p:cNvPr id="9" name="Text 7"/>
          <p:cNvSpPr/>
          <p:nvPr/>
        </p:nvSpPr>
        <p:spPr>
          <a:xfrm>
            <a:off x="6515100" y="1701800"/>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UML 2.5, DER y modelo relacional</a:t>
            </a:r>
            <a:endParaRPr lang="en-US" sz="1200" dirty="0"/>
          </a:p>
        </p:txBody>
      </p:sp>
      <p:sp>
        <p:nvSpPr>
          <p:cNvPr id="10" name="Shape 8"/>
          <p:cNvSpPr/>
          <p:nvPr/>
        </p:nvSpPr>
        <p:spPr>
          <a:xfrm>
            <a:off x="812800" y="2366566"/>
            <a:ext cx="10566400" cy="0"/>
          </a:xfrm>
          <a:prstGeom prst="line">
            <a:avLst/>
          </a:prstGeom>
          <a:noFill/>
          <a:ln w="6350">
            <a:solidFill>
              <a:srgbClr val="DCD6CA"/>
            </a:solidFill>
            <a:prstDash val="solid"/>
          </a:ln>
        </p:spPr>
        <p:txBody>
          <a:bodyPr/>
          <a:lstStyle/>
          <a:p>
            <a:endParaRPr lang="es-US"/>
          </a:p>
        </p:txBody>
      </p:sp>
      <p:sp>
        <p:nvSpPr>
          <p:cNvPr id="11" name="Text 9"/>
          <p:cNvSpPr/>
          <p:nvPr/>
        </p:nvSpPr>
        <p:spPr>
          <a:xfrm>
            <a:off x="812800" y="2064941"/>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Investigación y validación con PIE</a:t>
            </a:r>
            <a:endParaRPr lang="en-US" sz="1300" dirty="0"/>
          </a:p>
        </p:txBody>
      </p:sp>
      <p:sp>
        <p:nvSpPr>
          <p:cNvPr id="12" name="Text 10"/>
          <p:cNvSpPr/>
          <p:nvPr/>
        </p:nvSpPr>
        <p:spPr>
          <a:xfrm>
            <a:off x="4775200" y="2042120"/>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D8ECE8"/>
          </a:solidFill>
          <a:ln/>
        </p:spPr>
        <p:txBody>
          <a:bodyPr wrap="square" lIns="50800" tIns="31750" rIns="50800" bIns="6350" rtlCol="0" anchor="t">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Completado</a:t>
            </a:r>
            <a:endParaRPr lang="en-US" sz="1200" dirty="0"/>
          </a:p>
        </p:txBody>
      </p:sp>
      <p:sp>
        <p:nvSpPr>
          <p:cNvPr id="13" name="Text 11"/>
          <p:cNvSpPr/>
          <p:nvPr/>
        </p:nvSpPr>
        <p:spPr>
          <a:xfrm>
            <a:off x="6515100" y="2073870"/>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Encuesta a especialista PIE</a:t>
            </a:r>
            <a:endParaRPr lang="en-US" sz="1200" dirty="0"/>
          </a:p>
        </p:txBody>
      </p:sp>
      <p:sp>
        <p:nvSpPr>
          <p:cNvPr id="14" name="Shape 12"/>
          <p:cNvSpPr/>
          <p:nvPr/>
        </p:nvSpPr>
        <p:spPr>
          <a:xfrm>
            <a:off x="812800" y="2738636"/>
            <a:ext cx="10566400" cy="0"/>
          </a:xfrm>
          <a:prstGeom prst="line">
            <a:avLst/>
          </a:prstGeom>
          <a:noFill/>
          <a:ln w="6350">
            <a:solidFill>
              <a:srgbClr val="DCD6CA"/>
            </a:solidFill>
            <a:prstDash val="solid"/>
          </a:ln>
        </p:spPr>
        <p:txBody>
          <a:bodyPr/>
          <a:lstStyle/>
          <a:p>
            <a:endParaRPr lang="es-US"/>
          </a:p>
        </p:txBody>
      </p:sp>
      <p:sp>
        <p:nvSpPr>
          <p:cNvPr id="15" name="Text 13"/>
          <p:cNvSpPr/>
          <p:nvPr/>
        </p:nvSpPr>
        <p:spPr>
          <a:xfrm>
            <a:off x="812800" y="2437011"/>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Diseño UI/UX</a:t>
            </a:r>
            <a:endParaRPr lang="en-US" sz="1300" dirty="0"/>
          </a:p>
        </p:txBody>
      </p:sp>
      <p:sp>
        <p:nvSpPr>
          <p:cNvPr id="16" name="Text 14"/>
          <p:cNvSpPr/>
          <p:nvPr/>
        </p:nvSpPr>
        <p:spPr>
          <a:xfrm>
            <a:off x="4775200" y="2414191"/>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D8ECE8"/>
          </a:solidFill>
          <a:ln/>
        </p:spPr>
        <p:txBody>
          <a:bodyPr wrap="square" lIns="50800" tIns="31750" rIns="50800" bIns="6350" rtlCol="0" anchor="t">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Completado</a:t>
            </a:r>
            <a:endParaRPr lang="en-US" sz="1200" dirty="0"/>
          </a:p>
        </p:txBody>
      </p:sp>
      <p:sp>
        <p:nvSpPr>
          <p:cNvPr id="17" name="Text 15"/>
          <p:cNvSpPr/>
          <p:nvPr/>
        </p:nvSpPr>
        <p:spPr>
          <a:xfrm>
            <a:off x="6515100" y="2445941"/>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Mockups de los 4 módulos</a:t>
            </a:r>
            <a:endParaRPr lang="en-US" sz="1200" dirty="0"/>
          </a:p>
        </p:txBody>
      </p:sp>
      <p:sp>
        <p:nvSpPr>
          <p:cNvPr id="18" name="Shape 16"/>
          <p:cNvSpPr/>
          <p:nvPr/>
        </p:nvSpPr>
        <p:spPr>
          <a:xfrm>
            <a:off x="812800" y="3072606"/>
            <a:ext cx="10566400" cy="0"/>
          </a:xfrm>
          <a:prstGeom prst="line">
            <a:avLst/>
          </a:prstGeom>
          <a:noFill/>
          <a:ln w="6350">
            <a:solidFill>
              <a:srgbClr val="DCD6CA"/>
            </a:solidFill>
            <a:prstDash val="solid"/>
          </a:ln>
        </p:spPr>
        <p:txBody>
          <a:bodyPr/>
          <a:lstStyle/>
          <a:p>
            <a:endParaRPr lang="es-US"/>
          </a:p>
        </p:txBody>
      </p:sp>
      <p:sp>
        <p:nvSpPr>
          <p:cNvPr id="19" name="Text 17"/>
          <p:cNvSpPr/>
          <p:nvPr/>
        </p:nvSpPr>
        <p:spPr>
          <a:xfrm>
            <a:off x="812800" y="2790031"/>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Integración API ARASAAC</a:t>
            </a:r>
            <a:endParaRPr lang="en-US" sz="1300" dirty="0"/>
          </a:p>
        </p:txBody>
      </p:sp>
      <p:sp>
        <p:nvSpPr>
          <p:cNvPr id="21" name="Text 19"/>
          <p:cNvSpPr/>
          <p:nvPr/>
        </p:nvSpPr>
        <p:spPr>
          <a:xfrm>
            <a:off x="6515100" y="2798961"/>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Catálogo de pictogramas con caché local</a:t>
            </a:r>
            <a:endParaRPr lang="en-US" sz="1200" dirty="0"/>
          </a:p>
        </p:txBody>
      </p:sp>
      <p:sp>
        <p:nvSpPr>
          <p:cNvPr id="22" name="Shape 20"/>
          <p:cNvSpPr/>
          <p:nvPr/>
        </p:nvSpPr>
        <p:spPr>
          <a:xfrm>
            <a:off x="812800" y="3444677"/>
            <a:ext cx="10566400" cy="0"/>
          </a:xfrm>
          <a:prstGeom prst="line">
            <a:avLst/>
          </a:prstGeom>
          <a:noFill/>
          <a:ln w="6350">
            <a:solidFill>
              <a:srgbClr val="DCD6CA"/>
            </a:solidFill>
            <a:prstDash val="solid"/>
          </a:ln>
        </p:spPr>
        <p:txBody>
          <a:bodyPr/>
          <a:lstStyle/>
          <a:p>
            <a:endParaRPr lang="es-US"/>
          </a:p>
        </p:txBody>
      </p:sp>
      <p:sp>
        <p:nvSpPr>
          <p:cNvPr id="23" name="Text 21"/>
          <p:cNvSpPr/>
          <p:nvPr/>
        </p:nvSpPr>
        <p:spPr>
          <a:xfrm>
            <a:off x="812800" y="3143052"/>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Desarrollo frontend</a:t>
            </a:r>
            <a:endParaRPr lang="en-US" sz="1300" dirty="0"/>
          </a:p>
        </p:txBody>
      </p:sp>
      <p:sp>
        <p:nvSpPr>
          <p:cNvPr id="24" name="Text 22"/>
          <p:cNvSpPr/>
          <p:nvPr/>
        </p:nvSpPr>
        <p:spPr>
          <a:xfrm>
            <a:off x="4775200" y="3120231"/>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F3E2BF"/>
          </a:solidFill>
          <a:ln/>
        </p:spPr>
        <p:txBody>
          <a:bodyPr wrap="square" lIns="50800" tIns="31750" rIns="50800" bIns="6350" rtlCol="0" anchor="t">
            <a:normAutofit/>
          </a:bodyPr>
          <a:lstStyle/>
          <a:p>
            <a:pPr marL="0" indent="0" algn="ctr">
              <a:lnSpc>
                <a:spcPts val="1680"/>
              </a:lnSpc>
              <a:buNone/>
            </a:pPr>
            <a:r>
              <a:rPr lang="en-US" sz="1200" b="1" dirty="0">
                <a:solidFill>
                  <a:srgbClr val="6E4A0C"/>
                </a:solidFill>
                <a:latin typeface="Atkinson Hyperlegible Next" pitchFamily="34" charset="0"/>
                <a:ea typeface="Atkinson Hyperlegible Next" pitchFamily="34" charset="-122"/>
                <a:cs typeface="Atkinson Hyperlegible Next" pitchFamily="34" charset="-120"/>
              </a:rPr>
              <a:t>En curso</a:t>
            </a:r>
            <a:endParaRPr lang="en-US" sz="1200" dirty="0"/>
          </a:p>
        </p:txBody>
      </p:sp>
      <p:sp>
        <p:nvSpPr>
          <p:cNvPr id="25" name="Text 23"/>
          <p:cNvSpPr/>
          <p:nvPr/>
        </p:nvSpPr>
        <p:spPr>
          <a:xfrm>
            <a:off x="6515100" y="3151981"/>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Falta responsividad en tablets de gama baja</a:t>
            </a:r>
            <a:endParaRPr lang="en-US" sz="1200" dirty="0"/>
          </a:p>
        </p:txBody>
      </p:sp>
      <p:sp>
        <p:nvSpPr>
          <p:cNvPr id="26" name="Shape 24"/>
          <p:cNvSpPr/>
          <p:nvPr/>
        </p:nvSpPr>
        <p:spPr>
          <a:xfrm>
            <a:off x="812800" y="3816747"/>
            <a:ext cx="10566400" cy="0"/>
          </a:xfrm>
          <a:prstGeom prst="line">
            <a:avLst/>
          </a:prstGeom>
          <a:noFill/>
          <a:ln w="6350">
            <a:solidFill>
              <a:srgbClr val="DCD6CA"/>
            </a:solidFill>
            <a:prstDash val="solid"/>
          </a:ln>
        </p:spPr>
        <p:txBody>
          <a:bodyPr/>
          <a:lstStyle/>
          <a:p>
            <a:endParaRPr lang="es-US"/>
          </a:p>
        </p:txBody>
      </p:sp>
      <p:sp>
        <p:nvSpPr>
          <p:cNvPr id="27" name="Text 25"/>
          <p:cNvSpPr/>
          <p:nvPr/>
        </p:nvSpPr>
        <p:spPr>
          <a:xfrm>
            <a:off x="812800" y="3515122"/>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Backend y persistencia de la bitácora</a:t>
            </a:r>
            <a:endParaRPr lang="en-US" sz="1300" dirty="0"/>
          </a:p>
        </p:txBody>
      </p:sp>
      <p:sp>
        <p:nvSpPr>
          <p:cNvPr id="28" name="Text 26"/>
          <p:cNvSpPr/>
          <p:nvPr/>
        </p:nvSpPr>
        <p:spPr>
          <a:xfrm>
            <a:off x="4775200" y="3492302"/>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F3E2BF"/>
          </a:solidFill>
          <a:ln/>
        </p:spPr>
        <p:txBody>
          <a:bodyPr wrap="square" lIns="50800" tIns="31750" rIns="50800" bIns="6350" rtlCol="0" anchor="t">
            <a:normAutofit/>
          </a:bodyPr>
          <a:lstStyle/>
          <a:p>
            <a:pPr marL="0" indent="0" algn="ctr">
              <a:lnSpc>
                <a:spcPct val="100000"/>
              </a:lnSpc>
              <a:buNone/>
            </a:pPr>
            <a:r>
              <a:rPr lang="en-US" sz="1200" b="1" dirty="0">
                <a:solidFill>
                  <a:srgbClr val="6E4A0C"/>
                </a:solidFill>
                <a:latin typeface="Atkinson Hyperlegible Next" pitchFamily="34" charset="0"/>
                <a:ea typeface="Atkinson Hyperlegible Next" pitchFamily="34" charset="-122"/>
                <a:cs typeface="Atkinson Hyperlegible Next" pitchFamily="34" charset="-120"/>
              </a:rPr>
              <a:t>En </a:t>
            </a:r>
            <a:r>
              <a:rPr lang="en-US" sz="1200" b="1" dirty="0" err="1">
                <a:solidFill>
                  <a:srgbClr val="6E4A0C"/>
                </a:solidFill>
                <a:latin typeface="Atkinson Hyperlegible Next" pitchFamily="34" charset="0"/>
                <a:ea typeface="Atkinson Hyperlegible Next" pitchFamily="34" charset="-122"/>
                <a:cs typeface="Atkinson Hyperlegible Next" pitchFamily="34" charset="-120"/>
              </a:rPr>
              <a:t>curso</a:t>
            </a:r>
            <a:endParaRPr lang="en-US" sz="1200" dirty="0"/>
          </a:p>
        </p:txBody>
      </p:sp>
      <p:sp>
        <p:nvSpPr>
          <p:cNvPr id="29" name="Text 27"/>
          <p:cNvSpPr/>
          <p:nvPr/>
        </p:nvSpPr>
        <p:spPr>
          <a:xfrm>
            <a:off x="6515100" y="3524052"/>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Arquitectura desacoplada</a:t>
            </a:r>
            <a:endParaRPr lang="en-US" sz="1200" dirty="0"/>
          </a:p>
        </p:txBody>
      </p:sp>
      <p:sp>
        <p:nvSpPr>
          <p:cNvPr id="30" name="Shape 28"/>
          <p:cNvSpPr/>
          <p:nvPr/>
        </p:nvSpPr>
        <p:spPr>
          <a:xfrm>
            <a:off x="812800" y="4188817"/>
            <a:ext cx="10566400" cy="0"/>
          </a:xfrm>
          <a:prstGeom prst="line">
            <a:avLst/>
          </a:prstGeom>
          <a:noFill/>
          <a:ln w="6350">
            <a:solidFill>
              <a:srgbClr val="DCD6CA"/>
            </a:solidFill>
            <a:prstDash val="solid"/>
          </a:ln>
        </p:spPr>
        <p:txBody>
          <a:bodyPr/>
          <a:lstStyle/>
          <a:p>
            <a:endParaRPr lang="es-US"/>
          </a:p>
        </p:txBody>
      </p:sp>
      <p:sp>
        <p:nvSpPr>
          <p:cNvPr id="31" name="Text 29"/>
          <p:cNvSpPr/>
          <p:nvPr/>
        </p:nvSpPr>
        <p:spPr>
          <a:xfrm>
            <a:off x="812800" y="3887192"/>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Seguridad</a:t>
            </a:r>
            <a:endParaRPr lang="en-US" sz="1300" dirty="0"/>
          </a:p>
        </p:txBody>
      </p:sp>
      <p:sp>
        <p:nvSpPr>
          <p:cNvPr id="32" name="Text 30"/>
          <p:cNvSpPr/>
          <p:nvPr/>
        </p:nvSpPr>
        <p:spPr>
          <a:xfrm>
            <a:off x="4775200" y="3864372"/>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E3E6EA"/>
          </a:solidFill>
          <a:ln/>
        </p:spPr>
        <p:txBody>
          <a:bodyPr wrap="square" lIns="50800" tIns="31750" rIns="50800" bIns="6350" rtlCol="0" anchor="t">
            <a:normAutofit/>
          </a:bodyPr>
          <a:lstStyle/>
          <a:p>
            <a:pPr marL="0" indent="0" algn="ctr">
              <a:lnSpc>
                <a:spcPts val="1680"/>
              </a:lnSpc>
              <a:buNone/>
            </a:pPr>
            <a:r>
              <a:rPr lang="en-US" sz="1200" b="1" dirty="0">
                <a:solidFill>
                  <a:srgbClr val="3F4A56"/>
                </a:solidFill>
                <a:latin typeface="Atkinson Hyperlegible Next" pitchFamily="34" charset="0"/>
                <a:ea typeface="Atkinson Hyperlegible Next" pitchFamily="34" charset="-122"/>
                <a:cs typeface="Atkinson Hyperlegible Next" pitchFamily="34" charset="-120"/>
              </a:rPr>
              <a:t>No iniciado</a:t>
            </a:r>
            <a:endParaRPr lang="en-US" sz="1200" dirty="0"/>
          </a:p>
        </p:txBody>
      </p:sp>
      <p:sp>
        <p:nvSpPr>
          <p:cNvPr id="33" name="Text 31"/>
          <p:cNvSpPr/>
          <p:nvPr/>
        </p:nvSpPr>
        <p:spPr>
          <a:xfrm>
            <a:off x="6515100" y="3896122"/>
            <a:ext cx="5010023" cy="238720"/>
          </a:xfrm>
          <a:prstGeom prst="rect">
            <a:avLst/>
          </a:prstGeom>
          <a:noFill/>
          <a:ln/>
        </p:spPr>
        <p:txBody>
          <a:bodyPr wrap="square" lIns="0" tIns="0" rIns="0" bIns="0" rtlCol="0" anchor="t">
            <a:normAutofit/>
          </a:bodyPr>
          <a:lstStyle/>
          <a:p>
            <a:r>
              <a:rPr lang="en-US" sz="1200" dirty="0">
                <a:solidFill>
                  <a:srgbClr val="4C5A68"/>
                </a:solidFill>
                <a:latin typeface="Atkinson Hyperlegible Next" pitchFamily="34" charset="0"/>
                <a:ea typeface="Atkinson Hyperlegible Next" pitchFamily="34" charset="-122"/>
                <a:cs typeface="Atkinson Hyperlegible Next" pitchFamily="34" charset="-120"/>
              </a:rPr>
              <a:t>Sprints 5–6 · cifrado, </a:t>
            </a:r>
            <a:r>
              <a:rPr lang="es-US" sz="1200" dirty="0"/>
              <a:t>validación de entradas, OWASP, </a:t>
            </a:r>
            <a:r>
              <a:rPr lang="en-US" sz="1200" dirty="0">
                <a:solidFill>
                  <a:srgbClr val="4C5A68"/>
                </a:solidFill>
                <a:latin typeface="Atkinson Hyperlegible Next" pitchFamily="34" charset="0"/>
                <a:ea typeface="Atkinson Hyperlegible Next" pitchFamily="34" charset="-122"/>
                <a:cs typeface="Atkinson Hyperlegible Next" pitchFamily="34" charset="-120"/>
              </a:rPr>
              <a:t>Ley 21.719</a:t>
            </a:r>
            <a:endParaRPr lang="en-US" sz="1200" dirty="0"/>
          </a:p>
        </p:txBody>
      </p:sp>
      <p:sp>
        <p:nvSpPr>
          <p:cNvPr id="34" name="Shape 32"/>
          <p:cNvSpPr/>
          <p:nvPr/>
        </p:nvSpPr>
        <p:spPr>
          <a:xfrm>
            <a:off x="812800" y="4560888"/>
            <a:ext cx="10566400" cy="0"/>
          </a:xfrm>
          <a:prstGeom prst="line">
            <a:avLst/>
          </a:prstGeom>
          <a:noFill/>
          <a:ln w="6350">
            <a:solidFill>
              <a:srgbClr val="DCD6CA"/>
            </a:solidFill>
            <a:prstDash val="solid"/>
          </a:ln>
        </p:spPr>
        <p:txBody>
          <a:bodyPr/>
          <a:lstStyle/>
          <a:p>
            <a:endParaRPr lang="es-US"/>
          </a:p>
        </p:txBody>
      </p:sp>
      <p:sp>
        <p:nvSpPr>
          <p:cNvPr id="35" name="Text 33"/>
          <p:cNvSpPr/>
          <p:nvPr/>
        </p:nvSpPr>
        <p:spPr>
          <a:xfrm>
            <a:off x="812800" y="4259263"/>
            <a:ext cx="39243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B38"/>
                </a:solidFill>
                <a:latin typeface="Atkinson Hyperlegible Next" pitchFamily="34" charset="0"/>
                <a:ea typeface="Atkinson Hyperlegible Next" pitchFamily="34" charset="-122"/>
                <a:cs typeface="Atkinson Hyperlegible Next" pitchFamily="34" charset="-120"/>
              </a:rPr>
              <a:t>Aseguramiento de calidad (QA)</a:t>
            </a:r>
            <a:endParaRPr lang="en-US" sz="1300" dirty="0"/>
          </a:p>
        </p:txBody>
      </p:sp>
      <p:sp>
        <p:nvSpPr>
          <p:cNvPr id="37" name="Text 35"/>
          <p:cNvSpPr/>
          <p:nvPr/>
        </p:nvSpPr>
        <p:spPr>
          <a:xfrm>
            <a:off x="6515100" y="4268192"/>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5A68"/>
                </a:solidFill>
                <a:latin typeface="Atkinson Hyperlegible Next" pitchFamily="34" charset="0"/>
                <a:ea typeface="Atkinson Hyperlegible Next" pitchFamily="34" charset="-122"/>
                <a:cs typeface="Atkinson Hyperlegible Next" pitchFamily="34" charset="-120"/>
              </a:rPr>
              <a:t>Sprints 4–7 · unitarias a rendimiento</a:t>
            </a:r>
            <a:endParaRPr lang="en-US" sz="1200" dirty="0"/>
          </a:p>
        </p:txBody>
      </p:sp>
      <p:sp>
        <p:nvSpPr>
          <p:cNvPr id="42" name="Text 14">
            <a:extLst>
              <a:ext uri="{FF2B5EF4-FFF2-40B4-BE49-F238E27FC236}">
                <a16:creationId xmlns:a16="http://schemas.microsoft.com/office/drawing/2014/main" id="{A8DEA735-40D3-A4C3-E17D-16CEFC1039AB}"/>
              </a:ext>
            </a:extLst>
          </p:cNvPr>
          <p:cNvSpPr/>
          <p:nvPr/>
        </p:nvSpPr>
        <p:spPr>
          <a:xfrm>
            <a:off x="4775200" y="2758677"/>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D8ECE8"/>
          </a:solidFill>
          <a:ln/>
        </p:spPr>
        <p:txBody>
          <a:bodyPr wrap="square" lIns="50800" tIns="31750" rIns="50800" bIns="6350" rtlCol="0" anchor="t">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Completado</a:t>
            </a:r>
            <a:endParaRPr lang="en-US" sz="1200" dirty="0"/>
          </a:p>
        </p:txBody>
      </p:sp>
      <p:sp>
        <p:nvSpPr>
          <p:cNvPr id="44" name="Text 26">
            <a:extLst>
              <a:ext uri="{FF2B5EF4-FFF2-40B4-BE49-F238E27FC236}">
                <a16:creationId xmlns:a16="http://schemas.microsoft.com/office/drawing/2014/main" id="{52E0D0C6-0157-BC3C-9997-C8A7178272AC}"/>
              </a:ext>
            </a:extLst>
          </p:cNvPr>
          <p:cNvSpPr/>
          <p:nvPr/>
        </p:nvSpPr>
        <p:spPr>
          <a:xfrm>
            <a:off x="4775200" y="4230994"/>
            <a:ext cx="1587500" cy="276820"/>
          </a:xfrm>
          <a:custGeom>
            <a:avLst/>
            <a:gdLst/>
            <a:ahLst/>
            <a:cxnLst/>
            <a:rect l="l" t="t" r="r" b="b"/>
            <a:pathLst>
              <a:path w="1587500" h="276820">
                <a:moveTo>
                  <a:pt x="138410" y="0"/>
                </a:moveTo>
                <a:lnTo>
                  <a:pt x="1449090" y="0"/>
                </a:lnTo>
                <a:arcTo wR="138410" hR="138410" stAng="16200000" swAng="5400000"/>
                <a:lnTo>
                  <a:pt x="1587500" y="138410"/>
                </a:lnTo>
                <a:arcTo wR="138410" hR="138410" stAng="0" swAng="5400000"/>
                <a:lnTo>
                  <a:pt x="138410" y="276820"/>
                </a:lnTo>
                <a:arcTo wR="138410" hR="138410" stAng="5400000" swAng="5400000"/>
                <a:lnTo>
                  <a:pt x="0" y="138410"/>
                </a:lnTo>
                <a:arcTo wR="138410" hR="138410" stAng="10800000" swAng="5400000"/>
                <a:close/>
              </a:path>
            </a:pathLst>
          </a:custGeom>
          <a:solidFill>
            <a:srgbClr val="F3E2BF"/>
          </a:solidFill>
          <a:ln/>
        </p:spPr>
        <p:txBody>
          <a:bodyPr wrap="square" lIns="50800" tIns="31750" rIns="50800" bIns="6350" rtlCol="0" anchor="t">
            <a:normAutofit/>
          </a:bodyPr>
          <a:lstStyle/>
          <a:p>
            <a:pPr marL="0" indent="0" algn="ctr">
              <a:lnSpc>
                <a:spcPct val="100000"/>
              </a:lnSpc>
              <a:buNone/>
            </a:pPr>
            <a:r>
              <a:rPr lang="en-US" sz="1200" b="1" dirty="0">
                <a:solidFill>
                  <a:srgbClr val="6E4A0C"/>
                </a:solidFill>
                <a:latin typeface="Atkinson Hyperlegible Next" pitchFamily="34" charset="0"/>
                <a:ea typeface="Atkinson Hyperlegible Next" pitchFamily="34" charset="-122"/>
                <a:cs typeface="Atkinson Hyperlegible Next" pitchFamily="34" charset="-120"/>
              </a:rPr>
              <a:t>En </a:t>
            </a:r>
            <a:r>
              <a:rPr lang="en-US" sz="1200" b="1" dirty="0" err="1">
                <a:solidFill>
                  <a:srgbClr val="6E4A0C"/>
                </a:solidFill>
                <a:latin typeface="Atkinson Hyperlegible Next" pitchFamily="34" charset="0"/>
                <a:ea typeface="Atkinson Hyperlegible Next" pitchFamily="34" charset="-122"/>
                <a:cs typeface="Atkinson Hyperlegible Next" pitchFamily="34" charset="-120"/>
              </a:rPr>
              <a:t>curso</a:t>
            </a:r>
            <a:endParaRPr lang="en-US" sz="1200" dirty="0"/>
          </a:p>
        </p:txBody>
      </p:sp>
      <p:pic>
        <p:nvPicPr>
          <p:cNvPr id="43" name="Imagen 42">
            <a:extLst>
              <a:ext uri="{FF2B5EF4-FFF2-40B4-BE49-F238E27FC236}">
                <a16:creationId xmlns:a16="http://schemas.microsoft.com/office/drawing/2014/main" id="{95E6E0BE-C163-4EC7-D9B9-221017243F52}"/>
              </a:ext>
            </a:extLst>
          </p:cNvPr>
          <p:cNvPicPr>
            <a:picLocks noChangeAspect="1"/>
          </p:cNvPicPr>
          <p:nvPr/>
        </p:nvPicPr>
        <p:blipFill>
          <a:blip r:embed="rId3"/>
          <a:stretch>
            <a:fillRect/>
          </a:stretch>
        </p:blipFill>
        <p:spPr>
          <a:xfrm>
            <a:off x="812800" y="4606034"/>
            <a:ext cx="7775276" cy="17934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F1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DESARROLLO · RETROSPECTIVA</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Facilitadores, dificultades y ajustes</a:t>
            </a:r>
            <a:endParaRPr lang="en-US" sz="3000" dirty="0"/>
          </a:p>
        </p:txBody>
      </p:sp>
      <p:sp>
        <p:nvSpPr>
          <p:cNvPr id="4" name="Shape 2"/>
          <p:cNvSpPr/>
          <p:nvPr/>
        </p:nvSpPr>
        <p:spPr>
          <a:xfrm>
            <a:off x="812800" y="1750020"/>
            <a:ext cx="3386634" cy="2300883"/>
          </a:xfrm>
          <a:prstGeom prst="roundRect">
            <a:avLst>
              <a:gd name="adj" fmla="val 5520"/>
            </a:avLst>
          </a:prstGeom>
          <a:solidFill>
            <a:srgbClr val="F7F5F0"/>
          </a:solidFill>
          <a:ln/>
        </p:spPr>
        <p:txBody>
          <a:bodyPr/>
          <a:lstStyle/>
          <a:p>
            <a:endParaRPr lang="es-US"/>
          </a:p>
        </p:txBody>
      </p:sp>
      <p:sp>
        <p:nvSpPr>
          <p:cNvPr id="5" name="Shape 3"/>
          <p:cNvSpPr/>
          <p:nvPr/>
        </p:nvSpPr>
        <p:spPr>
          <a:xfrm>
            <a:off x="812800" y="1750020"/>
            <a:ext cx="3386634" cy="2300883"/>
          </a:xfrm>
          <a:custGeom>
            <a:avLst/>
            <a:gdLst/>
            <a:ahLst/>
            <a:cxnLst/>
            <a:rect l="l" t="t" r="r" b="b"/>
            <a:pathLst>
              <a:path w="3386634" h="2300883">
                <a:moveTo>
                  <a:pt x="0" y="127000"/>
                </a:moveTo>
                <a:lnTo>
                  <a:pt x="0" y="127000"/>
                </a:lnTo>
                <a:arcTo wR="127000" hR="127000" stAng="10800000" swAng="5400000"/>
                <a:lnTo>
                  <a:pt x="3259634" y="0"/>
                </a:lnTo>
                <a:arcTo wR="127000" hR="127000" stAng="16200000" swAng="5400000"/>
                <a:lnTo>
                  <a:pt x="3386634" y="127000"/>
                </a:lnTo>
                <a:arcTo wR="127000" hR="76200" stAng="0" swAng="-5400000"/>
                <a:lnTo>
                  <a:pt x="127000" y="50800"/>
                </a:lnTo>
                <a:arcTo wR="127000" hR="76200" stAng="16200000" swAng="-5400000"/>
                <a:close/>
              </a:path>
            </a:pathLst>
          </a:custGeom>
          <a:solidFill>
            <a:srgbClr val="2A6F6A"/>
          </a:solidFill>
          <a:ln/>
        </p:spPr>
        <p:txBody>
          <a:bodyPr/>
          <a:lstStyle/>
          <a:p>
            <a:endParaRPr lang="es-US"/>
          </a:p>
        </p:txBody>
      </p:sp>
      <p:pic>
        <p:nvPicPr>
          <p:cNvPr id="6" name="Image 0" descr="ThumbsUp"/>
          <p:cNvPicPr>
            <a:picLocks noChangeAspect="1"/>
          </p:cNvPicPr>
          <p:nvPr/>
        </p:nvPicPr>
        <p:blipFill>
          <a:blip r:embed="rId3"/>
          <a:srcRect/>
          <a:stretch/>
        </p:blipFill>
        <p:spPr>
          <a:xfrm>
            <a:off x="1041400" y="2029420"/>
            <a:ext cx="279400" cy="279400"/>
          </a:xfrm>
          <a:prstGeom prst="rect">
            <a:avLst/>
          </a:prstGeom>
        </p:spPr>
      </p:pic>
      <p:sp>
        <p:nvSpPr>
          <p:cNvPr id="7" name="Text 4"/>
          <p:cNvSpPr/>
          <p:nvPr/>
        </p:nvSpPr>
        <p:spPr>
          <a:xfrm>
            <a:off x="1422400" y="2039541"/>
            <a:ext cx="1655802"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1F5A55"/>
                </a:solidFill>
                <a:latin typeface="Lexend" pitchFamily="34" charset="0"/>
                <a:ea typeface="Lexend" pitchFamily="34" charset="-122"/>
                <a:cs typeface="Lexend" pitchFamily="34" charset="-120"/>
              </a:rPr>
              <a:t>Facilitadores</a:t>
            </a:r>
            <a:endParaRPr lang="en-US" sz="1700" dirty="0"/>
          </a:p>
        </p:txBody>
      </p:sp>
      <p:sp>
        <p:nvSpPr>
          <p:cNvPr id="8" name="Text 5"/>
          <p:cNvSpPr/>
          <p:nvPr/>
        </p:nvSpPr>
        <p:spPr>
          <a:xfrm>
            <a:off x="1133094" y="2435820"/>
            <a:ext cx="2918003" cy="949722"/>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Buena comunicación del equipo</a:t>
            </a:r>
            <a:endParaRPr lang="en-US" sz="1300" dirty="0"/>
          </a:p>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API abierta de ARASAAC</a:t>
            </a:r>
            <a:endParaRPr lang="en-US" sz="1300" dirty="0"/>
          </a:p>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Roles técnicos claros</a:t>
            </a:r>
            <a:endParaRPr lang="en-US" sz="1300" dirty="0"/>
          </a:p>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Alcance acotado a un MVP</a:t>
            </a:r>
            <a:endParaRPr lang="en-US" sz="1300" dirty="0"/>
          </a:p>
        </p:txBody>
      </p:sp>
      <p:sp>
        <p:nvSpPr>
          <p:cNvPr id="9" name="Shape 6"/>
          <p:cNvSpPr/>
          <p:nvPr/>
        </p:nvSpPr>
        <p:spPr>
          <a:xfrm>
            <a:off x="4402634" y="1750020"/>
            <a:ext cx="3386634" cy="2300883"/>
          </a:xfrm>
          <a:prstGeom prst="roundRect">
            <a:avLst>
              <a:gd name="adj" fmla="val 5520"/>
            </a:avLst>
          </a:prstGeom>
          <a:solidFill>
            <a:srgbClr val="F7F5F0"/>
          </a:solidFill>
          <a:ln/>
        </p:spPr>
        <p:txBody>
          <a:bodyPr/>
          <a:lstStyle/>
          <a:p>
            <a:endParaRPr lang="es-US"/>
          </a:p>
        </p:txBody>
      </p:sp>
      <p:sp>
        <p:nvSpPr>
          <p:cNvPr id="10" name="Shape 7"/>
          <p:cNvSpPr/>
          <p:nvPr/>
        </p:nvSpPr>
        <p:spPr>
          <a:xfrm>
            <a:off x="4402634" y="1750020"/>
            <a:ext cx="3386634" cy="2300883"/>
          </a:xfrm>
          <a:custGeom>
            <a:avLst/>
            <a:gdLst/>
            <a:ahLst/>
            <a:cxnLst/>
            <a:rect l="l" t="t" r="r" b="b"/>
            <a:pathLst>
              <a:path w="3386634" h="2300883">
                <a:moveTo>
                  <a:pt x="0" y="127000"/>
                </a:moveTo>
                <a:lnTo>
                  <a:pt x="0" y="127000"/>
                </a:lnTo>
                <a:arcTo wR="127000" hR="127000" stAng="10800000" swAng="5400000"/>
                <a:lnTo>
                  <a:pt x="3259634" y="0"/>
                </a:lnTo>
                <a:arcTo wR="127000" hR="127000" stAng="16200000" swAng="5400000"/>
                <a:lnTo>
                  <a:pt x="3386634" y="127000"/>
                </a:lnTo>
                <a:arcTo wR="127000" hR="76200" stAng="0" swAng="-5400000"/>
                <a:lnTo>
                  <a:pt x="127000" y="50800"/>
                </a:lnTo>
                <a:arcTo wR="127000" hR="76200" stAng="16200000" swAng="-5400000"/>
                <a:close/>
              </a:path>
            </a:pathLst>
          </a:custGeom>
          <a:solidFill>
            <a:srgbClr val="B07A2E"/>
          </a:solidFill>
          <a:ln/>
        </p:spPr>
        <p:txBody>
          <a:bodyPr/>
          <a:lstStyle/>
          <a:p>
            <a:endParaRPr lang="es-US"/>
          </a:p>
        </p:txBody>
      </p:sp>
      <p:pic>
        <p:nvPicPr>
          <p:cNvPr id="11" name="Image 1" descr="Clock"/>
          <p:cNvPicPr>
            <a:picLocks noChangeAspect="1"/>
          </p:cNvPicPr>
          <p:nvPr/>
        </p:nvPicPr>
        <p:blipFill>
          <a:blip r:embed="rId4"/>
          <a:srcRect/>
          <a:stretch/>
        </p:blipFill>
        <p:spPr>
          <a:xfrm>
            <a:off x="4631234" y="2029420"/>
            <a:ext cx="279400" cy="279400"/>
          </a:xfrm>
          <a:prstGeom prst="rect">
            <a:avLst/>
          </a:prstGeom>
        </p:spPr>
      </p:pic>
      <p:sp>
        <p:nvSpPr>
          <p:cNvPr id="12" name="Text 8"/>
          <p:cNvSpPr/>
          <p:nvPr/>
        </p:nvSpPr>
        <p:spPr>
          <a:xfrm>
            <a:off x="5012234" y="2039541"/>
            <a:ext cx="1250633"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6B4F24"/>
                </a:solidFill>
                <a:latin typeface="Lexend" pitchFamily="34" charset="0"/>
                <a:ea typeface="Lexend" pitchFamily="34" charset="-122"/>
                <a:cs typeface="Lexend" pitchFamily="34" charset="-120"/>
              </a:rPr>
              <a:t>Dificultad</a:t>
            </a:r>
            <a:endParaRPr lang="en-US" sz="1700" dirty="0"/>
          </a:p>
        </p:txBody>
      </p:sp>
      <p:sp>
        <p:nvSpPr>
          <p:cNvPr id="13" name="Text 9"/>
          <p:cNvSpPr/>
          <p:nvPr/>
        </p:nvSpPr>
        <p:spPr>
          <a:xfrm>
            <a:off x="4631234" y="2435820"/>
            <a:ext cx="3017317"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D2B38"/>
                </a:solidFill>
                <a:latin typeface="Lexend" pitchFamily="34" charset="0"/>
                <a:ea typeface="Lexend" pitchFamily="34" charset="-122"/>
                <a:cs typeface="Lexend" pitchFamily="34" charset="-120"/>
              </a:rPr>
              <a:t>Incompatibilidad de horarios por trabajo</a:t>
            </a:r>
            <a:endParaRPr lang="en-US" sz="1800" dirty="0"/>
          </a:p>
        </p:txBody>
      </p:sp>
      <p:sp>
        <p:nvSpPr>
          <p:cNvPr id="14" name="Shape 10"/>
          <p:cNvSpPr/>
          <p:nvPr/>
        </p:nvSpPr>
        <p:spPr>
          <a:xfrm>
            <a:off x="7992467" y="1750020"/>
            <a:ext cx="3386634" cy="2300883"/>
          </a:xfrm>
          <a:prstGeom prst="roundRect">
            <a:avLst>
              <a:gd name="adj" fmla="val 5520"/>
            </a:avLst>
          </a:prstGeom>
          <a:solidFill>
            <a:srgbClr val="F7F5F0"/>
          </a:solidFill>
          <a:ln/>
        </p:spPr>
        <p:txBody>
          <a:bodyPr/>
          <a:lstStyle/>
          <a:p>
            <a:endParaRPr lang="es-US"/>
          </a:p>
        </p:txBody>
      </p:sp>
      <p:sp>
        <p:nvSpPr>
          <p:cNvPr id="15" name="Shape 11"/>
          <p:cNvSpPr/>
          <p:nvPr/>
        </p:nvSpPr>
        <p:spPr>
          <a:xfrm>
            <a:off x="7992467" y="1750020"/>
            <a:ext cx="3386634" cy="2300883"/>
          </a:xfrm>
          <a:custGeom>
            <a:avLst/>
            <a:gdLst/>
            <a:ahLst/>
            <a:cxnLst/>
            <a:rect l="l" t="t" r="r" b="b"/>
            <a:pathLst>
              <a:path w="3386634" h="2300883">
                <a:moveTo>
                  <a:pt x="0" y="127000"/>
                </a:moveTo>
                <a:lnTo>
                  <a:pt x="0" y="127000"/>
                </a:lnTo>
                <a:arcTo wR="127000" hR="127000" stAng="10800000" swAng="5400000"/>
                <a:lnTo>
                  <a:pt x="3259634" y="0"/>
                </a:lnTo>
                <a:arcTo wR="127000" hR="127000" stAng="16200000" swAng="5400000"/>
                <a:lnTo>
                  <a:pt x="3386634" y="127000"/>
                </a:lnTo>
                <a:arcTo wR="127000" hR="76200" stAng="0" swAng="-5400000"/>
                <a:lnTo>
                  <a:pt x="127000" y="50800"/>
                </a:lnTo>
                <a:arcTo wR="127000" hR="76200" stAng="16200000" swAng="-5400000"/>
                <a:close/>
              </a:path>
            </a:pathLst>
          </a:custGeom>
          <a:solidFill>
            <a:srgbClr val="33608F"/>
          </a:solidFill>
          <a:ln/>
        </p:spPr>
        <p:txBody>
          <a:bodyPr/>
          <a:lstStyle/>
          <a:p>
            <a:endParaRPr lang="es-US"/>
          </a:p>
        </p:txBody>
      </p:sp>
      <p:pic>
        <p:nvPicPr>
          <p:cNvPr id="16" name="Image 2" descr="Settings"/>
          <p:cNvPicPr>
            <a:picLocks noChangeAspect="1"/>
          </p:cNvPicPr>
          <p:nvPr/>
        </p:nvPicPr>
        <p:blipFill>
          <a:blip r:embed="rId5"/>
          <a:srcRect/>
          <a:stretch/>
        </p:blipFill>
        <p:spPr>
          <a:xfrm>
            <a:off x="8221067" y="2029420"/>
            <a:ext cx="279400" cy="279400"/>
          </a:xfrm>
          <a:prstGeom prst="rect">
            <a:avLst/>
          </a:prstGeom>
        </p:spPr>
      </p:pic>
      <p:sp>
        <p:nvSpPr>
          <p:cNvPr id="17" name="Text 12"/>
          <p:cNvSpPr/>
          <p:nvPr/>
        </p:nvSpPr>
        <p:spPr>
          <a:xfrm>
            <a:off x="8602067" y="2039541"/>
            <a:ext cx="916900" cy="284460"/>
          </a:xfrm>
          <a:prstGeom prst="rect">
            <a:avLst/>
          </a:prstGeom>
          <a:noFill/>
          <a:ln/>
        </p:spPr>
        <p:txBody>
          <a:bodyPr wrap="square" lIns="0" tIns="0" rIns="0" bIns="0" rtlCol="0" anchor="t">
            <a:normAutofit/>
          </a:bodyPr>
          <a:lstStyle/>
          <a:p>
            <a:pPr marL="0" indent="0" algn="l">
              <a:lnSpc>
                <a:spcPts val="2040"/>
              </a:lnSpc>
              <a:buNone/>
            </a:pPr>
            <a:r>
              <a:rPr lang="en-US" sz="1700" dirty="0">
                <a:solidFill>
                  <a:srgbClr val="2B5480"/>
                </a:solidFill>
                <a:latin typeface="Lexend" pitchFamily="34" charset="0"/>
                <a:ea typeface="Lexend" pitchFamily="34" charset="-122"/>
                <a:cs typeface="Lexend" pitchFamily="34" charset="-120"/>
              </a:rPr>
              <a:t>Ajustes</a:t>
            </a:r>
            <a:endParaRPr lang="en-US" sz="1700" dirty="0"/>
          </a:p>
        </p:txBody>
      </p:sp>
      <p:sp>
        <p:nvSpPr>
          <p:cNvPr id="18" name="Text 13"/>
          <p:cNvSpPr/>
          <p:nvPr/>
        </p:nvSpPr>
        <p:spPr>
          <a:xfrm>
            <a:off x="8312761" y="2435820"/>
            <a:ext cx="2918003" cy="1411883"/>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Avance asíncrono con metas individuales en Jira</a:t>
            </a:r>
            <a:endParaRPr lang="en-US" sz="1300" dirty="0"/>
          </a:p>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Reuniones de integración fuera del horario laboral</a:t>
            </a:r>
            <a:endParaRPr lang="en-US" sz="1300" dirty="0"/>
          </a:p>
          <a:p>
            <a:pPr marL="162306" indent="-162306" algn="l">
              <a:lnSpc>
                <a:spcPts val="1820"/>
              </a:lnSpc>
              <a:buSzPct val="100000"/>
              <a:buChar char="•"/>
            </a:pPr>
            <a:r>
              <a:rPr lang="en-US" sz="1300" dirty="0">
                <a:solidFill>
                  <a:srgbClr val="1D2B38"/>
                </a:solidFill>
                <a:latin typeface="Atkinson Hyperlegible Next" pitchFamily="34" charset="0"/>
                <a:ea typeface="Atkinson Hyperlegible Next" pitchFamily="34" charset="-122"/>
                <a:cs typeface="Atkinson Hyperlegible Next" pitchFamily="34" charset="-120"/>
              </a:rPr>
              <a:t>Scrum para medir el avance por integrante</a:t>
            </a:r>
            <a:endParaRPr lang="en-US" sz="1300" dirty="0"/>
          </a:p>
        </p:txBody>
      </p:sp>
      <p:sp>
        <p:nvSpPr>
          <p:cNvPr id="19" name="Text 14"/>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20" name="Text 15"/>
          <p:cNvSpPr/>
          <p:nvPr/>
        </p:nvSpPr>
        <p:spPr>
          <a:xfrm>
            <a:off x="11176695" y="6243340"/>
            <a:ext cx="202505"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F5C69"/>
                </a:solidFill>
                <a:latin typeface="Atkinson Hyperlegible Next" pitchFamily="34" charset="0"/>
                <a:ea typeface="Atkinson Hyperlegible Next" pitchFamily="34" charset="-122"/>
                <a:cs typeface="Atkinson Hyperlegible Next"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SPRINTS RESTANTES</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Próximos pasos y plan de pruebas</a:t>
            </a:r>
            <a:endParaRPr lang="en-US" sz="3000" dirty="0"/>
          </a:p>
        </p:txBody>
      </p:sp>
      <p:sp>
        <p:nvSpPr>
          <p:cNvPr id="4" name="Shape 2"/>
          <p:cNvSpPr/>
          <p:nvPr/>
        </p:nvSpPr>
        <p:spPr>
          <a:xfrm>
            <a:off x="815975" y="1702395"/>
            <a:ext cx="2520950" cy="1870472"/>
          </a:xfrm>
          <a:prstGeom prst="roundRect">
            <a:avLst>
              <a:gd name="adj" fmla="val 6620"/>
            </a:avLst>
          </a:prstGeom>
          <a:solidFill>
            <a:srgbClr val="FDFCF9"/>
          </a:solidFill>
          <a:ln w="6350">
            <a:solidFill>
              <a:srgbClr val="E2DDD2"/>
            </a:solidFill>
            <a:prstDash val="solid"/>
          </a:ln>
        </p:spPr>
        <p:txBody>
          <a:bodyPr/>
          <a:lstStyle/>
          <a:p>
            <a:endParaRPr lang="es-US"/>
          </a:p>
        </p:txBody>
      </p:sp>
      <p:pic>
        <p:nvPicPr>
          <p:cNvPr id="5" name="Image 0" descr="Lock"/>
          <p:cNvPicPr>
            <a:picLocks noChangeAspect="1"/>
          </p:cNvPicPr>
          <p:nvPr/>
        </p:nvPicPr>
        <p:blipFill>
          <a:blip r:embed="rId3"/>
          <a:srcRect/>
          <a:stretch/>
        </p:blipFill>
        <p:spPr>
          <a:xfrm>
            <a:off x="996950" y="1883370"/>
            <a:ext cx="279400" cy="279400"/>
          </a:xfrm>
          <a:prstGeom prst="rect">
            <a:avLst/>
          </a:prstGeom>
        </p:spPr>
      </p:pic>
      <p:sp>
        <p:nvSpPr>
          <p:cNvPr id="6" name="Text 3"/>
          <p:cNvSpPr/>
          <p:nvPr/>
        </p:nvSpPr>
        <p:spPr>
          <a:xfrm>
            <a:off x="2527895" y="1903710"/>
            <a:ext cx="628055" cy="238720"/>
          </a:xfrm>
          <a:custGeom>
            <a:avLst/>
            <a:gdLst/>
            <a:ahLst/>
            <a:cxnLst/>
            <a:rect l="l" t="t" r="r" b="b"/>
            <a:pathLst>
              <a:path w="628055" h="238720">
                <a:moveTo>
                  <a:pt x="119360" y="0"/>
                </a:moveTo>
                <a:lnTo>
                  <a:pt x="508695" y="0"/>
                </a:lnTo>
                <a:arcTo wR="119360" hR="119360" stAng="16200000" swAng="5400000"/>
                <a:lnTo>
                  <a:pt x="628055" y="119360"/>
                </a:lnTo>
                <a:arcTo wR="119360" hR="119360" stAng="0" swAng="5400000"/>
                <a:lnTo>
                  <a:pt x="119360" y="238720"/>
                </a:lnTo>
                <a:arcTo wR="119360" hR="119360" stAng="5400000" swAng="5400000"/>
                <a:lnTo>
                  <a:pt x="0" y="119360"/>
                </a:lnTo>
                <a:arcTo wR="119360" hR="119360" stAng="10800000" swAng="5400000"/>
                <a:close/>
              </a:path>
            </a:pathLst>
          </a:custGeom>
          <a:solidFill>
            <a:srgbClr val="D8ECE8"/>
          </a:solidFill>
          <a:ln/>
        </p:spPr>
        <p:txBody>
          <a:bodyPr wrap="none" lIns="0" tIns="0" rIns="0" bIns="0" rtlCol="0" anchor="ctr">
            <a:normAutofit/>
          </a:bodyPr>
          <a:lstStyle/>
          <a:p>
            <a:pPr marL="0" indent="0" algn="ctr">
              <a:lnSpc>
                <a:spcPts val="1680"/>
              </a:lnSpc>
              <a:buNone/>
            </a:pPr>
            <a:r>
              <a:rPr lang="en-US" sz="1200" b="1" dirty="0">
                <a:solidFill>
                  <a:srgbClr val="1F5A55"/>
                </a:solidFill>
                <a:latin typeface="Atkinson Hyperlegible Next" pitchFamily="34" charset="0"/>
                <a:ea typeface="Atkinson Hyperlegible Next" pitchFamily="34" charset="-122"/>
                <a:cs typeface="Atkinson Hyperlegible Next" pitchFamily="34" charset="-120"/>
              </a:rPr>
              <a:t>S5–S6</a:t>
            </a:r>
            <a:endParaRPr lang="en-US" sz="1200" dirty="0"/>
          </a:p>
        </p:txBody>
      </p:sp>
      <p:sp>
        <p:nvSpPr>
          <p:cNvPr id="7" name="Text 4"/>
          <p:cNvSpPr/>
          <p:nvPr/>
        </p:nvSpPr>
        <p:spPr>
          <a:xfrm>
            <a:off x="996950" y="2251670"/>
            <a:ext cx="2223770"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1D2B38"/>
                </a:solidFill>
                <a:latin typeface="Lexend" pitchFamily="34" charset="0"/>
                <a:ea typeface="Lexend" pitchFamily="34" charset="-122"/>
                <a:cs typeface="Lexend" pitchFamily="34" charset="-120"/>
              </a:rPr>
              <a:t>Seguridad</a:t>
            </a:r>
            <a:endParaRPr lang="en-US" sz="1500" dirty="0"/>
          </a:p>
        </p:txBody>
      </p:sp>
      <p:sp>
        <p:nvSpPr>
          <p:cNvPr id="8" name="Text 5"/>
          <p:cNvSpPr/>
          <p:nvPr/>
        </p:nvSpPr>
        <p:spPr>
          <a:xfrm>
            <a:off x="1095756" y="2569170"/>
            <a:ext cx="2117344" cy="848122"/>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Cifrado de datos sensibles</a:t>
            </a:r>
            <a:endParaRPr lang="en-US" sz="1200" dirty="0"/>
          </a:p>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Validación contra inyección y XSS</a:t>
            </a:r>
            <a:endParaRPr lang="en-US" sz="1200" dirty="0"/>
          </a:p>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Revisión OWASP Top 10</a:t>
            </a:r>
            <a:endParaRPr lang="en-US" sz="1200" dirty="0"/>
          </a:p>
        </p:txBody>
      </p:sp>
      <p:sp>
        <p:nvSpPr>
          <p:cNvPr id="9" name="Shape 6"/>
          <p:cNvSpPr/>
          <p:nvPr/>
        </p:nvSpPr>
        <p:spPr>
          <a:xfrm>
            <a:off x="3495675" y="1702395"/>
            <a:ext cx="2520950" cy="1870472"/>
          </a:xfrm>
          <a:prstGeom prst="roundRect">
            <a:avLst>
              <a:gd name="adj" fmla="val 6620"/>
            </a:avLst>
          </a:prstGeom>
          <a:solidFill>
            <a:srgbClr val="FDFCF9"/>
          </a:solidFill>
          <a:ln w="6350">
            <a:solidFill>
              <a:srgbClr val="E2DDD2"/>
            </a:solidFill>
            <a:prstDash val="solid"/>
          </a:ln>
        </p:spPr>
        <p:txBody>
          <a:bodyPr/>
          <a:lstStyle/>
          <a:p>
            <a:endParaRPr lang="es-US"/>
          </a:p>
        </p:txBody>
      </p:sp>
      <p:pic>
        <p:nvPicPr>
          <p:cNvPr id="10" name="Image 1" descr="Cloud"/>
          <p:cNvPicPr>
            <a:picLocks noChangeAspect="1"/>
          </p:cNvPicPr>
          <p:nvPr/>
        </p:nvPicPr>
        <p:blipFill>
          <a:blip r:embed="rId4"/>
          <a:srcRect/>
          <a:stretch/>
        </p:blipFill>
        <p:spPr>
          <a:xfrm>
            <a:off x="3676650" y="1883370"/>
            <a:ext cx="279400" cy="279400"/>
          </a:xfrm>
          <a:prstGeom prst="rect">
            <a:avLst/>
          </a:prstGeom>
        </p:spPr>
      </p:pic>
      <p:sp>
        <p:nvSpPr>
          <p:cNvPr id="11" name="Text 7"/>
          <p:cNvSpPr/>
          <p:nvPr/>
        </p:nvSpPr>
        <p:spPr>
          <a:xfrm>
            <a:off x="5469434" y="1903710"/>
            <a:ext cx="366216" cy="238720"/>
          </a:xfrm>
          <a:custGeom>
            <a:avLst/>
            <a:gdLst/>
            <a:ahLst/>
            <a:cxnLst/>
            <a:rect l="l" t="t" r="r" b="b"/>
            <a:pathLst>
              <a:path w="366216" h="238720">
                <a:moveTo>
                  <a:pt x="119360" y="0"/>
                </a:moveTo>
                <a:lnTo>
                  <a:pt x="246856" y="0"/>
                </a:lnTo>
                <a:arcTo wR="119360" hR="119360" stAng="16200000" swAng="5400000"/>
                <a:lnTo>
                  <a:pt x="366216" y="119360"/>
                </a:lnTo>
                <a:arcTo wR="119360" hR="119360" stAng="0" swAng="5400000"/>
                <a:lnTo>
                  <a:pt x="119360" y="238720"/>
                </a:lnTo>
                <a:arcTo wR="119360" hR="119360" stAng="5400000" swAng="5400000"/>
                <a:lnTo>
                  <a:pt x="0" y="119360"/>
                </a:lnTo>
                <a:arcTo wR="119360" hR="119360" stAng="10800000" swAng="5400000"/>
                <a:close/>
              </a:path>
            </a:pathLst>
          </a:custGeom>
          <a:solidFill>
            <a:srgbClr val="DCE7F2"/>
          </a:solidFill>
          <a:ln/>
        </p:spPr>
        <p:txBody>
          <a:bodyPr wrap="none" lIns="0" tIns="0" rIns="0" bIns="0" rtlCol="0" anchor="ctr">
            <a:normAutofit/>
          </a:bodyPr>
          <a:lstStyle/>
          <a:p>
            <a:pPr marL="0" indent="0" algn="ctr">
              <a:lnSpc>
                <a:spcPts val="1680"/>
              </a:lnSpc>
              <a:buNone/>
            </a:pPr>
            <a:r>
              <a:rPr lang="en-US" sz="1200" b="1" dirty="0">
                <a:solidFill>
                  <a:srgbClr val="2B5480"/>
                </a:solidFill>
                <a:latin typeface="Atkinson Hyperlegible Next" pitchFamily="34" charset="0"/>
                <a:ea typeface="Atkinson Hyperlegible Next" pitchFamily="34" charset="-122"/>
                <a:cs typeface="Atkinson Hyperlegible Next" pitchFamily="34" charset="-120"/>
              </a:rPr>
              <a:t>S6</a:t>
            </a:r>
            <a:endParaRPr lang="en-US" sz="1200" dirty="0"/>
          </a:p>
        </p:txBody>
      </p:sp>
      <p:sp>
        <p:nvSpPr>
          <p:cNvPr id="12" name="Text 8"/>
          <p:cNvSpPr/>
          <p:nvPr/>
        </p:nvSpPr>
        <p:spPr>
          <a:xfrm>
            <a:off x="3676650" y="2251670"/>
            <a:ext cx="2223770"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1D2B38"/>
                </a:solidFill>
                <a:latin typeface="Lexend" pitchFamily="34" charset="0"/>
                <a:ea typeface="Lexend" pitchFamily="34" charset="-122"/>
                <a:cs typeface="Lexend" pitchFamily="34" charset="-120"/>
              </a:rPr>
              <a:t>Despliegue</a:t>
            </a:r>
            <a:endParaRPr lang="en-US" sz="1500" dirty="0"/>
          </a:p>
        </p:txBody>
      </p:sp>
      <p:sp>
        <p:nvSpPr>
          <p:cNvPr id="13" name="Text 9"/>
          <p:cNvSpPr/>
          <p:nvPr/>
        </p:nvSpPr>
        <p:spPr>
          <a:xfrm>
            <a:off x="3775456" y="2569170"/>
            <a:ext cx="2117344" cy="642441"/>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Docker: Dockerfile y docker-compose</a:t>
            </a:r>
            <a:endParaRPr lang="en-US" sz="1200" dirty="0"/>
          </a:p>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Despliegue con HTTPS</a:t>
            </a:r>
            <a:endParaRPr lang="en-US" sz="1200" dirty="0"/>
          </a:p>
        </p:txBody>
      </p:sp>
      <p:sp>
        <p:nvSpPr>
          <p:cNvPr id="14" name="Shape 10"/>
          <p:cNvSpPr/>
          <p:nvPr/>
        </p:nvSpPr>
        <p:spPr>
          <a:xfrm>
            <a:off x="6175375" y="1702395"/>
            <a:ext cx="2520950" cy="1870472"/>
          </a:xfrm>
          <a:prstGeom prst="roundRect">
            <a:avLst>
              <a:gd name="adj" fmla="val 6620"/>
            </a:avLst>
          </a:prstGeom>
          <a:solidFill>
            <a:srgbClr val="FDFCF9"/>
          </a:solidFill>
          <a:ln w="6350">
            <a:solidFill>
              <a:srgbClr val="E2DDD2"/>
            </a:solidFill>
            <a:prstDash val="solid"/>
          </a:ln>
        </p:spPr>
        <p:txBody>
          <a:bodyPr/>
          <a:lstStyle/>
          <a:p>
            <a:endParaRPr lang="es-US"/>
          </a:p>
        </p:txBody>
      </p:sp>
      <p:pic>
        <p:nvPicPr>
          <p:cNvPr id="15" name="Image 2" descr="CheckCircle"/>
          <p:cNvPicPr>
            <a:picLocks noChangeAspect="1"/>
          </p:cNvPicPr>
          <p:nvPr/>
        </p:nvPicPr>
        <p:blipFill>
          <a:blip r:embed="rId5"/>
          <a:srcRect/>
          <a:stretch/>
        </p:blipFill>
        <p:spPr>
          <a:xfrm>
            <a:off x="6356350" y="1883370"/>
            <a:ext cx="279400" cy="279400"/>
          </a:xfrm>
          <a:prstGeom prst="rect">
            <a:avLst/>
          </a:prstGeom>
        </p:spPr>
      </p:pic>
      <p:sp>
        <p:nvSpPr>
          <p:cNvPr id="16" name="Text 11"/>
          <p:cNvSpPr/>
          <p:nvPr/>
        </p:nvSpPr>
        <p:spPr>
          <a:xfrm>
            <a:off x="7898011" y="1903710"/>
            <a:ext cx="617339" cy="238720"/>
          </a:xfrm>
          <a:custGeom>
            <a:avLst/>
            <a:gdLst/>
            <a:ahLst/>
            <a:cxnLst/>
            <a:rect l="l" t="t" r="r" b="b"/>
            <a:pathLst>
              <a:path w="617339" h="238720">
                <a:moveTo>
                  <a:pt x="119360" y="0"/>
                </a:moveTo>
                <a:lnTo>
                  <a:pt x="497979" y="0"/>
                </a:lnTo>
                <a:arcTo wR="119360" hR="119360" stAng="16200000" swAng="5400000"/>
                <a:lnTo>
                  <a:pt x="617339" y="119360"/>
                </a:lnTo>
                <a:arcTo wR="119360" hR="119360" stAng="0" swAng="5400000"/>
                <a:lnTo>
                  <a:pt x="119360" y="238720"/>
                </a:lnTo>
                <a:arcTo wR="119360" hR="119360" stAng="5400000" swAng="5400000"/>
                <a:lnTo>
                  <a:pt x="0" y="119360"/>
                </a:lnTo>
                <a:arcTo wR="119360" hR="119360" stAng="10800000" swAng="5400000"/>
                <a:close/>
              </a:path>
            </a:pathLst>
          </a:custGeom>
          <a:solidFill>
            <a:srgbClr val="EFE4D2"/>
          </a:solidFill>
          <a:ln/>
        </p:spPr>
        <p:txBody>
          <a:bodyPr wrap="none" lIns="0" tIns="0" rIns="0" bIns="0" rtlCol="0" anchor="ctr">
            <a:normAutofit/>
          </a:bodyPr>
          <a:lstStyle/>
          <a:p>
            <a:pPr marL="0" indent="0" algn="ctr">
              <a:lnSpc>
                <a:spcPts val="1680"/>
              </a:lnSpc>
              <a:buNone/>
            </a:pPr>
            <a:r>
              <a:rPr lang="en-US" sz="1200" b="1" dirty="0">
                <a:solidFill>
                  <a:srgbClr val="6B4F24"/>
                </a:solidFill>
                <a:latin typeface="Atkinson Hyperlegible Next" pitchFamily="34" charset="0"/>
                <a:ea typeface="Atkinson Hyperlegible Next" pitchFamily="34" charset="-122"/>
                <a:cs typeface="Atkinson Hyperlegible Next" pitchFamily="34" charset="-120"/>
              </a:rPr>
              <a:t>S6–S7</a:t>
            </a:r>
            <a:endParaRPr lang="en-US" sz="1200" dirty="0"/>
          </a:p>
        </p:txBody>
      </p:sp>
      <p:sp>
        <p:nvSpPr>
          <p:cNvPr id="17" name="Text 12"/>
          <p:cNvSpPr/>
          <p:nvPr/>
        </p:nvSpPr>
        <p:spPr>
          <a:xfrm>
            <a:off x="6356350" y="2251670"/>
            <a:ext cx="2223770"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1D2B38"/>
                </a:solidFill>
                <a:latin typeface="Lexend" pitchFamily="34" charset="0"/>
                <a:ea typeface="Lexend" pitchFamily="34" charset="-122"/>
                <a:cs typeface="Lexend" pitchFamily="34" charset="-120"/>
              </a:rPr>
              <a:t>Calidad</a:t>
            </a:r>
            <a:endParaRPr lang="en-US" sz="1500" dirty="0"/>
          </a:p>
        </p:txBody>
      </p:sp>
      <p:sp>
        <p:nvSpPr>
          <p:cNvPr id="18" name="Text 13"/>
          <p:cNvSpPr/>
          <p:nvPr/>
        </p:nvSpPr>
        <p:spPr>
          <a:xfrm>
            <a:off x="6455156" y="2569170"/>
            <a:ext cx="2117344" cy="642441"/>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Usabilidad con usuarios reales</a:t>
            </a:r>
            <a:endParaRPr lang="en-US" sz="1200" dirty="0"/>
          </a:p>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Pruebas de rendimiento</a:t>
            </a:r>
            <a:endParaRPr lang="en-US" sz="1200" dirty="0"/>
          </a:p>
        </p:txBody>
      </p:sp>
      <p:sp>
        <p:nvSpPr>
          <p:cNvPr id="19" name="Shape 14"/>
          <p:cNvSpPr/>
          <p:nvPr/>
        </p:nvSpPr>
        <p:spPr>
          <a:xfrm>
            <a:off x="8855075" y="1702395"/>
            <a:ext cx="2520950" cy="1870472"/>
          </a:xfrm>
          <a:prstGeom prst="roundRect">
            <a:avLst>
              <a:gd name="adj" fmla="val 6620"/>
            </a:avLst>
          </a:prstGeom>
          <a:solidFill>
            <a:srgbClr val="FDFCF9"/>
          </a:solidFill>
          <a:ln w="6350">
            <a:solidFill>
              <a:srgbClr val="E2DDD2"/>
            </a:solidFill>
            <a:prstDash val="solid"/>
          </a:ln>
        </p:spPr>
        <p:txBody>
          <a:bodyPr/>
          <a:lstStyle/>
          <a:p>
            <a:endParaRPr lang="es-US"/>
          </a:p>
        </p:txBody>
      </p:sp>
      <p:pic>
        <p:nvPicPr>
          <p:cNvPr id="20" name="Image 3" descr="Book"/>
          <p:cNvPicPr>
            <a:picLocks noChangeAspect="1"/>
          </p:cNvPicPr>
          <p:nvPr/>
        </p:nvPicPr>
        <p:blipFill>
          <a:blip r:embed="rId6"/>
          <a:srcRect/>
          <a:stretch/>
        </p:blipFill>
        <p:spPr>
          <a:xfrm>
            <a:off x="9036050" y="1883370"/>
            <a:ext cx="279400" cy="279400"/>
          </a:xfrm>
          <a:prstGeom prst="rect">
            <a:avLst/>
          </a:prstGeom>
        </p:spPr>
      </p:pic>
      <p:sp>
        <p:nvSpPr>
          <p:cNvPr id="21" name="Text 15"/>
          <p:cNvSpPr/>
          <p:nvPr/>
        </p:nvSpPr>
        <p:spPr>
          <a:xfrm>
            <a:off x="10842427" y="1903710"/>
            <a:ext cx="352623" cy="238720"/>
          </a:xfrm>
          <a:custGeom>
            <a:avLst/>
            <a:gdLst/>
            <a:ahLst/>
            <a:cxnLst/>
            <a:rect l="l" t="t" r="r" b="b"/>
            <a:pathLst>
              <a:path w="352623" h="238720">
                <a:moveTo>
                  <a:pt x="119360" y="0"/>
                </a:moveTo>
                <a:lnTo>
                  <a:pt x="233263" y="0"/>
                </a:lnTo>
                <a:arcTo wR="119360" hR="119360" stAng="16200000" swAng="5400000"/>
                <a:lnTo>
                  <a:pt x="352623" y="119360"/>
                </a:lnTo>
                <a:arcTo wR="119360" hR="119360" stAng="0" swAng="5400000"/>
                <a:lnTo>
                  <a:pt x="119360" y="238720"/>
                </a:lnTo>
                <a:arcTo wR="119360" hR="119360" stAng="5400000" swAng="5400000"/>
                <a:lnTo>
                  <a:pt x="0" y="119360"/>
                </a:lnTo>
                <a:arcTo wR="119360" hR="119360" stAng="10800000" swAng="5400000"/>
                <a:close/>
              </a:path>
            </a:pathLst>
          </a:custGeom>
          <a:solidFill>
            <a:srgbClr val="E3E6EA"/>
          </a:solidFill>
          <a:ln/>
        </p:spPr>
        <p:txBody>
          <a:bodyPr wrap="none" lIns="0" tIns="0" rIns="0" bIns="0" rtlCol="0" anchor="ctr">
            <a:normAutofit/>
          </a:bodyPr>
          <a:lstStyle/>
          <a:p>
            <a:pPr marL="0" indent="0" algn="ctr">
              <a:lnSpc>
                <a:spcPts val="1680"/>
              </a:lnSpc>
              <a:buNone/>
            </a:pPr>
            <a:r>
              <a:rPr lang="en-US" sz="1200" b="1" dirty="0">
                <a:solidFill>
                  <a:srgbClr val="3F4A56"/>
                </a:solidFill>
                <a:latin typeface="Atkinson Hyperlegible Next" pitchFamily="34" charset="0"/>
                <a:ea typeface="Atkinson Hyperlegible Next" pitchFamily="34" charset="-122"/>
                <a:cs typeface="Atkinson Hyperlegible Next" pitchFamily="34" charset="-120"/>
              </a:rPr>
              <a:t>S7</a:t>
            </a:r>
            <a:endParaRPr lang="en-US" sz="1200" dirty="0"/>
          </a:p>
        </p:txBody>
      </p:sp>
      <p:sp>
        <p:nvSpPr>
          <p:cNvPr id="22" name="Text 16"/>
          <p:cNvSpPr/>
          <p:nvPr/>
        </p:nvSpPr>
        <p:spPr>
          <a:xfrm>
            <a:off x="9036050" y="2251670"/>
            <a:ext cx="2223770" cy="254000"/>
          </a:xfrm>
          <a:prstGeom prst="rect">
            <a:avLst/>
          </a:prstGeom>
          <a:noFill/>
          <a:ln/>
        </p:spPr>
        <p:txBody>
          <a:bodyPr wrap="square" lIns="0" tIns="0" rIns="0" bIns="0" rtlCol="0" anchor="t">
            <a:normAutofit/>
          </a:bodyPr>
          <a:lstStyle/>
          <a:p>
            <a:pPr marL="0" indent="0" algn="l">
              <a:lnSpc>
                <a:spcPts val="1800"/>
              </a:lnSpc>
              <a:buNone/>
            </a:pPr>
            <a:r>
              <a:rPr lang="en-US" sz="1500" dirty="0">
                <a:solidFill>
                  <a:srgbClr val="1D2B38"/>
                </a:solidFill>
                <a:latin typeface="Lexend" pitchFamily="34" charset="0"/>
                <a:ea typeface="Lexend" pitchFamily="34" charset="-122"/>
                <a:cs typeface="Lexend" pitchFamily="34" charset="-120"/>
              </a:rPr>
              <a:t>Documentación</a:t>
            </a:r>
            <a:endParaRPr lang="en-US" sz="1500" dirty="0"/>
          </a:p>
        </p:txBody>
      </p:sp>
      <p:sp>
        <p:nvSpPr>
          <p:cNvPr id="23" name="Text 17"/>
          <p:cNvSpPr/>
          <p:nvPr/>
        </p:nvSpPr>
        <p:spPr>
          <a:xfrm>
            <a:off x="9134856" y="2569170"/>
            <a:ext cx="2117344" cy="436761"/>
          </a:xfrm>
          <a:prstGeom prst="rect">
            <a:avLst/>
          </a:prstGeom>
          <a:noFill/>
          <a:ln/>
        </p:spPr>
        <p:txBody>
          <a:bodyPr wrap="square" lIns="0" tIns="0" rIns="0" bIns="0" rtlCol="0" anchor="t">
            <a:normAutofit/>
          </a:bodyPr>
          <a:lstStyle/>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Manual de usuario</a:t>
            </a:r>
            <a:endParaRPr lang="en-US" sz="1200" dirty="0"/>
          </a:p>
          <a:p>
            <a:pPr marL="155194" indent="-155194" algn="l">
              <a:lnSpc>
                <a:spcPts val="1620"/>
              </a:lnSpc>
              <a:buSzPct val="100000"/>
              <a:buChar char="•"/>
            </a:pPr>
            <a:r>
              <a:rPr lang="en-US" sz="1200" dirty="0">
                <a:solidFill>
                  <a:srgbClr val="3A4856"/>
                </a:solidFill>
                <a:latin typeface="Atkinson Hyperlegible Next" pitchFamily="34" charset="0"/>
                <a:ea typeface="Atkinson Hyperlegible Next" pitchFamily="34" charset="-122"/>
                <a:cs typeface="Atkinson Hyperlegible Next" pitchFamily="34" charset="-120"/>
              </a:rPr>
              <a:t>Documentación técnica</a:t>
            </a:r>
            <a:endParaRPr lang="en-US" sz="1200" dirty="0"/>
          </a:p>
        </p:txBody>
      </p:sp>
      <p:sp>
        <p:nvSpPr>
          <p:cNvPr id="24" name="Shape 18"/>
          <p:cNvSpPr/>
          <p:nvPr/>
        </p:nvSpPr>
        <p:spPr>
          <a:xfrm>
            <a:off x="812800" y="3830042"/>
            <a:ext cx="10566400" cy="535880"/>
          </a:xfrm>
          <a:prstGeom prst="roundRect">
            <a:avLst>
              <a:gd name="adj" fmla="val 23699"/>
            </a:avLst>
          </a:prstGeom>
          <a:solidFill>
            <a:srgbClr val="EAF1F3"/>
          </a:solidFill>
          <a:ln/>
        </p:spPr>
        <p:txBody>
          <a:bodyPr/>
          <a:lstStyle/>
          <a:p>
            <a:endParaRPr lang="es-US"/>
          </a:p>
        </p:txBody>
      </p:sp>
      <p:sp>
        <p:nvSpPr>
          <p:cNvPr id="25" name="Text 19"/>
          <p:cNvSpPr/>
          <p:nvPr/>
        </p:nvSpPr>
        <p:spPr>
          <a:xfrm>
            <a:off x="1016000" y="3991273"/>
            <a:ext cx="18313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PLAN DE PRUEBAS</a:t>
            </a:r>
            <a:endParaRPr lang="en-US" sz="1200" dirty="0"/>
          </a:p>
        </p:txBody>
      </p:sp>
      <p:sp>
        <p:nvSpPr>
          <p:cNvPr id="26" name="Text 20"/>
          <p:cNvSpPr/>
          <p:nvPr/>
        </p:nvSpPr>
        <p:spPr>
          <a:xfrm>
            <a:off x="2921000" y="3982442"/>
            <a:ext cx="85026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B38"/>
                </a:solidFill>
                <a:latin typeface="Atkinson Hyperlegible Next" pitchFamily="34" charset="0"/>
                <a:ea typeface="Atkinson Hyperlegible Next" pitchFamily="34" charset="-122"/>
                <a:cs typeface="Atkinson Hyperlegible Next" pitchFamily="34" charset="-120"/>
              </a:rPr>
              <a:t>Unitarias · Integración · Usabilidad · Seguridad OWASP · Rendimiento</a:t>
            </a:r>
            <a:endParaRPr lang="en-US" sz="1300" dirty="0"/>
          </a:p>
        </p:txBody>
      </p:sp>
      <p:sp>
        <p:nvSpPr>
          <p:cNvPr id="27" name="Text 21"/>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28" name="Text 22"/>
          <p:cNvSpPr/>
          <p:nvPr/>
        </p:nvSpPr>
        <p:spPr>
          <a:xfrm>
            <a:off x="11175206" y="6243340"/>
            <a:ext cx="20399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364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FD3C9"/>
                </a:solidFill>
                <a:latin typeface="Atkinson Hyperlegible Next" pitchFamily="34" charset="0"/>
                <a:ea typeface="Atkinson Hyperlegible Next" pitchFamily="34" charset="-122"/>
                <a:cs typeface="Atkinson Hyperlegible Next" pitchFamily="34" charset="-120"/>
              </a:rPr>
              <a:t>INNOVACIÓN</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F3EFE6"/>
                </a:solidFill>
                <a:latin typeface="Lexend" pitchFamily="34" charset="0"/>
                <a:ea typeface="Lexend" pitchFamily="34" charset="-122"/>
                <a:cs typeface="Lexend" pitchFamily="34" charset="-120"/>
              </a:rPr>
              <a:t>Innovación y valor agregado</a:t>
            </a:r>
            <a:endParaRPr lang="en-US" sz="3000" dirty="0"/>
          </a:p>
        </p:txBody>
      </p:sp>
      <p:sp>
        <p:nvSpPr>
          <p:cNvPr id="4" name="Shape 2"/>
          <p:cNvSpPr/>
          <p:nvPr/>
        </p:nvSpPr>
        <p:spPr>
          <a:xfrm>
            <a:off x="812800" y="1807170"/>
            <a:ext cx="3285034" cy="0"/>
          </a:xfrm>
          <a:prstGeom prst="line">
            <a:avLst/>
          </a:prstGeom>
          <a:noFill/>
          <a:ln w="12700">
            <a:solidFill>
              <a:srgbClr val="4F7385"/>
            </a:solidFill>
            <a:prstDash val="solid"/>
          </a:ln>
        </p:spPr>
        <p:txBody>
          <a:bodyPr/>
          <a:lstStyle/>
          <a:p>
            <a:endParaRPr lang="es-US"/>
          </a:p>
        </p:txBody>
      </p:sp>
      <p:sp>
        <p:nvSpPr>
          <p:cNvPr id="5" name="Text 3"/>
          <p:cNvSpPr/>
          <p:nvPr/>
        </p:nvSpPr>
        <p:spPr>
          <a:xfrm>
            <a:off x="812800" y="1991320"/>
            <a:ext cx="3383585"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9FD3C9"/>
                </a:solidFill>
                <a:latin typeface="Lexend" pitchFamily="34" charset="0"/>
                <a:ea typeface="Lexend" pitchFamily="34" charset="-122"/>
                <a:cs typeface="Lexend" pitchFamily="34" charset="-120"/>
              </a:rPr>
              <a:t>¿Qué problema resuelve?</a:t>
            </a:r>
            <a:endParaRPr lang="en-US" sz="1600" dirty="0"/>
          </a:p>
        </p:txBody>
      </p:sp>
      <p:sp>
        <p:nvSpPr>
          <p:cNvPr id="6" name="Text 4"/>
          <p:cNvSpPr/>
          <p:nvPr/>
        </p:nvSpPr>
        <p:spPr>
          <a:xfrm>
            <a:off x="812800" y="2362101"/>
            <a:ext cx="338358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3EBEE"/>
                </a:solidFill>
                <a:latin typeface="Atkinson Hyperlegible Next" pitchFamily="34" charset="0"/>
                <a:ea typeface="Atkinson Hyperlegible Next" pitchFamily="34" charset="-122"/>
                <a:cs typeface="Atkinson Hyperlegible Next" pitchFamily="34" charset="-120"/>
              </a:rPr>
              <a:t>La comunicación funcional del estudiante y el registro disperso en papel de los equipos PIE.</a:t>
            </a:r>
            <a:endParaRPr lang="en-US" sz="1500" dirty="0"/>
          </a:p>
        </p:txBody>
      </p:sp>
      <p:sp>
        <p:nvSpPr>
          <p:cNvPr id="7" name="Shape 5"/>
          <p:cNvSpPr/>
          <p:nvPr/>
        </p:nvSpPr>
        <p:spPr>
          <a:xfrm>
            <a:off x="4453434" y="1807170"/>
            <a:ext cx="3285034" cy="0"/>
          </a:xfrm>
          <a:prstGeom prst="line">
            <a:avLst/>
          </a:prstGeom>
          <a:noFill/>
          <a:ln w="12700">
            <a:solidFill>
              <a:srgbClr val="4F7385"/>
            </a:solidFill>
            <a:prstDash val="solid"/>
          </a:ln>
        </p:spPr>
        <p:txBody>
          <a:bodyPr/>
          <a:lstStyle/>
          <a:p>
            <a:endParaRPr lang="es-US"/>
          </a:p>
        </p:txBody>
      </p:sp>
      <p:sp>
        <p:nvSpPr>
          <p:cNvPr id="8" name="Text 6"/>
          <p:cNvSpPr/>
          <p:nvPr/>
        </p:nvSpPr>
        <p:spPr>
          <a:xfrm>
            <a:off x="4453434" y="1991320"/>
            <a:ext cx="3383585"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9FD3C9"/>
                </a:solidFill>
                <a:latin typeface="Lexend" pitchFamily="34" charset="0"/>
                <a:ea typeface="Lexend" pitchFamily="34" charset="-122"/>
                <a:cs typeface="Lexend" pitchFamily="34" charset="-120"/>
              </a:rPr>
              <a:t>¿Qué la hace diferente?</a:t>
            </a:r>
            <a:endParaRPr lang="en-US" sz="1600" dirty="0"/>
          </a:p>
        </p:txBody>
      </p:sp>
      <p:sp>
        <p:nvSpPr>
          <p:cNvPr id="9" name="Text 7"/>
          <p:cNvSpPr/>
          <p:nvPr/>
        </p:nvSpPr>
        <p:spPr>
          <a:xfrm>
            <a:off x="4453434" y="2362101"/>
            <a:ext cx="3383585" cy="13589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3EBEE"/>
                </a:solidFill>
                <a:latin typeface="Atkinson Hyperlegible Next" pitchFamily="34" charset="0"/>
                <a:ea typeface="Atkinson Hyperlegible Next" pitchFamily="34" charset="-122"/>
                <a:cs typeface="Atkinson Hyperlegible Next" pitchFamily="34" charset="-120"/>
              </a:rPr>
              <a:t>Integra SAAC, rutinas, regulación emocional y bitácora en una sola herramienta, con funcionamiento offline para escuelas con conectividad inestable.</a:t>
            </a:r>
            <a:endParaRPr lang="en-US" sz="1500" dirty="0"/>
          </a:p>
        </p:txBody>
      </p:sp>
      <p:sp>
        <p:nvSpPr>
          <p:cNvPr id="10" name="Shape 8"/>
          <p:cNvSpPr/>
          <p:nvPr/>
        </p:nvSpPr>
        <p:spPr>
          <a:xfrm>
            <a:off x="8094067" y="1807170"/>
            <a:ext cx="3285034" cy="0"/>
          </a:xfrm>
          <a:prstGeom prst="line">
            <a:avLst/>
          </a:prstGeom>
          <a:noFill/>
          <a:ln w="12700">
            <a:solidFill>
              <a:srgbClr val="4F7385"/>
            </a:solidFill>
            <a:prstDash val="solid"/>
          </a:ln>
        </p:spPr>
        <p:txBody>
          <a:bodyPr/>
          <a:lstStyle/>
          <a:p>
            <a:endParaRPr lang="es-US"/>
          </a:p>
        </p:txBody>
      </p:sp>
      <p:sp>
        <p:nvSpPr>
          <p:cNvPr id="11" name="Text 9"/>
          <p:cNvSpPr/>
          <p:nvPr/>
        </p:nvSpPr>
        <p:spPr>
          <a:xfrm>
            <a:off x="8094067" y="1991320"/>
            <a:ext cx="3383585" cy="26918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9FD3C9"/>
                </a:solidFill>
                <a:latin typeface="Lexend" pitchFamily="34" charset="0"/>
                <a:ea typeface="Lexend" pitchFamily="34" charset="-122"/>
                <a:cs typeface="Lexend" pitchFamily="34" charset="-120"/>
              </a:rPr>
              <a:t>¿Qué valor agrega?</a:t>
            </a:r>
            <a:endParaRPr lang="en-US" sz="1600" dirty="0"/>
          </a:p>
        </p:txBody>
      </p:sp>
      <p:sp>
        <p:nvSpPr>
          <p:cNvPr id="12" name="Text 10"/>
          <p:cNvSpPr/>
          <p:nvPr/>
        </p:nvSpPr>
        <p:spPr>
          <a:xfrm>
            <a:off x="8094067" y="2362101"/>
            <a:ext cx="3383585"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3EBEE"/>
                </a:solidFill>
                <a:latin typeface="Atkinson Hyperlegible Next" pitchFamily="34" charset="0"/>
                <a:ea typeface="Atkinson Hyperlegible Next" pitchFamily="34" charset="-122"/>
                <a:cs typeface="Atkinson Hyperlegible Next" pitchFamily="34" charset="-120"/>
              </a:rPr>
              <a:t>Menos carga administrativa, historial con fecha y hora para el equipo y la familia, y métricas de vocabulario para decidir.</a:t>
            </a:r>
            <a:endParaRPr lang="en-US" sz="1500" dirty="0"/>
          </a:p>
        </p:txBody>
      </p:sp>
      <p:sp>
        <p:nvSpPr>
          <p:cNvPr id="13" name="Text 11"/>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DD3"/>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4" name="Text 12"/>
          <p:cNvSpPr/>
          <p:nvPr/>
        </p:nvSpPr>
        <p:spPr>
          <a:xfrm>
            <a:off x="11188601" y="6243340"/>
            <a:ext cx="19059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DD3"/>
                </a:solidFill>
                <a:latin typeface="Atkinson Hyperlegible Next" pitchFamily="34" charset="0"/>
                <a:ea typeface="Atkinson Hyperlegible Next" pitchFamily="34" charset="-122"/>
                <a:cs typeface="Atkinson Hyperlegible Next"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PERFIL DE EGRESO</a:t>
            </a:r>
            <a:endParaRPr lang="en-US" sz="1200" dirty="0"/>
          </a:p>
        </p:txBody>
      </p:sp>
      <p:sp>
        <p:nvSpPr>
          <p:cNvPr id="3" name="Text 1"/>
          <p:cNvSpPr>
            <a:spLocks noGrp="1"/>
          </p:cNvSpPr>
          <p:nvPr>
            <p:ph type="title"/>
          </p:nvPr>
        </p:nvSpPr>
        <p:spPr>
          <a:xfrm>
            <a:off x="812800" y="10261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0" i="0" dirty="0">
                <a:solidFill>
                  <a:srgbClr val="1D2B38"/>
                </a:solidFill>
                <a:latin typeface="Lexend" pitchFamily="34" charset="0"/>
                <a:ea typeface="Lexend" pitchFamily="34" charset="-122"/>
                <a:cs typeface="Lexend" pitchFamily="34" charset="-120"/>
              </a:rPr>
              <a:t>Competencias y proyecciones profesionales</a:t>
            </a:r>
            <a:endParaRPr lang="en-US" sz="3000" dirty="0"/>
          </a:p>
        </p:txBody>
      </p:sp>
      <p:sp>
        <p:nvSpPr>
          <p:cNvPr id="4" name="Text 2"/>
          <p:cNvSpPr/>
          <p:nvPr/>
        </p:nvSpPr>
        <p:spPr>
          <a:xfrm>
            <a:off x="812800" y="1673820"/>
            <a:ext cx="693293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C5A68"/>
                </a:solidFill>
                <a:latin typeface="Atkinson Hyperlegible Next" pitchFamily="34" charset="0"/>
                <a:ea typeface="Atkinson Hyperlegible Next" pitchFamily="34" charset="-122"/>
                <a:cs typeface="Atkinson Hyperlegible Next" pitchFamily="34" charset="-120"/>
              </a:rPr>
              <a:t>COMPETENCIA · EVIDENCIA EN TEA-YUDO</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76041"/>
          <a:ext cx="6718300" cy="2660650"/>
        </p:xfrm>
        <a:graphic>
          <a:graphicData uri="http://schemas.openxmlformats.org/drawingml/2006/table">
            <a:tbl>
              <a:tblPr/>
              <a:tblGrid>
                <a:gridCol w="3090418">
                  <a:extLst>
                    <a:ext uri="{9D8B030D-6E8A-4147-A177-3AD203B41FA5}">
                      <a16:colId xmlns:a16="http://schemas.microsoft.com/office/drawing/2014/main" val="20000"/>
                    </a:ext>
                  </a:extLst>
                </a:gridCol>
                <a:gridCol w="3627882">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Competencia</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ADBCB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ADBCB9"/>
                      </a:solidFill>
                      <a:prstDash val="solid"/>
                      <a:round/>
                      <a:headEnd type="none" w="med" len="med"/>
                      <a:tailEnd type="none" w="med" len="med"/>
                    </a:lnB>
                    <a:solidFill>
                      <a:srgbClr val="D8ECE8"/>
                    </a:solidFill>
                  </a:tcPr>
                </a:tc>
                <a:tc>
                  <a:txBody>
                    <a:bodyPr/>
                    <a:lstStyle/>
                    <a:p>
                      <a:pPr marL="0" indent="0">
                        <a:lnSpc>
                          <a:spcPts val="1680"/>
                        </a:lnSpc>
                        <a:buNone/>
                      </a:pPr>
                      <a:r>
                        <a:rPr lang="en-US" sz="1200" b="1" dirty="0">
                          <a:solidFill>
                            <a:srgbClr val="1D2B38"/>
                          </a:solidFill>
                          <a:latin typeface="Atkinson Hyperlegible Next" pitchFamily="34" charset="0"/>
                          <a:ea typeface="Atkinson Hyperlegible Next" pitchFamily="34" charset="-122"/>
                          <a:cs typeface="Atkinson Hyperlegible Next" pitchFamily="34" charset="-120"/>
                        </a:rPr>
                        <a:t>Evidencia</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ADBCB9"/>
                      </a:solidFill>
                      <a:prstDash val="solid"/>
                      <a:round/>
                      <a:headEnd type="none" w="med" len="med"/>
                      <a:tailEnd type="none" w="med" len="med"/>
                    </a:lnL>
                    <a:lnR w="12700" cap="flat" cmpd="sng" algn="ctr">
                      <a:solidFill>
                        <a:srgbClr val="ADBCB9"/>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ADBCB9"/>
                      </a:solidFill>
                      <a:prstDash val="solid"/>
                      <a:round/>
                      <a:headEnd type="none" w="med" len="med"/>
                      <a:tailEnd type="none" w="med" len="med"/>
                    </a:lnB>
                    <a:solidFill>
                      <a:srgbClr val="D8ECE8"/>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Desarrollo de software sistematizado</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ADBC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Scrum en Jira, DoD y frontend modular</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ADBCB9"/>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Modelado de datos escalable</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MER de 10 entidades → 12 tablas</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Consultas y rutinas sobre la BD</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Historial y reportes de la bitácora</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Arquitectura</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Capas, componentes y offline-first</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Gestión de proyectos</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8 sprints con backlog por integrante</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Seguridad</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Cifrado, roles/PIN y OWASP (planificado)</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Calidad (QA)</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D2B38"/>
                          </a:solidFill>
                          <a:latin typeface="Atkinson Hyperlegible Next" pitchFamily="34" charset="0"/>
                          <a:ea typeface="Atkinson Hyperlegible Next" pitchFamily="34" charset="-122"/>
                          <a:cs typeface="Atkinson Hyperlegible Next" pitchFamily="34" charset="-120"/>
                        </a:rPr>
                        <a:t>Plan de pruebas (planificado)</a:t>
                      </a:r>
                      <a:endParaRPr lang="en-US" sz="1200" dirty="0">
                        <a:latin typeface="Atkinson Hyperlegible Next" charset="0"/>
                        <a:ea typeface="Atkinson Hyperlegible Next" charset="0"/>
                        <a:cs typeface="Atkinson Hyperlegible Next"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7899400" y="1673820"/>
            <a:ext cx="3479800" cy="2732683"/>
          </a:xfrm>
          <a:prstGeom prst="roundRect">
            <a:avLst>
              <a:gd name="adj" fmla="val 5577"/>
            </a:avLst>
          </a:prstGeom>
          <a:solidFill>
            <a:srgbClr val="EAF1F3"/>
          </a:solidFill>
          <a:ln/>
        </p:spPr>
        <p:txBody>
          <a:bodyPr/>
          <a:lstStyle/>
          <a:p>
            <a:endParaRPr lang="es-US"/>
          </a:p>
        </p:txBody>
      </p:sp>
      <p:sp>
        <p:nvSpPr>
          <p:cNvPr id="7" name="Text 4"/>
          <p:cNvSpPr/>
          <p:nvPr/>
        </p:nvSpPr>
        <p:spPr>
          <a:xfrm>
            <a:off x="8102600" y="1877020"/>
            <a:ext cx="316560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45F5A"/>
                </a:solidFill>
                <a:latin typeface="Atkinson Hyperlegible Next" pitchFamily="34" charset="0"/>
                <a:ea typeface="Atkinson Hyperlegible Next" pitchFamily="34" charset="-122"/>
                <a:cs typeface="Atkinson Hyperlegible Next" pitchFamily="34" charset="-120"/>
              </a:rPr>
              <a:t>INTERESES DEL EQUIPO</a:t>
            </a:r>
            <a:endParaRPr lang="en-US" sz="1200" dirty="0"/>
          </a:p>
        </p:txBody>
      </p:sp>
      <p:sp>
        <p:nvSpPr>
          <p:cNvPr id="8" name="Text 5"/>
          <p:cNvSpPr/>
          <p:nvPr/>
        </p:nvSpPr>
        <p:spPr>
          <a:xfrm>
            <a:off x="8102600" y="2191941"/>
            <a:ext cx="3073400" cy="426641"/>
          </a:xfrm>
          <a:prstGeom prst="roundRect">
            <a:avLst>
              <a:gd name="adj" fmla="val 23814"/>
            </a:avLst>
          </a:prstGeom>
          <a:solidFill>
            <a:srgbClr val="F7F5F0"/>
          </a:solidFill>
          <a:ln/>
        </p:spPr>
        <p:txBody>
          <a:bodyPr wrap="square" lIns="97242" tIns="59142" rIns="12660" bIns="33742"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Desarrollo full-stack</a:t>
            </a:r>
            <a:endParaRPr lang="en-US" sz="1400" dirty="0"/>
          </a:p>
        </p:txBody>
      </p:sp>
      <p:sp>
        <p:nvSpPr>
          <p:cNvPr id="9" name="Text 6"/>
          <p:cNvSpPr/>
          <p:nvPr/>
        </p:nvSpPr>
        <p:spPr>
          <a:xfrm>
            <a:off x="8102600" y="2720181"/>
            <a:ext cx="3073400" cy="426641"/>
          </a:xfrm>
          <a:prstGeom prst="roundRect">
            <a:avLst>
              <a:gd name="adj" fmla="val 23814"/>
            </a:avLst>
          </a:prstGeom>
          <a:solidFill>
            <a:srgbClr val="F7F5F0"/>
          </a:solidFill>
          <a:ln/>
        </p:spPr>
        <p:txBody>
          <a:bodyPr wrap="square" lIns="97242" tIns="59142" rIns="12660" bIns="33742"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Arquitectura web</a:t>
            </a:r>
            <a:endParaRPr lang="en-US" sz="1400" dirty="0"/>
          </a:p>
        </p:txBody>
      </p:sp>
      <p:sp>
        <p:nvSpPr>
          <p:cNvPr id="10" name="Text 7"/>
          <p:cNvSpPr/>
          <p:nvPr/>
        </p:nvSpPr>
        <p:spPr>
          <a:xfrm>
            <a:off x="8102600" y="3248422"/>
            <a:ext cx="3073400" cy="426641"/>
          </a:xfrm>
          <a:prstGeom prst="roundRect">
            <a:avLst>
              <a:gd name="adj" fmla="val 23814"/>
            </a:avLst>
          </a:prstGeom>
          <a:solidFill>
            <a:srgbClr val="F7F5F0"/>
          </a:solidFill>
          <a:ln/>
        </p:spPr>
        <p:txBody>
          <a:bodyPr wrap="square" lIns="97242" tIns="59142" rIns="12660" bIns="33742"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Integración de APIs</a:t>
            </a:r>
            <a:endParaRPr lang="en-US" sz="1400" dirty="0"/>
          </a:p>
        </p:txBody>
      </p:sp>
      <p:sp>
        <p:nvSpPr>
          <p:cNvPr id="11" name="Text 8"/>
          <p:cNvSpPr/>
          <p:nvPr/>
        </p:nvSpPr>
        <p:spPr>
          <a:xfrm>
            <a:off x="8102600" y="3776662"/>
            <a:ext cx="3073400" cy="426641"/>
          </a:xfrm>
          <a:prstGeom prst="roundRect">
            <a:avLst>
              <a:gd name="adj" fmla="val 23814"/>
            </a:avLst>
          </a:prstGeom>
          <a:solidFill>
            <a:srgbClr val="F7F5F0"/>
          </a:solidFill>
          <a:ln/>
        </p:spPr>
        <p:txBody>
          <a:bodyPr wrap="square" lIns="97242" tIns="59142" rIns="12660" bIns="33742" rtlCol="0" anchor="t">
            <a:normAutofit/>
          </a:bodyPr>
          <a:lstStyle/>
          <a:p>
            <a:pPr marL="0" indent="0" algn="l">
              <a:lnSpc>
                <a:spcPts val="1960"/>
              </a:lnSpc>
              <a:buNone/>
            </a:pPr>
            <a:r>
              <a:rPr lang="en-US" sz="1400" b="1" dirty="0">
                <a:solidFill>
                  <a:srgbClr val="1D2B38"/>
                </a:solidFill>
                <a:latin typeface="Atkinson Hyperlegible Next" pitchFamily="34" charset="0"/>
                <a:ea typeface="Atkinson Hyperlegible Next" pitchFamily="34" charset="-122"/>
                <a:cs typeface="Atkinson Hyperlegible Next" pitchFamily="34" charset="-120"/>
              </a:rPr>
              <a:t>Accesibilidad</a:t>
            </a:r>
            <a:endParaRPr lang="en-US" sz="1400" dirty="0"/>
          </a:p>
        </p:txBody>
      </p:sp>
      <p:sp>
        <p:nvSpPr>
          <p:cNvPr id="12" name="Text 9"/>
          <p:cNvSpPr/>
          <p:nvPr/>
        </p:nvSpPr>
        <p:spPr>
          <a:xfrm>
            <a:off x="812800" y="6243340"/>
            <a:ext cx="2578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TEA-yudo · Informe Final Fase 2</a:t>
            </a:r>
            <a:endParaRPr lang="en-US" sz="1200" dirty="0"/>
          </a:p>
        </p:txBody>
      </p:sp>
      <p:sp>
        <p:nvSpPr>
          <p:cNvPr id="13" name="Text 10"/>
          <p:cNvSpPr/>
          <p:nvPr/>
        </p:nvSpPr>
        <p:spPr>
          <a:xfrm>
            <a:off x="11172627" y="6243340"/>
            <a:ext cx="20657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876"/>
                </a:solidFill>
                <a:latin typeface="Atkinson Hyperlegible Next" pitchFamily="34" charset="0"/>
                <a:ea typeface="Atkinson Hyperlegible Next" pitchFamily="34" charset="-122"/>
                <a:cs typeface="Atkinson Hyperlegible Next"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AF1F3"/>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A6F6A"/>
          </a:solidFill>
          <a:ln/>
        </p:spPr>
        <p:txBody>
          <a:bodyPr/>
          <a:lstStyle/>
          <a:p>
            <a:endParaRPr lang="es-US"/>
          </a:p>
        </p:txBody>
      </p:sp>
      <p:pic>
        <p:nvPicPr>
          <p:cNvPr id="3" name="Image 0" descr="Pictograma de globo de diálogo"/>
          <p:cNvPicPr>
            <a:picLocks noChangeAspect="1"/>
          </p:cNvPicPr>
          <p:nvPr/>
        </p:nvPicPr>
        <p:blipFill>
          <a:blip r:embed="rId3"/>
          <a:srcRect/>
          <a:stretch/>
        </p:blipFill>
        <p:spPr>
          <a:xfrm>
            <a:off x="812800" y="2413000"/>
            <a:ext cx="2286000" cy="2032000"/>
          </a:xfrm>
          <a:prstGeom prst="rect">
            <a:avLst/>
          </a:prstGeom>
        </p:spPr>
      </p:pic>
      <p:sp>
        <p:nvSpPr>
          <p:cNvPr id="4" name="Text 1"/>
          <p:cNvSpPr>
            <a:spLocks noGrp="1"/>
          </p:cNvSpPr>
          <p:nvPr>
            <p:ph type="title"/>
          </p:nvPr>
        </p:nvSpPr>
        <p:spPr>
          <a:xfrm>
            <a:off x="3708400" y="2392759"/>
            <a:ext cx="7900924" cy="914400"/>
          </a:xfrm>
          <a:prstGeom prst="rect">
            <a:avLst/>
          </a:prstGeom>
          <a:noFill/>
          <a:ln/>
        </p:spPr>
        <p:txBody>
          <a:bodyPr wrap="square" lIns="0" tIns="0" rIns="0" bIns="0" rtlCol="0" anchor="t">
            <a:normAutofit/>
          </a:bodyPr>
          <a:lstStyle/>
          <a:p>
            <a:pPr marL="0" indent="0" algn="l">
              <a:lnSpc>
                <a:spcPts val="7000"/>
              </a:lnSpc>
              <a:buNone/>
            </a:pPr>
            <a:r>
              <a:rPr lang="en-US" sz="7000" b="1" i="0" dirty="0">
                <a:solidFill>
                  <a:srgbClr val="1D2B38"/>
                </a:solidFill>
                <a:latin typeface="Lexend" pitchFamily="34" charset="0"/>
                <a:ea typeface="Lexend" pitchFamily="34" charset="-122"/>
                <a:cs typeface="Lexend" pitchFamily="34" charset="-120"/>
              </a:rPr>
              <a:t>¿Preguntas?</a:t>
            </a:r>
            <a:endParaRPr lang="en-US" sz="7000" dirty="0"/>
          </a:p>
        </p:txBody>
      </p:sp>
      <p:sp>
        <p:nvSpPr>
          <p:cNvPr id="5" name="Text 2"/>
          <p:cNvSpPr/>
          <p:nvPr/>
        </p:nvSpPr>
        <p:spPr>
          <a:xfrm>
            <a:off x="3708400" y="3459559"/>
            <a:ext cx="7900924"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4C5A68"/>
                </a:solidFill>
                <a:latin typeface="Atkinson Hyperlegible Next" pitchFamily="34" charset="0"/>
                <a:ea typeface="Atkinson Hyperlegible Next" pitchFamily="34" charset="-122"/>
                <a:cs typeface="Atkinson Hyperlegible Next" pitchFamily="34" charset="-120"/>
              </a:rPr>
              <a:t>Gracias por su atención.</a:t>
            </a:r>
            <a:endParaRPr lang="en-US" sz="2000" dirty="0"/>
          </a:p>
        </p:txBody>
      </p:sp>
      <p:sp>
        <p:nvSpPr>
          <p:cNvPr id="6" name="Shape 3"/>
          <p:cNvSpPr/>
          <p:nvPr/>
        </p:nvSpPr>
        <p:spPr>
          <a:xfrm>
            <a:off x="3721100" y="3967559"/>
            <a:ext cx="0" cy="497681"/>
          </a:xfrm>
          <a:prstGeom prst="line">
            <a:avLst/>
          </a:prstGeom>
          <a:noFill/>
          <a:ln w="25400">
            <a:solidFill>
              <a:srgbClr val="9FC9C2"/>
            </a:solidFill>
            <a:prstDash val="solid"/>
          </a:ln>
        </p:spPr>
        <p:txBody>
          <a:bodyPr/>
          <a:lstStyle/>
          <a:p>
            <a:endParaRPr lang="es-US"/>
          </a:p>
        </p:txBody>
      </p:sp>
      <p:sp>
        <p:nvSpPr>
          <p:cNvPr id="7" name="Text 4"/>
          <p:cNvSpPr/>
          <p:nvPr/>
        </p:nvSpPr>
        <p:spPr>
          <a:xfrm>
            <a:off x="3886200" y="3967559"/>
            <a:ext cx="771779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B38"/>
                </a:solidFill>
                <a:latin typeface="Atkinson Hyperlegible Next" pitchFamily="34" charset="0"/>
                <a:ea typeface="Atkinson Hyperlegible Next" pitchFamily="34" charset="-122"/>
                <a:cs typeface="Atkinson Hyperlegible Next" pitchFamily="34" charset="-120"/>
              </a:rPr>
              <a:t>Cristóbal Ávila · Carlos Peña · Rolando Fierro</a:t>
            </a:r>
            <a:endParaRPr lang="en-US" sz="1400" dirty="0"/>
          </a:p>
          <a:p>
            <a:pPr marL="0" indent="0" algn="l">
              <a:lnSpc>
                <a:spcPts val="1960"/>
              </a:lnSpc>
              <a:buNone/>
            </a:pPr>
            <a:r>
              <a:rPr lang="en-US" sz="1400" dirty="0">
                <a:solidFill>
                  <a:srgbClr val="1D2B38"/>
                </a:solidFill>
                <a:latin typeface="Atkinson Hyperlegible Next" pitchFamily="34" charset="0"/>
                <a:ea typeface="Atkinson Hyperlegible Next" pitchFamily="34" charset="-122"/>
                <a:cs typeface="Atkinson Hyperlegible Next" pitchFamily="34" charset="-120"/>
              </a:rPr>
              <a:t>TEA-yudo · Capstone Fase 2 · Duoc UC Sede San Joaquín</a:t>
            </a:r>
            <a:endParaRPr lang="en-US" sz="1400" dirty="0"/>
          </a:p>
        </p:txBody>
      </p:sp>
    </p:spTree>
  </p:cSld>
  <p:clrMapOvr>
    <a:masterClrMapping/>
  </p:clrMapOvr>
</p:sld>
</file>

<file path=ppt/theme/theme1.xml><?xml version="1.0" encoding="utf-8"?>
<a:theme xmlns:a="http://schemas.openxmlformats.org/drawingml/2006/main" name="TEA-yudo · Informe Final Fase 2">
  <a:themeElements>
    <a:clrScheme name="TEA-yudo · Informe Final Fase 2">
      <a:dk1>
        <a:srgbClr val="1D2B38"/>
      </a:dk1>
      <a:lt1>
        <a:srgbClr val="F7F5F0"/>
      </a:lt1>
      <a:dk2>
        <a:srgbClr val="545E66"/>
      </a:dk2>
      <a:lt2>
        <a:srgbClr val="E1E1DE"/>
      </a:lt2>
      <a:accent1>
        <a:srgbClr val="245F5A"/>
      </a:accent1>
      <a:accent2>
        <a:srgbClr val="1F5A55"/>
      </a:accent2>
      <a:accent3>
        <a:srgbClr val="2A6F6A"/>
      </a:accent3>
      <a:accent4>
        <a:srgbClr val="2B5480"/>
      </a:accent4>
      <a:accent5>
        <a:srgbClr val="6B4F24"/>
      </a:accent5>
      <a:accent6>
        <a:srgbClr val="9FD3C9"/>
      </a:accent6>
      <a:hlink>
        <a:srgbClr val="0563C1"/>
      </a:hlink>
      <a:folHlink>
        <a:srgbClr val="954F72"/>
      </a:folHlink>
    </a:clrScheme>
    <a:fontScheme name="TEA-yudo · Informe Final Fase 2">
      <a:majorFont>
        <a:latin typeface="Lexe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tkinson Hyperlegible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5873</Words>
  <Application>Microsoft Office PowerPoint</Application>
  <PresentationFormat>Panorámica</PresentationFormat>
  <Paragraphs>336</Paragraphs>
  <Slides>19</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Atkinson Hyperlegible Next</vt:lpstr>
      <vt:lpstr>Lexend</vt:lpstr>
      <vt:lpstr>TEA-yudo · Informe Final Fase 2</vt:lpstr>
      <vt:lpstr>TEA-yudo</vt:lpstr>
      <vt:lpstr>Resumen del proyecto</vt:lpstr>
      <vt:lpstr>Una brecha digital en el apoyo a estudiantes TEA</vt:lpstr>
      <vt:lpstr>Hallazgos de campo que guiaron el diseño</vt:lpstr>
      <vt:lpstr>Una herramienta para comunicar y hacer seguimiento</vt:lpstr>
      <vt:lpstr>Objetivo general y objetivos específicos</vt:lpstr>
      <vt:lpstr>Scrum en Jira</vt:lpstr>
      <vt:lpstr>Arquitectura en cuatro capas</vt:lpstr>
      <vt:lpstr>Diagrama de componentes</vt:lpstr>
      <vt:lpstr>Modelo de datos</vt:lpstr>
      <vt:lpstr>Casos de uso</vt:lpstr>
      <vt:lpstr>Secuencia de la funcionalidad principal (CU-01)</vt:lpstr>
      <vt:lpstr>Cuatro módulos prototipados</vt:lpstr>
      <vt:lpstr>Estado del plan de trabajo</vt:lpstr>
      <vt:lpstr>Facilitadores, dificultades y ajustes</vt:lpstr>
      <vt:lpstr>Próximos pasos y plan de pruebas</vt:lpstr>
      <vt:lpstr>Innovación y valor agregado</vt:lpstr>
      <vt:lpstr>Competencias y proyecciones profesionales</vt:lpstr>
      <vt:lpstr>¿Preguntas?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TEA-yudo · Informe Final Fase 2</dc:title>
  <dc:subject/>
  <dc:creator/>
  <cp:lastModifiedBy>Carlos Peña</cp:lastModifiedBy>
  <cp:revision>3</cp:revision>
  <dcterms:created xsi:type="dcterms:W3CDTF">2026-10-04T23:13:08Z</dcterms:created>
  <dcterms:modified xsi:type="dcterms:W3CDTF">2026-10-04T23:39:34Z</dcterms:modified>
</cp:coreProperties>
</file>